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2" r:id="rId3"/>
    <p:sldId id="273" r:id="rId4"/>
    <p:sldId id="274" r:id="rId5"/>
    <p:sldId id="275" r:id="rId6"/>
    <p:sldId id="268" r:id="rId7"/>
    <p:sldId id="257" r:id="rId8"/>
    <p:sldId id="264" r:id="rId9"/>
    <p:sldId id="266" r:id="rId10"/>
    <p:sldId id="271" r:id="rId11"/>
    <p:sldId id="270" r:id="rId12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C032C-231B-4642-BD9A-B0E8EAA28E73}" type="datetimeFigureOut">
              <a:rPr lang="en-US" smtClean="0"/>
              <a:t>9/2/2022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414F-7D0E-4830-BA4E-D18BC16F8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358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C032C-231B-4642-BD9A-B0E8EAA28E73}" type="datetimeFigureOut">
              <a:rPr lang="en-US" smtClean="0"/>
              <a:t>9/2/2022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414F-7D0E-4830-BA4E-D18BC16F8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978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C032C-231B-4642-BD9A-B0E8EAA28E73}" type="datetimeFigureOut">
              <a:rPr lang="en-US" smtClean="0"/>
              <a:t>9/2/2022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414F-7D0E-4830-BA4E-D18BC16F8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445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C032C-231B-4642-BD9A-B0E8EAA28E73}" type="datetimeFigureOut">
              <a:rPr lang="en-US" smtClean="0"/>
              <a:t>9/2/2022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414F-7D0E-4830-BA4E-D18BC16F8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837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C032C-231B-4642-BD9A-B0E8EAA28E73}" type="datetimeFigureOut">
              <a:rPr lang="en-US" smtClean="0"/>
              <a:t>9/2/2022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414F-7D0E-4830-BA4E-D18BC16F8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70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C032C-231B-4642-BD9A-B0E8EAA28E73}" type="datetimeFigureOut">
              <a:rPr lang="en-US" smtClean="0"/>
              <a:t>9/2/2022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414F-7D0E-4830-BA4E-D18BC16F8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894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C032C-231B-4642-BD9A-B0E8EAA28E73}" type="datetimeFigureOut">
              <a:rPr lang="en-US" smtClean="0"/>
              <a:t>9/2/2022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414F-7D0E-4830-BA4E-D18BC16F8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486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C032C-231B-4642-BD9A-B0E8EAA28E73}" type="datetimeFigureOut">
              <a:rPr lang="en-US" smtClean="0"/>
              <a:t>9/2/2022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414F-7D0E-4830-BA4E-D18BC16F8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831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C032C-231B-4642-BD9A-B0E8EAA28E73}" type="datetimeFigureOut">
              <a:rPr lang="en-US" smtClean="0"/>
              <a:t>9/2/2022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414F-7D0E-4830-BA4E-D18BC16F8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943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C032C-231B-4642-BD9A-B0E8EAA28E73}" type="datetimeFigureOut">
              <a:rPr lang="en-US" smtClean="0"/>
              <a:t>9/2/2022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414F-7D0E-4830-BA4E-D18BC16F8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130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C032C-231B-4642-BD9A-B0E8EAA28E73}" type="datetimeFigureOut">
              <a:rPr lang="en-US" smtClean="0"/>
              <a:t>9/2/2022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414F-7D0E-4830-BA4E-D18BC16F8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269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9C032C-231B-4642-BD9A-B0E8EAA28E73}" type="datetimeFigureOut">
              <a:rPr lang="en-US" smtClean="0"/>
              <a:t>9/2/2022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4A414F-7D0E-4830-BA4E-D18BC16F8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263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4584" y="3410711"/>
            <a:ext cx="9144000" cy="1688085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Baskerville Old Face" panose="02020602080505020303" pitchFamily="18" charset="0"/>
                <a:cs typeface="Aharoni" panose="02010803020104030203" pitchFamily="2" charset="-79"/>
              </a:rPr>
              <a:t/>
            </a:r>
            <a:br>
              <a:rPr lang="en-US" dirty="0" smtClean="0">
                <a:latin typeface="Baskerville Old Face" panose="02020602080505020303" pitchFamily="18" charset="0"/>
                <a:cs typeface="Aharoni" panose="02010803020104030203" pitchFamily="2" charset="-79"/>
              </a:rPr>
            </a:br>
            <a:r>
              <a:rPr lang="en-US" dirty="0">
                <a:latin typeface="+mn-lt"/>
                <a:cs typeface="Aharoni" panose="02010803020104030203" pitchFamily="2" charset="-79"/>
              </a:rPr>
              <a:t/>
            </a:r>
            <a:br>
              <a:rPr lang="en-US" dirty="0">
                <a:latin typeface="+mn-lt"/>
                <a:cs typeface="Aharoni" panose="02010803020104030203" pitchFamily="2" charset="-79"/>
              </a:rPr>
            </a:br>
            <a:r>
              <a:rPr lang="en-US" sz="6700" dirty="0" smtClean="0">
                <a:latin typeface="+mn-lt"/>
                <a:cs typeface="Aharoni" panose="02010803020104030203" pitchFamily="2" charset="-79"/>
              </a:rPr>
              <a:t>Rooms Floor Plan </a:t>
            </a:r>
            <a:endParaRPr lang="en-US" sz="6700" dirty="0">
              <a:latin typeface="+mn-lt"/>
              <a:cs typeface="Aharoni" panose="02010803020104030203" pitchFamily="2" charset="-79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0522" y="1340612"/>
            <a:ext cx="3516092" cy="207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849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94846" y="159637"/>
            <a:ext cx="1054244" cy="388988"/>
          </a:xfrm>
          <a:prstGeom prst="rect">
            <a:avLst/>
          </a:prstGeom>
        </p:spPr>
        <p:txBody>
          <a:bodyPr vert="horz" wrap="square" lIns="0" tIns="27276" rIns="0" bIns="0" rtlCol="0">
            <a:spAutoFit/>
          </a:bodyPr>
          <a:lstStyle/>
          <a:p>
            <a:pPr marL="25977">
              <a:spcBef>
                <a:spcPts val="215"/>
              </a:spcBef>
            </a:pPr>
            <a:r>
              <a:rPr sz="818" dirty="0">
                <a:solidFill>
                  <a:srgbClr val="C34B5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OUR PROPERTY</a:t>
            </a:r>
          </a:p>
          <a:p>
            <a:pPr marL="8659">
              <a:spcBef>
                <a:spcPts val="245"/>
              </a:spcBef>
            </a:pPr>
            <a:r>
              <a:rPr sz="1364" i="1" dirty="0">
                <a:solidFill>
                  <a:srgbClr val="71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SITE PLAN</a:t>
            </a:r>
          </a:p>
        </p:txBody>
      </p:sp>
      <p:sp>
        <p:nvSpPr>
          <p:cNvPr id="3" name="object 3"/>
          <p:cNvSpPr txBox="1"/>
          <p:nvPr/>
        </p:nvSpPr>
        <p:spPr>
          <a:xfrm rot="5400000">
            <a:off x="5229961" y="2245703"/>
            <a:ext cx="891130" cy="335733"/>
          </a:xfrm>
          <a:prstGeom prst="rect">
            <a:avLst/>
          </a:prstGeom>
          <a:solidFill>
            <a:srgbClr val="308CC2"/>
          </a:solidFill>
          <a:ln w="12700">
            <a:solidFill>
              <a:srgbClr val="6E747B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endParaRPr sz="109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spcBef>
                <a:spcPts val="17"/>
              </a:spcBef>
            </a:pPr>
            <a:r>
              <a:rPr lang="en-US" sz="109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Adult Pool</a:t>
            </a:r>
            <a:endParaRPr sz="109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56613" y="1576821"/>
            <a:ext cx="1861705" cy="357138"/>
          </a:xfrm>
          <a:prstGeom prst="rect">
            <a:avLst/>
          </a:prstGeom>
          <a:ln w="12700">
            <a:solidFill>
              <a:srgbClr val="6E747B"/>
            </a:solidFill>
          </a:ln>
        </p:spPr>
        <p:txBody>
          <a:bodyPr vert="horz" wrap="square" lIns="0" tIns="433" rIns="0" bIns="0" rtlCol="0">
            <a:spAutoFit/>
          </a:bodyPr>
          <a:lstStyle/>
          <a:p>
            <a:pPr>
              <a:spcBef>
                <a:spcPts val="3"/>
              </a:spcBef>
            </a:pPr>
            <a:endParaRPr sz="682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06091">
              <a:spcBef>
                <a:spcPts val="14"/>
              </a:spcBef>
            </a:pPr>
            <a:r>
              <a:rPr sz="818" b="1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Villas</a:t>
            </a:r>
            <a:r>
              <a:rPr lang="en-US" sz="818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XLON </a:t>
            </a:r>
            <a:r>
              <a:rPr sz="818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109 </a:t>
            </a:r>
            <a:r>
              <a:rPr lang="en-US" sz="818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110</a:t>
            </a:r>
          </a:p>
          <a:p>
            <a:pPr marL="306091">
              <a:spcBef>
                <a:spcPts val="14"/>
              </a:spcBef>
            </a:pPr>
            <a:r>
              <a:rPr lang="en-US" sz="818" b="1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 Villas </a:t>
            </a:r>
            <a:r>
              <a:rPr lang="en-US" sz="818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X1ON 111 </a:t>
            </a:r>
            <a:r>
              <a:rPr sz="818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112</a:t>
            </a:r>
            <a:endParaRPr sz="818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14951" y="1715366"/>
            <a:ext cx="898663" cy="631129"/>
          </a:xfrm>
          <a:prstGeom prst="rect">
            <a:avLst/>
          </a:prstGeom>
          <a:ln w="12700">
            <a:solidFill>
              <a:srgbClr val="6E747B"/>
            </a:solidFill>
          </a:ln>
        </p:spPr>
        <p:txBody>
          <a:bodyPr vert="horz" wrap="square" lIns="0" tIns="126423" rIns="0" bIns="0" rtlCol="0">
            <a:spAutoFit/>
          </a:bodyPr>
          <a:lstStyle/>
          <a:p>
            <a:pPr marL="168848">
              <a:spcBef>
                <a:spcPts val="14"/>
              </a:spcBef>
            </a:pPr>
            <a:r>
              <a:rPr sz="818" b="1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Pool </a:t>
            </a:r>
            <a:r>
              <a:rPr lang="en-US" sz="818" b="1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side  Bungalows</a:t>
            </a:r>
          </a:p>
          <a:p>
            <a:pPr marL="168848">
              <a:spcBef>
                <a:spcPts val="14"/>
              </a:spcBef>
            </a:pPr>
            <a:r>
              <a:rPr lang="en-US" sz="818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X1LN </a:t>
            </a:r>
          </a:p>
          <a:p>
            <a:pPr marL="168848">
              <a:spcBef>
                <a:spcPts val="14"/>
              </a:spcBef>
            </a:pPr>
            <a:r>
              <a:rPr sz="818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106-108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134841" y="1576821"/>
            <a:ext cx="398318" cy="173206"/>
          </a:xfrm>
          <a:prstGeom prst="rect">
            <a:avLst/>
          </a:prstGeom>
          <a:ln w="12700">
            <a:solidFill>
              <a:srgbClr val="6E747B"/>
            </a:solidFill>
          </a:ln>
        </p:spPr>
        <p:txBody>
          <a:bodyPr vert="horz" wrap="square" lIns="0" tIns="77932" rIns="0" bIns="0" rtlCol="0">
            <a:spAutoFit/>
          </a:bodyPr>
          <a:lstStyle/>
          <a:p>
            <a:pPr marL="58880">
              <a:spcBef>
                <a:spcPts val="614"/>
              </a:spcBef>
            </a:pPr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Cabana</a:t>
            </a:r>
            <a:endParaRPr sz="614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54386" y="1576821"/>
            <a:ext cx="398318" cy="173206"/>
          </a:xfrm>
          <a:prstGeom prst="rect">
            <a:avLst/>
          </a:prstGeom>
          <a:ln w="12700">
            <a:solidFill>
              <a:srgbClr val="6E747B"/>
            </a:solidFill>
          </a:ln>
        </p:spPr>
        <p:txBody>
          <a:bodyPr vert="horz" wrap="square" lIns="0" tIns="77932" rIns="0" bIns="0" rtlCol="0">
            <a:spAutoFit/>
          </a:bodyPr>
          <a:lstStyle/>
          <a:p>
            <a:pPr marL="60612">
              <a:spcBef>
                <a:spcPts val="614"/>
              </a:spcBef>
            </a:pPr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Cabana</a:t>
            </a:r>
            <a:endParaRPr sz="614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72841" y="3455843"/>
            <a:ext cx="3636818" cy="622822"/>
          </a:xfrm>
          <a:prstGeom prst="rect">
            <a:avLst/>
          </a:prstGeom>
          <a:ln w="12700">
            <a:solidFill>
              <a:srgbClr val="6E747B"/>
            </a:solidFill>
          </a:ln>
        </p:spPr>
        <p:txBody>
          <a:bodyPr vert="horz" wrap="square" lIns="0" tIns="118197" rIns="0" bIns="0" rtlCol="0">
            <a:spAutoFit/>
          </a:bodyPr>
          <a:lstStyle/>
          <a:p>
            <a:pPr marL="168848">
              <a:spcBef>
                <a:spcPts val="14"/>
              </a:spcBef>
            </a:pPr>
            <a:r>
              <a:rPr sz="818" b="1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Suites</a:t>
            </a:r>
            <a:r>
              <a:rPr sz="818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18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XSHN</a:t>
            </a:r>
          </a:p>
          <a:p>
            <a:pPr marL="168848">
              <a:spcBef>
                <a:spcPts val="14"/>
              </a:spcBef>
            </a:pPr>
            <a:r>
              <a:rPr sz="818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101 – 105; 201 – 210; 301 – 310</a:t>
            </a:r>
            <a:endParaRPr lang="en-US" sz="818" dirty="0">
              <a:solidFill>
                <a:srgbClr val="6E747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68848">
              <a:spcBef>
                <a:spcPts val="14"/>
              </a:spcBef>
            </a:pPr>
            <a:endParaRPr lang="en-US" sz="818" dirty="0">
              <a:solidFill>
                <a:srgbClr val="6E747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68848">
              <a:spcBef>
                <a:spcPts val="14"/>
              </a:spcBef>
            </a:pPr>
            <a:r>
              <a:rPr lang="en-US" sz="818" dirty="0" err="1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Seawell</a:t>
            </a:r>
            <a:r>
              <a:rPr lang="en-US" sz="818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Fish N’ Oyster Restaurant</a:t>
            </a:r>
            <a:endParaRPr sz="818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89318" y="4780684"/>
            <a:ext cx="3420341" cy="921406"/>
          </a:xfrm>
          <a:prstGeom prst="rect">
            <a:avLst/>
          </a:prstGeom>
          <a:ln w="12700">
            <a:solidFill>
              <a:srgbClr val="6E747B"/>
            </a:solidFill>
          </a:ln>
        </p:spPr>
        <p:txBody>
          <a:bodyPr vert="horz" wrap="square" lIns="0" tIns="57150" rIns="0" bIns="0" rtlCol="0">
            <a:spAutoFit/>
          </a:bodyPr>
          <a:lstStyle/>
          <a:p>
            <a:pPr marL="80960">
              <a:spcBef>
                <a:spcPts val="450"/>
              </a:spcBef>
            </a:pPr>
            <a:r>
              <a:rPr sz="1091" b="1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South Tower</a:t>
            </a:r>
            <a:endParaRPr lang="en-US" sz="1091" b="1" dirty="0">
              <a:solidFill>
                <a:srgbClr val="6E747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960">
              <a:spcBef>
                <a:spcPts val="450"/>
              </a:spcBef>
            </a:pPr>
            <a:r>
              <a:rPr lang="en-US" sz="818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113- Accounting Office</a:t>
            </a:r>
            <a:endParaRPr sz="818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960">
              <a:spcBef>
                <a:spcPts val="14"/>
              </a:spcBef>
            </a:pPr>
            <a:r>
              <a:rPr sz="818" b="1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Loft</a:t>
            </a:r>
            <a:r>
              <a:rPr lang="en-US" sz="818" b="1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King</a:t>
            </a:r>
            <a:r>
              <a:rPr sz="818" b="1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18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KFTN </a:t>
            </a:r>
            <a:r>
              <a:rPr sz="818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114 – 117; </a:t>
            </a:r>
            <a:endParaRPr lang="en-US" sz="818" dirty="0">
              <a:solidFill>
                <a:srgbClr val="6E747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960">
              <a:spcBef>
                <a:spcPts val="14"/>
              </a:spcBef>
            </a:pPr>
            <a:r>
              <a:rPr lang="en-US" sz="818" b="1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Loft Queen </a:t>
            </a:r>
            <a:r>
              <a:rPr lang="en-US" sz="818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OFTN 402 – 405</a:t>
            </a:r>
            <a:endParaRPr lang="en-US" sz="818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960">
              <a:spcBef>
                <a:spcPts val="14"/>
              </a:spcBef>
            </a:pPr>
            <a:r>
              <a:rPr sz="818" b="1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Suites</a:t>
            </a:r>
            <a:r>
              <a:rPr sz="818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18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211; </a:t>
            </a:r>
            <a:r>
              <a:rPr sz="818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311 – 312; 401</a:t>
            </a:r>
            <a:r>
              <a:rPr lang="en-US" sz="818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406 </a:t>
            </a:r>
            <a:r>
              <a:rPr sz="818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 501</a:t>
            </a:r>
            <a:endParaRPr sz="818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1393">
              <a:lnSpc>
                <a:spcPts val="968"/>
              </a:lnSpc>
            </a:pPr>
            <a:r>
              <a:rPr lang="en-US" sz="818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506- Sales Office</a:t>
            </a:r>
            <a:endParaRPr sz="818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29163" y="3027729"/>
            <a:ext cx="1218950" cy="193409"/>
          </a:xfrm>
          <a:prstGeom prst="rect">
            <a:avLst/>
          </a:prstGeom>
        </p:spPr>
        <p:txBody>
          <a:bodyPr vert="horz" wrap="square" lIns="0" tIns="8659" rIns="0" bIns="0" rtlCol="0">
            <a:spAutoFit/>
          </a:bodyPr>
          <a:lstStyle/>
          <a:p>
            <a:pPr marL="8659">
              <a:spcBef>
                <a:spcPts val="68"/>
              </a:spcBef>
            </a:pPr>
            <a:r>
              <a:rPr sz="1200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Mermaid Lounge</a:t>
            </a:r>
            <a:endParaRPr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224441" y="2346495"/>
            <a:ext cx="215444" cy="1932207"/>
          </a:xfrm>
          <a:prstGeom prst="rect">
            <a:avLst/>
          </a:prstGeom>
        </p:spPr>
        <p:txBody>
          <a:bodyPr vert="vert" wrap="square" lIns="0" tIns="32039" rIns="0" bIns="0" rtlCol="0">
            <a:spAutoFit/>
          </a:bodyPr>
          <a:lstStyle/>
          <a:p>
            <a:pPr marL="8659">
              <a:spcBef>
                <a:spcPts val="252"/>
              </a:spcBef>
            </a:pPr>
            <a:r>
              <a:rPr sz="1400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Washington Avenue</a:t>
            </a:r>
            <a:endParaRPr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8409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94847" y="159637"/>
            <a:ext cx="1702377" cy="388988"/>
          </a:xfrm>
          <a:prstGeom prst="rect">
            <a:avLst/>
          </a:prstGeom>
        </p:spPr>
        <p:txBody>
          <a:bodyPr vert="horz" wrap="square" lIns="0" tIns="27276" rIns="0" bIns="0" rtlCol="0">
            <a:spAutoFit/>
          </a:bodyPr>
          <a:lstStyle/>
          <a:p>
            <a:pPr marL="25977">
              <a:spcBef>
                <a:spcPts val="215"/>
              </a:spcBef>
            </a:pPr>
            <a:r>
              <a:rPr sz="818" spc="-10" dirty="0">
                <a:solidFill>
                  <a:srgbClr val="C34B5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OUR</a:t>
            </a:r>
            <a:r>
              <a:rPr sz="818" spc="-51" dirty="0">
                <a:solidFill>
                  <a:srgbClr val="C34B5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PROPERTY</a:t>
            </a:r>
            <a:endParaRPr sz="818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659">
              <a:spcBef>
                <a:spcPts val="245"/>
              </a:spcBef>
            </a:pPr>
            <a:r>
              <a:rPr lang="en-US" sz="1364" i="1" dirty="0">
                <a:solidFill>
                  <a:srgbClr val="71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SITE PLAN - SUITES </a:t>
            </a:r>
          </a:p>
        </p:txBody>
      </p:sp>
      <p:sp>
        <p:nvSpPr>
          <p:cNvPr id="3" name="object 3"/>
          <p:cNvSpPr/>
          <p:nvPr/>
        </p:nvSpPr>
        <p:spPr>
          <a:xfrm>
            <a:off x="4121727" y="1691553"/>
            <a:ext cx="3870614" cy="1229591"/>
          </a:xfrm>
          <a:custGeom>
            <a:avLst/>
            <a:gdLst/>
            <a:ahLst/>
            <a:cxnLst/>
            <a:rect l="l" t="t" r="r" b="b"/>
            <a:pathLst>
              <a:path w="5676900" h="1803400">
                <a:moveTo>
                  <a:pt x="0" y="0"/>
                </a:moveTo>
                <a:lnTo>
                  <a:pt x="5676900" y="0"/>
                </a:lnTo>
                <a:lnTo>
                  <a:pt x="5676900" y="1803400"/>
                </a:lnTo>
                <a:lnTo>
                  <a:pt x="0" y="18034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E747B"/>
            </a:solidFill>
          </a:ln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121728" y="1691553"/>
            <a:ext cx="329045" cy="649432"/>
          </a:xfrm>
          <a:custGeom>
            <a:avLst/>
            <a:gdLst/>
            <a:ahLst/>
            <a:cxnLst/>
            <a:rect l="l" t="t" r="r" b="b"/>
            <a:pathLst>
              <a:path w="482600" h="952500">
                <a:moveTo>
                  <a:pt x="0" y="0"/>
                </a:moveTo>
                <a:lnTo>
                  <a:pt x="482600" y="0"/>
                </a:lnTo>
                <a:lnTo>
                  <a:pt x="482600" y="952500"/>
                </a:lnTo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E747B"/>
            </a:solidFill>
          </a:ln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121727" y="2237076"/>
            <a:ext cx="3151909" cy="129886"/>
          </a:xfrm>
          <a:custGeom>
            <a:avLst/>
            <a:gdLst/>
            <a:ahLst/>
            <a:cxnLst/>
            <a:rect l="l" t="t" r="r" b="b"/>
            <a:pathLst>
              <a:path w="4622800" h="190500">
                <a:moveTo>
                  <a:pt x="0" y="190500"/>
                </a:moveTo>
                <a:lnTo>
                  <a:pt x="4622800" y="190500"/>
                </a:lnTo>
                <a:lnTo>
                  <a:pt x="4622800" y="0"/>
                </a:lnTo>
                <a:lnTo>
                  <a:pt x="0" y="0"/>
                </a:lnTo>
                <a:lnTo>
                  <a:pt x="0" y="190500"/>
                </a:lnTo>
                <a:close/>
              </a:path>
            </a:pathLst>
          </a:custGeom>
          <a:solidFill>
            <a:srgbClr val="6E747B"/>
          </a:solidFill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121727" y="2237076"/>
            <a:ext cx="3151909" cy="129886"/>
          </a:xfrm>
          <a:custGeom>
            <a:avLst/>
            <a:gdLst/>
            <a:ahLst/>
            <a:cxnLst/>
            <a:rect l="l" t="t" r="r" b="b"/>
            <a:pathLst>
              <a:path w="4622800" h="190500">
                <a:moveTo>
                  <a:pt x="0" y="190500"/>
                </a:moveTo>
                <a:lnTo>
                  <a:pt x="4622800" y="190500"/>
                </a:lnTo>
                <a:lnTo>
                  <a:pt x="4622800" y="0"/>
                </a:lnTo>
                <a:lnTo>
                  <a:pt x="0" y="0"/>
                </a:lnTo>
                <a:lnTo>
                  <a:pt x="0" y="190500"/>
                </a:lnTo>
                <a:close/>
              </a:path>
            </a:pathLst>
          </a:custGeom>
          <a:ln w="12700">
            <a:solidFill>
              <a:srgbClr val="6E747B"/>
            </a:solidFill>
          </a:ln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273636" y="2237084"/>
            <a:ext cx="103909" cy="684068"/>
          </a:xfrm>
          <a:custGeom>
            <a:avLst/>
            <a:gdLst/>
            <a:ahLst/>
            <a:cxnLst/>
            <a:rect l="l" t="t" r="r" b="b"/>
            <a:pathLst>
              <a:path w="152400" h="1003300">
                <a:moveTo>
                  <a:pt x="0" y="1003287"/>
                </a:moveTo>
                <a:lnTo>
                  <a:pt x="152400" y="1003287"/>
                </a:lnTo>
                <a:lnTo>
                  <a:pt x="152400" y="0"/>
                </a:lnTo>
                <a:lnTo>
                  <a:pt x="0" y="0"/>
                </a:lnTo>
                <a:lnTo>
                  <a:pt x="0" y="1003287"/>
                </a:lnTo>
                <a:close/>
              </a:path>
            </a:pathLst>
          </a:custGeom>
          <a:solidFill>
            <a:srgbClr val="6E747B"/>
          </a:solidFill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273636" y="2237076"/>
            <a:ext cx="103909" cy="684068"/>
          </a:xfrm>
          <a:custGeom>
            <a:avLst/>
            <a:gdLst/>
            <a:ahLst/>
            <a:cxnLst/>
            <a:rect l="l" t="t" r="r" b="b"/>
            <a:pathLst>
              <a:path w="152400" h="1003300">
                <a:moveTo>
                  <a:pt x="0" y="0"/>
                </a:moveTo>
                <a:lnTo>
                  <a:pt x="152400" y="0"/>
                </a:lnTo>
                <a:lnTo>
                  <a:pt x="152400" y="1003300"/>
                </a:lnTo>
                <a:lnTo>
                  <a:pt x="0" y="1003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E747B"/>
            </a:solidFill>
          </a:ln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693477" y="2358303"/>
            <a:ext cx="580159" cy="562841"/>
          </a:xfrm>
          <a:custGeom>
            <a:avLst/>
            <a:gdLst/>
            <a:ahLst/>
            <a:cxnLst/>
            <a:rect l="l" t="t" r="r" b="b"/>
            <a:pathLst>
              <a:path w="850900" h="825500">
                <a:moveTo>
                  <a:pt x="0" y="0"/>
                </a:moveTo>
                <a:lnTo>
                  <a:pt x="850900" y="0"/>
                </a:lnTo>
                <a:lnTo>
                  <a:pt x="850900" y="825500"/>
                </a:lnTo>
                <a:lnTo>
                  <a:pt x="0" y="8255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E747B"/>
            </a:solidFill>
          </a:ln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450773" y="1682894"/>
            <a:ext cx="112568" cy="658091"/>
          </a:xfrm>
          <a:custGeom>
            <a:avLst/>
            <a:gdLst/>
            <a:ahLst/>
            <a:cxnLst/>
            <a:rect l="l" t="t" r="r" b="b"/>
            <a:pathLst>
              <a:path w="165100" h="965200">
                <a:moveTo>
                  <a:pt x="0" y="965200"/>
                </a:moveTo>
                <a:lnTo>
                  <a:pt x="165100" y="965200"/>
                </a:lnTo>
                <a:lnTo>
                  <a:pt x="165100" y="0"/>
                </a:lnTo>
                <a:lnTo>
                  <a:pt x="0" y="0"/>
                </a:lnTo>
                <a:lnTo>
                  <a:pt x="0" y="965200"/>
                </a:lnTo>
                <a:close/>
              </a:path>
            </a:pathLst>
          </a:custGeom>
          <a:solidFill>
            <a:srgbClr val="6E747B"/>
          </a:solidFill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450773" y="1682894"/>
            <a:ext cx="112568" cy="658091"/>
          </a:xfrm>
          <a:custGeom>
            <a:avLst/>
            <a:gdLst/>
            <a:ahLst/>
            <a:cxnLst/>
            <a:rect l="l" t="t" r="r" b="b"/>
            <a:pathLst>
              <a:path w="165100" h="965200">
                <a:moveTo>
                  <a:pt x="0" y="0"/>
                </a:moveTo>
                <a:lnTo>
                  <a:pt x="165100" y="0"/>
                </a:lnTo>
                <a:lnTo>
                  <a:pt x="165100" y="965200"/>
                </a:lnTo>
                <a:lnTo>
                  <a:pt x="0" y="9652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E747B"/>
            </a:solidFill>
          </a:ln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385954" y="1682894"/>
            <a:ext cx="822614" cy="562841"/>
          </a:xfrm>
          <a:custGeom>
            <a:avLst/>
            <a:gdLst/>
            <a:ahLst/>
            <a:cxnLst/>
            <a:rect l="l" t="t" r="r" b="b"/>
            <a:pathLst>
              <a:path w="1206500" h="825500">
                <a:moveTo>
                  <a:pt x="0" y="0"/>
                </a:moveTo>
                <a:lnTo>
                  <a:pt x="1206500" y="0"/>
                </a:lnTo>
                <a:lnTo>
                  <a:pt x="1206500" y="825500"/>
                </a:lnTo>
                <a:lnTo>
                  <a:pt x="0" y="8255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E747B"/>
            </a:solidFill>
          </a:ln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208568" y="1682894"/>
            <a:ext cx="822614" cy="554182"/>
          </a:xfrm>
          <a:custGeom>
            <a:avLst/>
            <a:gdLst/>
            <a:ahLst/>
            <a:cxnLst/>
            <a:rect l="l" t="t" r="r" b="b"/>
            <a:pathLst>
              <a:path w="1206500" h="812800">
                <a:moveTo>
                  <a:pt x="0" y="0"/>
                </a:moveTo>
                <a:lnTo>
                  <a:pt x="1206500" y="0"/>
                </a:lnTo>
                <a:lnTo>
                  <a:pt x="12065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E747B"/>
            </a:solidFill>
          </a:ln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879523" y="2358303"/>
            <a:ext cx="813955" cy="562841"/>
          </a:xfrm>
          <a:custGeom>
            <a:avLst/>
            <a:gdLst/>
            <a:ahLst/>
            <a:cxnLst/>
            <a:rect l="l" t="t" r="r" b="b"/>
            <a:pathLst>
              <a:path w="1193800" h="825500">
                <a:moveTo>
                  <a:pt x="0" y="0"/>
                </a:moveTo>
                <a:lnTo>
                  <a:pt x="1193800" y="0"/>
                </a:lnTo>
                <a:lnTo>
                  <a:pt x="1193800" y="825500"/>
                </a:lnTo>
                <a:lnTo>
                  <a:pt x="0" y="8255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E747B"/>
            </a:solidFill>
          </a:ln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056909" y="2358303"/>
            <a:ext cx="822614" cy="562841"/>
          </a:xfrm>
          <a:custGeom>
            <a:avLst/>
            <a:gdLst/>
            <a:ahLst/>
            <a:cxnLst/>
            <a:rect l="l" t="t" r="r" b="b"/>
            <a:pathLst>
              <a:path w="1206500" h="825500">
                <a:moveTo>
                  <a:pt x="0" y="0"/>
                </a:moveTo>
                <a:lnTo>
                  <a:pt x="1206500" y="0"/>
                </a:lnTo>
                <a:lnTo>
                  <a:pt x="1206500" y="825500"/>
                </a:lnTo>
                <a:lnTo>
                  <a:pt x="0" y="8255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E747B"/>
            </a:solidFill>
          </a:ln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121727" y="2362633"/>
            <a:ext cx="935182" cy="157904"/>
          </a:xfrm>
          <a:prstGeom prst="rect">
            <a:avLst/>
          </a:prstGeom>
          <a:ln w="12700">
            <a:solidFill>
              <a:srgbClr val="6E747B"/>
            </a:solidFill>
          </a:ln>
        </p:spPr>
        <p:txBody>
          <a:bodyPr vert="horz" wrap="square" lIns="0" tIns="62778" rIns="0" bIns="0" rtlCol="0">
            <a:spAutoFit/>
          </a:bodyPr>
          <a:lstStyle/>
          <a:p>
            <a:pPr marL="66673">
              <a:spcBef>
                <a:spcPts val="494"/>
              </a:spcBef>
            </a:pPr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Kitchen</a:t>
            </a:r>
            <a:endParaRPr sz="614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883853" y="2398230"/>
            <a:ext cx="805295" cy="329344"/>
          </a:xfrm>
          <a:prstGeom prst="rect">
            <a:avLst/>
          </a:prstGeom>
        </p:spPr>
        <p:txBody>
          <a:bodyPr vert="horz" wrap="square" lIns="0" tIns="8659" rIns="0" bIns="0" rtlCol="0">
            <a:spAutoFit/>
          </a:bodyPr>
          <a:lstStyle/>
          <a:p>
            <a:pPr marL="27708">
              <a:lnSpc>
                <a:spcPts val="893"/>
              </a:lnSpc>
              <a:spcBef>
                <a:spcPts val="68"/>
              </a:spcBef>
            </a:pPr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Suite 101</a:t>
            </a:r>
            <a:endParaRPr sz="614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708" marR="152396">
              <a:lnSpc>
                <a:spcPts val="750"/>
              </a:lnSpc>
              <a:spcBef>
                <a:spcPts val="7"/>
              </a:spcBef>
            </a:pPr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King Suite, 475 ft</a:t>
            </a:r>
            <a:r>
              <a:rPr sz="614" baseline="27777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 </a:t>
            </a:r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Terrace</a:t>
            </a:r>
            <a:endParaRPr sz="614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222899" y="1702325"/>
            <a:ext cx="636876" cy="431936"/>
          </a:xfrm>
          <a:prstGeom prst="rect">
            <a:avLst/>
          </a:prstGeom>
        </p:spPr>
        <p:txBody>
          <a:bodyPr vert="horz" wrap="square" lIns="0" tIns="8659" rIns="0" bIns="0" rtlCol="0">
            <a:spAutoFit/>
          </a:bodyPr>
          <a:lstStyle/>
          <a:p>
            <a:pPr marL="8659">
              <a:lnSpc>
                <a:spcPts val="893"/>
              </a:lnSpc>
              <a:spcBef>
                <a:spcPts val="68"/>
              </a:spcBef>
            </a:pPr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Suite 102</a:t>
            </a:r>
            <a:endParaRPr sz="614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659" marR="3464">
              <a:lnSpc>
                <a:spcPts val="750"/>
              </a:lnSpc>
              <a:spcBef>
                <a:spcPts val="7"/>
              </a:spcBef>
            </a:pPr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King Suite, 435 ft</a:t>
            </a:r>
            <a:r>
              <a:rPr sz="614" baseline="27777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 </a:t>
            </a:r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Terrace  Pool View</a:t>
            </a:r>
            <a:endParaRPr sz="614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390284" y="1707105"/>
            <a:ext cx="813955" cy="431936"/>
          </a:xfrm>
          <a:prstGeom prst="rect">
            <a:avLst/>
          </a:prstGeom>
        </p:spPr>
        <p:txBody>
          <a:bodyPr vert="horz" wrap="square" lIns="0" tIns="8659" rIns="0" bIns="0" rtlCol="0">
            <a:spAutoFit/>
          </a:bodyPr>
          <a:lstStyle/>
          <a:p>
            <a:pPr marL="40264">
              <a:lnSpc>
                <a:spcPts val="893"/>
              </a:lnSpc>
              <a:spcBef>
                <a:spcPts val="68"/>
              </a:spcBef>
            </a:pPr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Suite 104</a:t>
            </a:r>
            <a:endParaRPr sz="614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0264" marR="165816">
              <a:lnSpc>
                <a:spcPts val="750"/>
              </a:lnSpc>
              <a:spcBef>
                <a:spcPts val="7"/>
              </a:spcBef>
            </a:pPr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King King, 435 ft</a:t>
            </a:r>
            <a:r>
              <a:rPr sz="614" baseline="27777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 </a:t>
            </a:r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Terrace  Pool View</a:t>
            </a:r>
            <a:endParaRPr sz="614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563341" y="1687224"/>
            <a:ext cx="822614" cy="453359"/>
          </a:xfrm>
          <a:prstGeom prst="rect">
            <a:avLst/>
          </a:prstGeom>
          <a:ln w="12700">
            <a:solidFill>
              <a:srgbClr val="6E747B"/>
            </a:solidFill>
          </a:ln>
        </p:spPr>
        <p:txBody>
          <a:bodyPr vert="horz" wrap="square" lIns="0" tIns="29874" rIns="0" bIns="0" rtlCol="0">
            <a:spAutoFit/>
          </a:bodyPr>
          <a:lstStyle/>
          <a:p>
            <a:pPr marL="36367">
              <a:lnSpc>
                <a:spcPts val="893"/>
              </a:lnSpc>
              <a:spcBef>
                <a:spcPts val="235"/>
              </a:spcBef>
            </a:pPr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Suite 105</a:t>
            </a:r>
            <a:endParaRPr sz="614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367" marR="178805">
              <a:lnSpc>
                <a:spcPts val="750"/>
              </a:lnSpc>
              <a:spcBef>
                <a:spcPts val="7"/>
              </a:spcBef>
            </a:pPr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King King, 450 ft</a:t>
            </a:r>
            <a:r>
              <a:rPr sz="614" baseline="27777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 </a:t>
            </a:r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Terrace  Pool View</a:t>
            </a:r>
            <a:endParaRPr sz="614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121727" y="1687224"/>
            <a:ext cx="427283" cy="267556"/>
          </a:xfrm>
          <a:prstGeom prst="rect">
            <a:avLst/>
          </a:prstGeom>
          <a:ln w="12700">
            <a:solidFill>
              <a:srgbClr val="6E747B"/>
            </a:solidFill>
          </a:ln>
        </p:spPr>
        <p:txBody>
          <a:bodyPr vert="horz" wrap="square" lIns="0" tIns="36368" rIns="0" bIns="0" rtlCol="0">
            <a:spAutoFit/>
          </a:bodyPr>
          <a:lstStyle/>
          <a:p>
            <a:pPr marL="35068" marR="31172">
              <a:lnSpc>
                <a:spcPts val="886"/>
              </a:lnSpc>
              <a:spcBef>
                <a:spcPts val="286"/>
              </a:spcBef>
            </a:pPr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Lobby  Toilets</a:t>
            </a:r>
            <a:endParaRPr sz="614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338580" y="2243959"/>
            <a:ext cx="666750" cy="113709"/>
          </a:xfrm>
          <a:prstGeom prst="rect">
            <a:avLst/>
          </a:prstGeom>
        </p:spPr>
        <p:txBody>
          <a:bodyPr vert="horz" wrap="square" lIns="0" tIns="8659" rIns="0" bIns="0" rtlCol="0">
            <a:spAutoFit/>
          </a:bodyPr>
          <a:lstStyle/>
          <a:p>
            <a:pPr marL="168848">
              <a:spcBef>
                <a:spcPts val="14"/>
              </a:spcBef>
            </a:pPr>
            <a:r>
              <a:rPr lang="en-US" sz="682" dirty="0" err="1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Seawell</a:t>
            </a:r>
            <a:endParaRPr lang="en-US" sz="682" dirty="0">
              <a:solidFill>
                <a:srgbClr val="6E747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091420" y="3120303"/>
            <a:ext cx="3870614" cy="1238250"/>
          </a:xfrm>
          <a:custGeom>
            <a:avLst/>
            <a:gdLst/>
            <a:ahLst/>
            <a:cxnLst/>
            <a:rect l="l" t="t" r="r" b="b"/>
            <a:pathLst>
              <a:path w="5676900" h="1816100">
                <a:moveTo>
                  <a:pt x="0" y="0"/>
                </a:moveTo>
                <a:lnTo>
                  <a:pt x="5676900" y="0"/>
                </a:lnTo>
                <a:lnTo>
                  <a:pt x="5676900" y="1816100"/>
                </a:lnTo>
                <a:lnTo>
                  <a:pt x="0" y="18161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E747B"/>
            </a:solidFill>
          </a:ln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130761" y="3674485"/>
            <a:ext cx="147205" cy="684068"/>
          </a:xfrm>
          <a:custGeom>
            <a:avLst/>
            <a:gdLst/>
            <a:ahLst/>
            <a:cxnLst/>
            <a:rect l="l" t="t" r="r" b="b"/>
            <a:pathLst>
              <a:path w="215900" h="1003300">
                <a:moveTo>
                  <a:pt x="0" y="1003300"/>
                </a:moveTo>
                <a:lnTo>
                  <a:pt x="215900" y="1003300"/>
                </a:lnTo>
                <a:lnTo>
                  <a:pt x="215900" y="0"/>
                </a:lnTo>
                <a:lnTo>
                  <a:pt x="0" y="0"/>
                </a:lnTo>
                <a:lnTo>
                  <a:pt x="0" y="1003300"/>
                </a:lnTo>
                <a:close/>
              </a:path>
            </a:pathLst>
          </a:custGeom>
          <a:solidFill>
            <a:srgbClr val="6E747B"/>
          </a:solidFill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130761" y="3674485"/>
            <a:ext cx="147205" cy="684068"/>
          </a:xfrm>
          <a:custGeom>
            <a:avLst/>
            <a:gdLst/>
            <a:ahLst/>
            <a:cxnLst/>
            <a:rect l="l" t="t" r="r" b="b"/>
            <a:pathLst>
              <a:path w="215900" h="1003300">
                <a:moveTo>
                  <a:pt x="0" y="0"/>
                </a:moveTo>
                <a:lnTo>
                  <a:pt x="215900" y="0"/>
                </a:lnTo>
                <a:lnTo>
                  <a:pt x="215900" y="1003300"/>
                </a:lnTo>
                <a:lnTo>
                  <a:pt x="0" y="1003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E747B"/>
            </a:solidFill>
          </a:ln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6351443" y="3128962"/>
            <a:ext cx="779318" cy="562841"/>
          </a:xfrm>
          <a:custGeom>
            <a:avLst/>
            <a:gdLst/>
            <a:ahLst/>
            <a:cxnLst/>
            <a:rect l="l" t="t" r="r" b="b"/>
            <a:pathLst>
              <a:path w="1143000" h="825500">
                <a:moveTo>
                  <a:pt x="0" y="0"/>
                </a:moveTo>
                <a:lnTo>
                  <a:pt x="1143000" y="0"/>
                </a:lnTo>
                <a:lnTo>
                  <a:pt x="1143000" y="825500"/>
                </a:lnTo>
                <a:lnTo>
                  <a:pt x="0" y="8255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E747B"/>
            </a:solidFill>
          </a:ln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130761" y="3128962"/>
            <a:ext cx="831273" cy="554182"/>
          </a:xfrm>
          <a:custGeom>
            <a:avLst/>
            <a:gdLst/>
            <a:ahLst/>
            <a:cxnLst/>
            <a:rect l="l" t="t" r="r" b="b"/>
            <a:pathLst>
              <a:path w="1219200" h="812800">
                <a:moveTo>
                  <a:pt x="0" y="0"/>
                </a:moveTo>
                <a:lnTo>
                  <a:pt x="1219200" y="0"/>
                </a:lnTo>
                <a:lnTo>
                  <a:pt x="12192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E747B"/>
            </a:solidFill>
          </a:ln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940261" y="3492644"/>
            <a:ext cx="285750" cy="181841"/>
          </a:xfrm>
          <a:custGeom>
            <a:avLst/>
            <a:gdLst/>
            <a:ahLst/>
            <a:cxnLst/>
            <a:rect l="l" t="t" r="r" b="b"/>
            <a:pathLst>
              <a:path w="419100" h="266700">
                <a:moveTo>
                  <a:pt x="0" y="0"/>
                </a:moveTo>
                <a:lnTo>
                  <a:pt x="419100" y="0"/>
                </a:lnTo>
                <a:lnTo>
                  <a:pt x="419100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E747B"/>
            </a:solidFill>
          </a:ln>
        </p:spPr>
        <p:txBody>
          <a:bodyPr wrap="square" lIns="0" tIns="0" rIns="0" bIns="0" rtlCol="0"/>
          <a:lstStyle/>
          <a:p>
            <a:r>
              <a:rPr lang="en-US"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Elevator</a:t>
            </a:r>
          </a:p>
          <a:p>
            <a:endParaRPr sz="614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169442" y="3137353"/>
            <a:ext cx="485195" cy="103257"/>
          </a:xfrm>
          <a:prstGeom prst="rect">
            <a:avLst/>
          </a:prstGeom>
        </p:spPr>
        <p:txBody>
          <a:bodyPr vert="horz" wrap="square" lIns="0" tIns="8659" rIns="0" bIns="0" rtlCol="0">
            <a:spAutoFit/>
          </a:bodyPr>
          <a:lstStyle/>
          <a:p>
            <a:pPr marL="8659">
              <a:spcBef>
                <a:spcPts val="68"/>
              </a:spcBef>
            </a:pPr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Suite 201</a:t>
            </a:r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169442" y="3249921"/>
            <a:ext cx="636876" cy="199740"/>
          </a:xfrm>
          <a:prstGeom prst="rect">
            <a:avLst/>
          </a:prstGeom>
        </p:spPr>
        <p:txBody>
          <a:bodyPr vert="horz" wrap="square" lIns="0" tIns="6927" rIns="0" bIns="0" rtlCol="0">
            <a:spAutoFit/>
          </a:bodyPr>
          <a:lstStyle/>
          <a:p>
            <a:pPr marL="8659" marR="3464">
              <a:lnSpc>
                <a:spcPct val="101899"/>
              </a:lnSpc>
              <a:spcBef>
                <a:spcPts val="55"/>
              </a:spcBef>
            </a:pPr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King Suite, 475 ft</a:t>
            </a:r>
            <a:r>
              <a:rPr sz="614" baseline="27777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 </a:t>
            </a:r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Sofa Bed</a:t>
            </a:r>
            <a:endParaRPr sz="614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358873" y="3135595"/>
            <a:ext cx="645535" cy="213928"/>
          </a:xfrm>
          <a:prstGeom prst="rect">
            <a:avLst/>
          </a:prstGeom>
        </p:spPr>
        <p:txBody>
          <a:bodyPr vert="horz" wrap="square" lIns="0" tIns="8659" rIns="0" bIns="0" rtlCol="0">
            <a:spAutoFit/>
          </a:bodyPr>
          <a:lstStyle/>
          <a:p>
            <a:pPr marL="8659">
              <a:lnSpc>
                <a:spcPts val="893"/>
              </a:lnSpc>
              <a:spcBef>
                <a:spcPts val="68"/>
              </a:spcBef>
            </a:pPr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Suite 203</a:t>
            </a:r>
            <a:endParaRPr sz="614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659">
              <a:lnSpc>
                <a:spcPts val="730"/>
              </a:lnSpc>
            </a:pPr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King Suite, 405 ft</a:t>
            </a:r>
            <a:r>
              <a:rPr sz="614" baseline="27777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sz="614" baseline="2777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358873" y="3343413"/>
            <a:ext cx="360651" cy="199740"/>
          </a:xfrm>
          <a:prstGeom prst="rect">
            <a:avLst/>
          </a:prstGeom>
        </p:spPr>
        <p:txBody>
          <a:bodyPr vert="horz" wrap="square" lIns="0" tIns="6927" rIns="0" bIns="0" rtlCol="0">
            <a:spAutoFit/>
          </a:bodyPr>
          <a:lstStyle/>
          <a:p>
            <a:pPr marL="8659" marR="3464">
              <a:lnSpc>
                <a:spcPct val="101800"/>
              </a:lnSpc>
              <a:spcBef>
                <a:spcPts val="55"/>
              </a:spcBef>
            </a:pPr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Pool View  Balcony</a:t>
            </a:r>
            <a:endParaRPr sz="614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277966" y="3674485"/>
            <a:ext cx="684068" cy="407256"/>
          </a:xfrm>
          <a:prstGeom prst="rect">
            <a:avLst/>
          </a:prstGeom>
          <a:ln w="12700">
            <a:solidFill>
              <a:srgbClr val="6E747B"/>
            </a:solidFill>
          </a:ln>
        </p:spPr>
        <p:txBody>
          <a:bodyPr vert="horz" wrap="square" lIns="0" tIns="25111" rIns="0" bIns="0" rtlCol="0">
            <a:spAutoFit/>
          </a:bodyPr>
          <a:lstStyle/>
          <a:p>
            <a:pPr marL="86155" marR="233356">
              <a:lnSpc>
                <a:spcPct val="100699"/>
              </a:lnSpc>
              <a:spcBef>
                <a:spcPts val="198"/>
              </a:spcBef>
            </a:pPr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Suite 202  King Suite  Balcony  400 ft</a:t>
            </a:r>
            <a:r>
              <a:rPr sz="614" baseline="27777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sz="614" baseline="2777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576455" y="3120304"/>
            <a:ext cx="770659" cy="529714"/>
          </a:xfrm>
          <a:prstGeom prst="rect">
            <a:avLst/>
          </a:prstGeom>
          <a:ln w="12700">
            <a:solidFill>
              <a:srgbClr val="6E747B"/>
            </a:solidFill>
          </a:ln>
        </p:spPr>
        <p:txBody>
          <a:bodyPr vert="horz" wrap="square" lIns="0" tIns="35069" rIns="0" bIns="0" rtlCol="0">
            <a:spAutoFit/>
          </a:bodyPr>
          <a:lstStyle/>
          <a:p>
            <a:pPr marL="46325">
              <a:lnSpc>
                <a:spcPts val="893"/>
              </a:lnSpc>
              <a:spcBef>
                <a:spcPts val="276"/>
              </a:spcBef>
            </a:pPr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Suite 205</a:t>
            </a:r>
            <a:endParaRPr sz="614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325">
              <a:lnSpc>
                <a:spcPts val="730"/>
              </a:lnSpc>
            </a:pPr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King Suite, 470 ft</a:t>
            </a:r>
            <a:r>
              <a:rPr sz="614" baseline="27777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sz="614" baseline="27777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325" marR="206081" indent="-64509">
              <a:lnSpc>
                <a:spcPct val="101800"/>
              </a:lnSpc>
            </a:pPr>
            <a:r>
              <a:rPr sz="614" baseline="23148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Twin Balconies  Pool View</a:t>
            </a:r>
            <a:endParaRPr sz="614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823114" y="3120304"/>
            <a:ext cx="753341" cy="523453"/>
          </a:xfrm>
          <a:prstGeom prst="rect">
            <a:avLst/>
          </a:prstGeom>
          <a:ln w="12700">
            <a:solidFill>
              <a:srgbClr val="6E747B"/>
            </a:solidFill>
          </a:ln>
        </p:spPr>
        <p:txBody>
          <a:bodyPr vert="horz" wrap="square" lIns="0" tIns="48491" rIns="0" bIns="0" rtlCol="0">
            <a:spAutoFit/>
          </a:bodyPr>
          <a:lstStyle/>
          <a:p>
            <a:pPr marL="16452">
              <a:lnSpc>
                <a:spcPts val="893"/>
              </a:lnSpc>
              <a:spcBef>
                <a:spcPts val="382"/>
              </a:spcBef>
            </a:pPr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Suite 207</a:t>
            </a:r>
            <a:endParaRPr sz="614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6452">
              <a:lnSpc>
                <a:spcPts val="702"/>
              </a:lnSpc>
            </a:pPr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Double Suite</a:t>
            </a:r>
            <a:endParaRPr sz="614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6452" marR="6494">
              <a:lnSpc>
                <a:spcPts val="682"/>
              </a:lnSpc>
              <a:spcBef>
                <a:spcPts val="41"/>
              </a:spcBef>
            </a:pPr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Double Beds, 455 ft  Balcony</a:t>
            </a:r>
            <a:endParaRPr sz="614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6452">
              <a:lnSpc>
                <a:spcPts val="668"/>
              </a:lnSpc>
            </a:pPr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Partial Pool View</a:t>
            </a:r>
            <a:endParaRPr sz="614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091421" y="3120304"/>
            <a:ext cx="731693" cy="501653"/>
          </a:xfrm>
          <a:prstGeom prst="rect">
            <a:avLst/>
          </a:prstGeom>
          <a:ln w="12700">
            <a:solidFill>
              <a:srgbClr val="6E747B"/>
            </a:solidFill>
          </a:ln>
        </p:spPr>
        <p:txBody>
          <a:bodyPr vert="horz" wrap="square" lIns="0" tIns="48491" rIns="0" bIns="0" rtlCol="0">
            <a:spAutoFit/>
          </a:bodyPr>
          <a:lstStyle/>
          <a:p>
            <a:pPr marL="26410">
              <a:lnSpc>
                <a:spcPts val="893"/>
              </a:lnSpc>
              <a:spcBef>
                <a:spcPts val="382"/>
              </a:spcBef>
            </a:pPr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Suite 209</a:t>
            </a:r>
            <a:endParaRPr sz="614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6410">
              <a:lnSpc>
                <a:spcPts val="648"/>
              </a:lnSpc>
            </a:pPr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Accessible King Suite</a:t>
            </a:r>
            <a:endParaRPr sz="614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6410" marR="114730">
              <a:lnSpc>
                <a:spcPct val="97200"/>
              </a:lnSpc>
              <a:spcBef>
                <a:spcPts val="48"/>
              </a:spcBef>
            </a:pPr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King Bed, 485 ft</a:t>
            </a:r>
            <a:r>
              <a:rPr sz="614" baseline="27777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 </a:t>
            </a:r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Large Terrace</a:t>
            </a:r>
            <a:endParaRPr sz="614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6342784" y="3795712"/>
            <a:ext cx="779318" cy="562841"/>
          </a:xfrm>
          <a:custGeom>
            <a:avLst/>
            <a:gdLst/>
            <a:ahLst/>
            <a:cxnLst/>
            <a:rect l="l" t="t" r="r" b="b"/>
            <a:pathLst>
              <a:path w="1143000" h="825500">
                <a:moveTo>
                  <a:pt x="0" y="0"/>
                </a:moveTo>
                <a:lnTo>
                  <a:pt x="1143000" y="0"/>
                </a:lnTo>
                <a:lnTo>
                  <a:pt x="1143000" y="825500"/>
                </a:lnTo>
                <a:lnTo>
                  <a:pt x="0" y="8255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E747B"/>
            </a:solidFill>
          </a:ln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351443" y="3820988"/>
            <a:ext cx="766330" cy="419112"/>
          </a:xfrm>
          <a:prstGeom prst="rect">
            <a:avLst/>
          </a:prstGeom>
        </p:spPr>
        <p:txBody>
          <a:bodyPr vert="horz" wrap="square" lIns="0" tIns="8659" rIns="0" bIns="0" rtlCol="0">
            <a:spAutoFit/>
          </a:bodyPr>
          <a:lstStyle/>
          <a:p>
            <a:pPr marL="9525">
              <a:lnSpc>
                <a:spcPts val="893"/>
              </a:lnSpc>
              <a:spcBef>
                <a:spcPts val="68"/>
              </a:spcBef>
            </a:pPr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Suite 204</a:t>
            </a:r>
            <a:endParaRPr sz="614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525" marR="131615">
              <a:lnSpc>
                <a:spcPts val="750"/>
              </a:lnSpc>
              <a:spcBef>
                <a:spcPts val="7"/>
              </a:spcBef>
            </a:pPr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King Suite, 495 ft</a:t>
            </a:r>
            <a:r>
              <a:rPr sz="614" baseline="27777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 </a:t>
            </a:r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Sofa Bed</a:t>
            </a:r>
            <a:endParaRPr sz="614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525">
              <a:lnSpc>
                <a:spcPts val="723"/>
              </a:lnSpc>
            </a:pPr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Balcony</a:t>
            </a:r>
            <a:endParaRPr sz="614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576455" y="3813031"/>
            <a:ext cx="770659" cy="451172"/>
          </a:xfrm>
          <a:prstGeom prst="rect">
            <a:avLst/>
          </a:prstGeom>
          <a:ln w="12700">
            <a:solidFill>
              <a:srgbClr val="6E747B"/>
            </a:solidFill>
          </a:ln>
        </p:spPr>
        <p:txBody>
          <a:bodyPr vert="horz" wrap="square" lIns="0" tIns="27709" rIns="0" bIns="0" rtlCol="0">
            <a:spAutoFit/>
          </a:bodyPr>
          <a:lstStyle/>
          <a:p>
            <a:pPr marL="40264">
              <a:lnSpc>
                <a:spcPts val="893"/>
              </a:lnSpc>
              <a:spcBef>
                <a:spcPts val="218"/>
              </a:spcBef>
            </a:pPr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Suite 206</a:t>
            </a:r>
            <a:endParaRPr sz="614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0264" marR="105638">
              <a:lnSpc>
                <a:spcPts val="750"/>
              </a:lnSpc>
              <a:spcBef>
                <a:spcPts val="7"/>
              </a:spcBef>
            </a:pPr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King Suite, 470 ft</a:t>
            </a:r>
            <a:r>
              <a:rPr sz="614" baseline="27777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 </a:t>
            </a:r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Twin Balconies  Pool View</a:t>
            </a:r>
            <a:endParaRPr sz="614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823114" y="3813031"/>
            <a:ext cx="753341" cy="246717"/>
          </a:xfrm>
          <a:prstGeom prst="rect">
            <a:avLst/>
          </a:prstGeom>
          <a:ln w="12700">
            <a:solidFill>
              <a:srgbClr val="6E747B"/>
            </a:solidFill>
          </a:ln>
        </p:spPr>
        <p:txBody>
          <a:bodyPr vert="horz" wrap="square" lIns="0" tIns="41131" rIns="0" bIns="0" rtlCol="0">
            <a:spAutoFit/>
          </a:bodyPr>
          <a:lstStyle/>
          <a:p>
            <a:pPr marL="10391">
              <a:lnSpc>
                <a:spcPts val="893"/>
              </a:lnSpc>
              <a:spcBef>
                <a:spcPts val="324"/>
              </a:spcBef>
            </a:pPr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Suite 208</a:t>
            </a:r>
            <a:endParaRPr sz="614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391">
              <a:lnSpc>
                <a:spcPts val="730"/>
              </a:lnSpc>
            </a:pPr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King Suite, 455 ft</a:t>
            </a:r>
            <a:r>
              <a:rPr sz="614" baseline="27777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sz="614" baseline="2777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091421" y="3813031"/>
            <a:ext cx="731693" cy="362133"/>
          </a:xfrm>
          <a:prstGeom prst="rect">
            <a:avLst/>
          </a:prstGeom>
          <a:ln w="12700">
            <a:solidFill>
              <a:srgbClr val="6E747B"/>
            </a:solidFill>
          </a:ln>
        </p:spPr>
        <p:txBody>
          <a:bodyPr vert="horz" wrap="square" lIns="0" tIns="41131" rIns="0" bIns="0" rtlCol="0">
            <a:spAutoFit/>
          </a:bodyPr>
          <a:lstStyle/>
          <a:p>
            <a:pPr marL="20348">
              <a:lnSpc>
                <a:spcPts val="893"/>
              </a:lnSpc>
              <a:spcBef>
                <a:spcPts val="324"/>
              </a:spcBef>
            </a:pPr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Suite 210</a:t>
            </a:r>
            <a:endParaRPr sz="614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0348" marR="86155">
              <a:lnSpc>
                <a:spcPts val="750"/>
              </a:lnSpc>
              <a:spcBef>
                <a:spcPts val="7"/>
              </a:spcBef>
            </a:pPr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King Suite, 485 ft</a:t>
            </a:r>
            <a:r>
              <a:rPr sz="614" baseline="27777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sz="614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7329880" y="2969091"/>
            <a:ext cx="646401" cy="193409"/>
          </a:xfrm>
          <a:prstGeom prst="rect">
            <a:avLst/>
          </a:prstGeom>
        </p:spPr>
        <p:txBody>
          <a:bodyPr vert="horz" wrap="square" lIns="0" tIns="8659" rIns="0" bIns="0" rtlCol="0">
            <a:spAutoFit/>
          </a:bodyPr>
          <a:lstStyle/>
          <a:p>
            <a:pPr marL="8659">
              <a:spcBef>
                <a:spcPts val="68"/>
              </a:spcBef>
            </a:pPr>
            <a:r>
              <a:rPr sz="1200" spc="-139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FLOOR</a:t>
            </a:r>
            <a:r>
              <a:rPr sz="1200" spc="-181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99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4091421" y="3674485"/>
            <a:ext cx="3151909" cy="138545"/>
          </a:xfrm>
          <a:custGeom>
            <a:avLst/>
            <a:gdLst/>
            <a:ahLst/>
            <a:cxnLst/>
            <a:rect l="l" t="t" r="r" b="b"/>
            <a:pathLst>
              <a:path w="4622800" h="203200">
                <a:moveTo>
                  <a:pt x="0" y="203200"/>
                </a:moveTo>
                <a:lnTo>
                  <a:pt x="4622800" y="203200"/>
                </a:lnTo>
                <a:lnTo>
                  <a:pt x="4622800" y="0"/>
                </a:lnTo>
                <a:lnTo>
                  <a:pt x="0" y="0"/>
                </a:lnTo>
                <a:lnTo>
                  <a:pt x="0" y="203200"/>
                </a:lnTo>
                <a:close/>
              </a:path>
            </a:pathLst>
          </a:custGeom>
          <a:solidFill>
            <a:srgbClr val="6E747B"/>
          </a:solidFill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4091421" y="3674485"/>
            <a:ext cx="3151909" cy="138545"/>
          </a:xfrm>
          <a:custGeom>
            <a:avLst/>
            <a:gdLst/>
            <a:ahLst/>
            <a:cxnLst/>
            <a:rect l="l" t="t" r="r" b="b"/>
            <a:pathLst>
              <a:path w="4622800" h="203200">
                <a:moveTo>
                  <a:pt x="0" y="203200"/>
                </a:moveTo>
                <a:lnTo>
                  <a:pt x="4622800" y="203200"/>
                </a:lnTo>
                <a:lnTo>
                  <a:pt x="4622800" y="0"/>
                </a:lnTo>
                <a:lnTo>
                  <a:pt x="0" y="0"/>
                </a:lnTo>
                <a:lnTo>
                  <a:pt x="0" y="203200"/>
                </a:lnTo>
                <a:close/>
              </a:path>
            </a:pathLst>
          </a:custGeom>
          <a:ln w="12700">
            <a:solidFill>
              <a:srgbClr val="6E747B"/>
            </a:solidFill>
          </a:ln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4061113" y="4551651"/>
            <a:ext cx="3870614" cy="1229591"/>
          </a:xfrm>
          <a:custGeom>
            <a:avLst/>
            <a:gdLst/>
            <a:ahLst/>
            <a:cxnLst/>
            <a:rect l="l" t="t" r="r" b="b"/>
            <a:pathLst>
              <a:path w="5676900" h="1803400">
                <a:moveTo>
                  <a:pt x="0" y="0"/>
                </a:moveTo>
                <a:lnTo>
                  <a:pt x="5676900" y="0"/>
                </a:lnTo>
                <a:lnTo>
                  <a:pt x="5676900" y="1803400"/>
                </a:lnTo>
                <a:lnTo>
                  <a:pt x="0" y="18034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E747B"/>
            </a:solidFill>
          </a:ln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4061114" y="5097174"/>
            <a:ext cx="3039341" cy="129886"/>
          </a:xfrm>
          <a:custGeom>
            <a:avLst/>
            <a:gdLst/>
            <a:ahLst/>
            <a:cxnLst/>
            <a:rect l="l" t="t" r="r" b="b"/>
            <a:pathLst>
              <a:path w="4457700" h="190500">
                <a:moveTo>
                  <a:pt x="0" y="190500"/>
                </a:moveTo>
                <a:lnTo>
                  <a:pt x="4457700" y="190500"/>
                </a:lnTo>
                <a:lnTo>
                  <a:pt x="4457700" y="0"/>
                </a:lnTo>
                <a:lnTo>
                  <a:pt x="0" y="0"/>
                </a:lnTo>
                <a:lnTo>
                  <a:pt x="0" y="190500"/>
                </a:lnTo>
                <a:close/>
              </a:path>
            </a:pathLst>
          </a:custGeom>
          <a:solidFill>
            <a:srgbClr val="6E747B"/>
          </a:solidFill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4061114" y="5097174"/>
            <a:ext cx="3143250" cy="129886"/>
          </a:xfrm>
          <a:custGeom>
            <a:avLst/>
            <a:gdLst/>
            <a:ahLst/>
            <a:cxnLst/>
            <a:rect l="l" t="t" r="r" b="b"/>
            <a:pathLst>
              <a:path w="4610100" h="190500">
                <a:moveTo>
                  <a:pt x="0" y="190500"/>
                </a:moveTo>
                <a:lnTo>
                  <a:pt x="4610100" y="190500"/>
                </a:lnTo>
                <a:lnTo>
                  <a:pt x="4610100" y="0"/>
                </a:lnTo>
                <a:lnTo>
                  <a:pt x="0" y="0"/>
                </a:lnTo>
                <a:lnTo>
                  <a:pt x="0" y="190500"/>
                </a:lnTo>
                <a:close/>
              </a:path>
            </a:pathLst>
          </a:custGeom>
          <a:ln w="12700">
            <a:solidFill>
              <a:srgbClr val="6E747B"/>
            </a:solidFill>
          </a:ln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7100454" y="5097174"/>
            <a:ext cx="147205" cy="684068"/>
          </a:xfrm>
          <a:custGeom>
            <a:avLst/>
            <a:gdLst/>
            <a:ahLst/>
            <a:cxnLst/>
            <a:rect l="l" t="t" r="r" b="b"/>
            <a:pathLst>
              <a:path w="215900" h="1003300">
                <a:moveTo>
                  <a:pt x="0" y="1003300"/>
                </a:moveTo>
                <a:lnTo>
                  <a:pt x="215900" y="1003300"/>
                </a:lnTo>
                <a:lnTo>
                  <a:pt x="215900" y="0"/>
                </a:lnTo>
                <a:lnTo>
                  <a:pt x="0" y="0"/>
                </a:lnTo>
                <a:lnTo>
                  <a:pt x="0" y="1003300"/>
                </a:lnTo>
                <a:close/>
              </a:path>
            </a:pathLst>
          </a:custGeom>
          <a:solidFill>
            <a:srgbClr val="6E747B"/>
          </a:solidFill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7100454" y="5097174"/>
            <a:ext cx="147205" cy="684068"/>
          </a:xfrm>
          <a:custGeom>
            <a:avLst/>
            <a:gdLst/>
            <a:ahLst/>
            <a:cxnLst/>
            <a:rect l="l" t="t" r="r" b="b"/>
            <a:pathLst>
              <a:path w="215900" h="1003300">
                <a:moveTo>
                  <a:pt x="0" y="0"/>
                </a:moveTo>
                <a:lnTo>
                  <a:pt x="215900" y="0"/>
                </a:lnTo>
                <a:lnTo>
                  <a:pt x="215900" y="1003300"/>
                </a:lnTo>
                <a:lnTo>
                  <a:pt x="0" y="1003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E747B"/>
            </a:solidFill>
          </a:ln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6312477" y="4551651"/>
            <a:ext cx="787977" cy="562841"/>
          </a:xfrm>
          <a:custGeom>
            <a:avLst/>
            <a:gdLst/>
            <a:ahLst/>
            <a:cxnLst/>
            <a:rect l="l" t="t" r="r" b="b"/>
            <a:pathLst>
              <a:path w="1155700" h="825500">
                <a:moveTo>
                  <a:pt x="0" y="0"/>
                </a:moveTo>
                <a:lnTo>
                  <a:pt x="1155700" y="0"/>
                </a:lnTo>
                <a:lnTo>
                  <a:pt x="1155700" y="825500"/>
                </a:lnTo>
                <a:lnTo>
                  <a:pt x="0" y="8255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E747B"/>
            </a:solidFill>
          </a:ln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7100454" y="4551651"/>
            <a:ext cx="831273" cy="554182"/>
          </a:xfrm>
          <a:custGeom>
            <a:avLst/>
            <a:gdLst/>
            <a:ahLst/>
            <a:cxnLst/>
            <a:rect l="l" t="t" r="r" b="b"/>
            <a:pathLst>
              <a:path w="1219200" h="812800">
                <a:moveTo>
                  <a:pt x="0" y="0"/>
                </a:moveTo>
                <a:lnTo>
                  <a:pt x="1219200" y="0"/>
                </a:lnTo>
                <a:lnTo>
                  <a:pt x="12192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E747B"/>
            </a:solidFill>
          </a:ln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6859775" y="4929356"/>
            <a:ext cx="327271" cy="167818"/>
          </a:xfrm>
          <a:custGeom>
            <a:avLst/>
            <a:gdLst/>
            <a:ahLst/>
            <a:cxnLst/>
            <a:rect l="l" t="t" r="r" b="b"/>
            <a:pathLst>
              <a:path w="406400" h="279400">
                <a:moveTo>
                  <a:pt x="0" y="279400"/>
                </a:moveTo>
                <a:lnTo>
                  <a:pt x="406400" y="279400"/>
                </a:lnTo>
                <a:lnTo>
                  <a:pt x="406400" y="0"/>
                </a:lnTo>
                <a:lnTo>
                  <a:pt x="0" y="0"/>
                </a:lnTo>
                <a:lnTo>
                  <a:pt x="0" y="2794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11689"/>
            <a:r>
              <a:rPr lang="en-US"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Elevator</a:t>
            </a:r>
            <a:endParaRPr sz="614" dirty="0">
              <a:solidFill>
                <a:srgbClr val="6E747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6815571" y="4890278"/>
            <a:ext cx="426520" cy="188573"/>
          </a:xfrm>
          <a:custGeom>
            <a:avLst/>
            <a:gdLst/>
            <a:ahLst/>
            <a:cxnLst/>
            <a:rect l="l" t="t" r="r" b="b"/>
            <a:pathLst>
              <a:path w="406400" h="279400">
                <a:moveTo>
                  <a:pt x="0" y="0"/>
                </a:moveTo>
                <a:lnTo>
                  <a:pt x="406400" y="0"/>
                </a:lnTo>
                <a:lnTo>
                  <a:pt x="406400" y="279400"/>
                </a:lnTo>
                <a:lnTo>
                  <a:pt x="0" y="2794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E747B"/>
            </a:solidFill>
          </a:ln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7142052" y="4561835"/>
            <a:ext cx="460630" cy="103257"/>
          </a:xfrm>
          <a:prstGeom prst="rect">
            <a:avLst/>
          </a:prstGeom>
        </p:spPr>
        <p:txBody>
          <a:bodyPr vert="horz" wrap="square" lIns="0" tIns="8659" rIns="0" bIns="0" rtlCol="0">
            <a:spAutoFit/>
          </a:bodyPr>
          <a:lstStyle/>
          <a:p>
            <a:pPr marL="8659">
              <a:spcBef>
                <a:spcPts val="68"/>
              </a:spcBef>
            </a:pPr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Suite 301</a:t>
            </a:r>
            <a:endParaRPr sz="614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7142053" y="4674402"/>
            <a:ext cx="636876" cy="103368"/>
          </a:xfrm>
          <a:prstGeom prst="rect">
            <a:avLst/>
          </a:prstGeom>
        </p:spPr>
        <p:txBody>
          <a:bodyPr vert="horz" wrap="square" lIns="0" tIns="6927" rIns="0" bIns="0" rtlCol="0">
            <a:spAutoFit/>
          </a:bodyPr>
          <a:lstStyle/>
          <a:p>
            <a:pPr marL="8659" marR="3464">
              <a:lnSpc>
                <a:spcPct val="101899"/>
              </a:lnSpc>
              <a:spcBef>
                <a:spcPts val="55"/>
              </a:spcBef>
            </a:pPr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King Suite, 475 ft</a:t>
            </a:r>
            <a:r>
              <a:rPr sz="614" baseline="27777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sz="614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6326107" y="4560076"/>
            <a:ext cx="645535" cy="213928"/>
          </a:xfrm>
          <a:prstGeom prst="rect">
            <a:avLst/>
          </a:prstGeom>
        </p:spPr>
        <p:txBody>
          <a:bodyPr vert="horz" wrap="square" lIns="0" tIns="8659" rIns="0" bIns="0" rtlCol="0">
            <a:spAutoFit/>
          </a:bodyPr>
          <a:lstStyle/>
          <a:p>
            <a:pPr marL="8659">
              <a:lnSpc>
                <a:spcPts val="893"/>
              </a:lnSpc>
              <a:spcBef>
                <a:spcPts val="68"/>
              </a:spcBef>
            </a:pPr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Suite 303</a:t>
            </a:r>
            <a:endParaRPr sz="614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659">
              <a:lnSpc>
                <a:spcPts val="730"/>
              </a:lnSpc>
            </a:pPr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King Suite, 405 ft</a:t>
            </a:r>
            <a:r>
              <a:rPr sz="614" baseline="27777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sz="614" baseline="2777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6326107" y="4767894"/>
            <a:ext cx="360651" cy="199740"/>
          </a:xfrm>
          <a:prstGeom prst="rect">
            <a:avLst/>
          </a:prstGeom>
        </p:spPr>
        <p:txBody>
          <a:bodyPr vert="horz" wrap="square" lIns="0" tIns="6927" rIns="0" bIns="0" rtlCol="0">
            <a:spAutoFit/>
          </a:bodyPr>
          <a:lstStyle/>
          <a:p>
            <a:pPr marL="8659" marR="3464">
              <a:lnSpc>
                <a:spcPct val="101800"/>
              </a:lnSpc>
              <a:spcBef>
                <a:spcPts val="55"/>
              </a:spcBef>
            </a:pPr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Pool View  Balcony</a:t>
            </a:r>
            <a:endParaRPr sz="614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7247659" y="5097174"/>
            <a:ext cx="678500" cy="252785"/>
          </a:xfrm>
          <a:prstGeom prst="rect">
            <a:avLst/>
          </a:prstGeom>
          <a:ln w="12700">
            <a:solidFill>
              <a:srgbClr val="6E747B"/>
            </a:solidFill>
          </a:ln>
        </p:spPr>
        <p:txBody>
          <a:bodyPr vert="horz" wrap="square" lIns="0" tIns="46759" rIns="0" bIns="0" rtlCol="0">
            <a:spAutoFit/>
          </a:bodyPr>
          <a:lstStyle/>
          <a:p>
            <a:pPr marL="8659" marR="3464">
              <a:lnSpc>
                <a:spcPct val="101899"/>
              </a:lnSpc>
              <a:spcBef>
                <a:spcPts val="55"/>
              </a:spcBef>
            </a:pPr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Suite302  </a:t>
            </a:r>
            <a:endParaRPr lang="en-US" sz="614" dirty="0">
              <a:solidFill>
                <a:srgbClr val="6E747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659" marR="3464">
              <a:lnSpc>
                <a:spcPct val="101899"/>
              </a:lnSpc>
              <a:spcBef>
                <a:spcPts val="55"/>
              </a:spcBef>
            </a:pPr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King Suite</a:t>
            </a:r>
            <a:r>
              <a:rPr lang="en-US"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400</a:t>
            </a:r>
            <a:r>
              <a:rPr lang="en-US"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ft2</a:t>
            </a:r>
          </a:p>
        </p:txBody>
      </p:sp>
      <p:sp>
        <p:nvSpPr>
          <p:cNvPr id="69" name="object 69"/>
          <p:cNvSpPr txBox="1"/>
          <p:nvPr/>
        </p:nvSpPr>
        <p:spPr>
          <a:xfrm>
            <a:off x="5546148" y="4551651"/>
            <a:ext cx="766330" cy="522719"/>
          </a:xfrm>
          <a:prstGeom prst="rect">
            <a:avLst/>
          </a:prstGeom>
          <a:ln w="12700">
            <a:solidFill>
              <a:srgbClr val="6E747B"/>
            </a:solidFill>
          </a:ln>
        </p:spPr>
        <p:txBody>
          <a:bodyPr vert="horz" wrap="square" lIns="0" tIns="28142" rIns="0" bIns="0" rtlCol="0">
            <a:spAutoFit/>
          </a:bodyPr>
          <a:lstStyle/>
          <a:p>
            <a:pPr marL="43727">
              <a:lnSpc>
                <a:spcPts val="893"/>
              </a:lnSpc>
              <a:spcBef>
                <a:spcPts val="222"/>
              </a:spcBef>
            </a:pPr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Suite 305</a:t>
            </a:r>
            <a:endParaRPr sz="614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3727">
              <a:lnSpc>
                <a:spcPts val="730"/>
              </a:lnSpc>
            </a:pPr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King Suite, 470 ft</a:t>
            </a:r>
            <a:r>
              <a:rPr sz="614" baseline="27777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sz="614" baseline="27777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3727" marR="203916" indent="-64509">
              <a:lnSpc>
                <a:spcPct val="101800"/>
              </a:lnSpc>
            </a:pPr>
            <a:r>
              <a:rPr sz="614" baseline="23148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Twin Balconies  Pool View</a:t>
            </a:r>
            <a:endParaRPr sz="614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4788478" y="4551651"/>
            <a:ext cx="757670" cy="516459"/>
          </a:xfrm>
          <a:prstGeom prst="rect">
            <a:avLst/>
          </a:prstGeom>
          <a:ln w="12700">
            <a:solidFill>
              <a:srgbClr val="6E747B"/>
            </a:solidFill>
          </a:ln>
        </p:spPr>
        <p:txBody>
          <a:bodyPr vert="horz" wrap="square" lIns="0" tIns="41564" rIns="0" bIns="0" rtlCol="0">
            <a:spAutoFit/>
          </a:bodyPr>
          <a:lstStyle/>
          <a:p>
            <a:pPr marL="18617">
              <a:lnSpc>
                <a:spcPts val="893"/>
              </a:lnSpc>
              <a:spcBef>
                <a:spcPts val="327"/>
              </a:spcBef>
            </a:pPr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Suite 307</a:t>
            </a:r>
            <a:endParaRPr sz="614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617">
              <a:lnSpc>
                <a:spcPts val="702"/>
              </a:lnSpc>
            </a:pPr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Double Suite</a:t>
            </a:r>
            <a:endParaRPr sz="614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617" marR="9092">
              <a:lnSpc>
                <a:spcPts val="682"/>
              </a:lnSpc>
              <a:spcBef>
                <a:spcPts val="41"/>
              </a:spcBef>
            </a:pPr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Double Beds, 455 ft  Balcony</a:t>
            </a:r>
            <a:endParaRPr sz="614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617">
              <a:lnSpc>
                <a:spcPts val="668"/>
              </a:lnSpc>
            </a:pPr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Partial Pool View</a:t>
            </a:r>
            <a:endParaRPr sz="614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4061113" y="4551652"/>
            <a:ext cx="727364" cy="407647"/>
          </a:xfrm>
          <a:prstGeom prst="rect">
            <a:avLst/>
          </a:prstGeom>
          <a:ln w="12700">
            <a:solidFill>
              <a:srgbClr val="6E747B"/>
            </a:solidFill>
          </a:ln>
        </p:spPr>
        <p:txBody>
          <a:bodyPr vert="horz" wrap="square" lIns="0" tIns="41564" rIns="0" bIns="0" rtlCol="0">
            <a:spAutoFit/>
          </a:bodyPr>
          <a:lstStyle/>
          <a:p>
            <a:pPr marL="24245">
              <a:lnSpc>
                <a:spcPts val="893"/>
              </a:lnSpc>
              <a:spcBef>
                <a:spcPts val="327"/>
              </a:spcBef>
            </a:pPr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Suite 309</a:t>
            </a:r>
            <a:endParaRPr sz="614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4245">
              <a:lnSpc>
                <a:spcPts val="648"/>
              </a:lnSpc>
            </a:pPr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Accessible King Suite</a:t>
            </a:r>
            <a:endParaRPr sz="614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4245" marR="112998">
              <a:lnSpc>
                <a:spcPct val="101899"/>
              </a:lnSpc>
              <a:spcBef>
                <a:spcPts val="14"/>
              </a:spcBef>
            </a:pPr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King Bed, 485 ft</a:t>
            </a:r>
            <a:r>
              <a:rPr sz="614" baseline="27777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sz="614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5541818" y="5235719"/>
            <a:ext cx="770659" cy="545523"/>
          </a:xfrm>
          <a:custGeom>
            <a:avLst/>
            <a:gdLst/>
            <a:ahLst/>
            <a:cxnLst/>
            <a:rect l="l" t="t" r="r" b="b"/>
            <a:pathLst>
              <a:path w="1130300" h="800100">
                <a:moveTo>
                  <a:pt x="0" y="0"/>
                </a:moveTo>
                <a:lnTo>
                  <a:pt x="1130300" y="0"/>
                </a:lnTo>
                <a:lnTo>
                  <a:pt x="113030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E747B"/>
            </a:solidFill>
          </a:ln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6312477" y="5227060"/>
            <a:ext cx="779318" cy="554182"/>
          </a:xfrm>
          <a:custGeom>
            <a:avLst/>
            <a:gdLst/>
            <a:ahLst/>
            <a:cxnLst/>
            <a:rect l="l" t="t" r="r" b="b"/>
            <a:pathLst>
              <a:path w="1143000" h="812800">
                <a:moveTo>
                  <a:pt x="0" y="0"/>
                </a:moveTo>
                <a:lnTo>
                  <a:pt x="1143000" y="0"/>
                </a:lnTo>
                <a:lnTo>
                  <a:pt x="11430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E747B"/>
            </a:solidFill>
          </a:ln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6321136" y="5245244"/>
            <a:ext cx="770659" cy="419112"/>
          </a:xfrm>
          <a:prstGeom prst="rect">
            <a:avLst/>
          </a:prstGeom>
        </p:spPr>
        <p:txBody>
          <a:bodyPr vert="horz" wrap="square" lIns="0" tIns="8659" rIns="0" bIns="0" rtlCol="0">
            <a:spAutoFit/>
          </a:bodyPr>
          <a:lstStyle/>
          <a:p>
            <a:pPr marL="11689">
              <a:lnSpc>
                <a:spcPts val="893"/>
              </a:lnSpc>
              <a:spcBef>
                <a:spcPts val="68"/>
              </a:spcBef>
            </a:pPr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Suite 304</a:t>
            </a:r>
            <a:endParaRPr sz="614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689" marR="134212">
              <a:lnSpc>
                <a:spcPts val="750"/>
              </a:lnSpc>
              <a:spcBef>
                <a:spcPts val="7"/>
              </a:spcBef>
            </a:pPr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King Suite, 495 ft</a:t>
            </a:r>
            <a:r>
              <a:rPr sz="614" baseline="27777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 </a:t>
            </a:r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Sofa Bed</a:t>
            </a:r>
            <a:endParaRPr sz="614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689">
              <a:lnSpc>
                <a:spcPts val="723"/>
              </a:lnSpc>
            </a:pPr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Balcony</a:t>
            </a:r>
            <a:endParaRPr sz="614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5550478" y="5256519"/>
            <a:ext cx="757670" cy="431936"/>
          </a:xfrm>
          <a:prstGeom prst="rect">
            <a:avLst/>
          </a:prstGeom>
        </p:spPr>
        <p:txBody>
          <a:bodyPr vert="horz" wrap="square" lIns="0" tIns="8659" rIns="0" bIns="0" rtlCol="0">
            <a:spAutoFit/>
          </a:bodyPr>
          <a:lstStyle/>
          <a:p>
            <a:pPr marL="33337">
              <a:lnSpc>
                <a:spcPts val="893"/>
              </a:lnSpc>
              <a:spcBef>
                <a:spcPts val="68"/>
              </a:spcBef>
            </a:pPr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Suite 306</a:t>
            </a:r>
            <a:endParaRPr sz="614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3337" marR="99144">
              <a:lnSpc>
                <a:spcPts val="750"/>
              </a:lnSpc>
              <a:spcBef>
                <a:spcPts val="7"/>
              </a:spcBef>
            </a:pPr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King Suite, 470 ft</a:t>
            </a:r>
            <a:r>
              <a:rPr sz="614" baseline="27777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 </a:t>
            </a:r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Twin Balconies  Pool View</a:t>
            </a:r>
            <a:endParaRPr sz="614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4788477" y="5235719"/>
            <a:ext cx="753341" cy="545523"/>
          </a:xfrm>
          <a:custGeom>
            <a:avLst/>
            <a:gdLst/>
            <a:ahLst/>
            <a:cxnLst/>
            <a:rect l="l" t="t" r="r" b="b"/>
            <a:pathLst>
              <a:path w="1104900" h="800100">
                <a:moveTo>
                  <a:pt x="0" y="0"/>
                </a:moveTo>
                <a:lnTo>
                  <a:pt x="1104900" y="0"/>
                </a:lnTo>
                <a:lnTo>
                  <a:pt x="110490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E747B"/>
            </a:solidFill>
          </a:ln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4792807" y="5270157"/>
            <a:ext cx="749011" cy="213928"/>
          </a:xfrm>
          <a:prstGeom prst="rect">
            <a:avLst/>
          </a:prstGeom>
        </p:spPr>
        <p:txBody>
          <a:bodyPr vert="horz" wrap="square" lIns="0" tIns="8659" rIns="0" bIns="0" rtlCol="0">
            <a:spAutoFit/>
          </a:bodyPr>
          <a:lstStyle/>
          <a:p>
            <a:pPr marL="7793">
              <a:lnSpc>
                <a:spcPts val="893"/>
              </a:lnSpc>
              <a:spcBef>
                <a:spcPts val="68"/>
              </a:spcBef>
            </a:pPr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Suite 308</a:t>
            </a:r>
            <a:endParaRPr sz="614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793">
              <a:lnSpc>
                <a:spcPts val="730"/>
              </a:lnSpc>
            </a:pPr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King Suite, 455 ft</a:t>
            </a:r>
            <a:r>
              <a:rPr sz="614" baseline="27777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sz="614" baseline="2777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4061113" y="5231390"/>
            <a:ext cx="727364" cy="252837"/>
          </a:xfrm>
          <a:prstGeom prst="rect">
            <a:avLst/>
          </a:prstGeom>
          <a:ln w="12700">
            <a:solidFill>
              <a:srgbClr val="6E747B"/>
            </a:solidFill>
          </a:ln>
        </p:spPr>
        <p:txBody>
          <a:bodyPr vert="horz" wrap="square" lIns="0" tIns="47192" rIns="0" bIns="0" rtlCol="0">
            <a:spAutoFit/>
          </a:bodyPr>
          <a:lstStyle/>
          <a:p>
            <a:pPr marL="17750">
              <a:lnSpc>
                <a:spcPts val="893"/>
              </a:lnSpc>
              <a:spcBef>
                <a:spcPts val="372"/>
              </a:spcBef>
            </a:pPr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Suite 310</a:t>
            </a:r>
            <a:endParaRPr sz="614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750">
              <a:lnSpc>
                <a:spcPts val="730"/>
              </a:lnSpc>
            </a:pPr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King Suite, 485 ft</a:t>
            </a:r>
            <a:r>
              <a:rPr sz="614" baseline="27777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sz="614" baseline="2777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7266306" y="4410144"/>
            <a:ext cx="641206" cy="193409"/>
          </a:xfrm>
          <a:prstGeom prst="rect">
            <a:avLst/>
          </a:prstGeom>
        </p:spPr>
        <p:txBody>
          <a:bodyPr vert="horz" wrap="square" lIns="0" tIns="8659" rIns="0" bIns="0" rtlCol="0">
            <a:spAutoFit/>
          </a:bodyPr>
          <a:lstStyle/>
          <a:p>
            <a:pPr marL="8659">
              <a:spcBef>
                <a:spcPts val="68"/>
              </a:spcBef>
            </a:pPr>
            <a:r>
              <a:rPr sz="1200" spc="-139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FLOOR</a:t>
            </a:r>
            <a:r>
              <a:rPr sz="1200" spc="-181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36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5009284" y="2387761"/>
            <a:ext cx="514885" cy="1868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66673">
              <a:spcBef>
                <a:spcPts val="494"/>
              </a:spcBef>
            </a:pPr>
            <a:r>
              <a:rPr lang="en-US"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Kitchen</a:t>
            </a:r>
            <a:endParaRPr lang="en-US" sz="614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object 36"/>
          <p:cNvSpPr/>
          <p:nvPr/>
        </p:nvSpPr>
        <p:spPr>
          <a:xfrm>
            <a:off x="6909955" y="2063193"/>
            <a:ext cx="285750" cy="181841"/>
          </a:xfrm>
          <a:custGeom>
            <a:avLst/>
            <a:gdLst/>
            <a:ahLst/>
            <a:cxnLst/>
            <a:rect l="l" t="t" r="r" b="b"/>
            <a:pathLst>
              <a:path w="419100" h="266700">
                <a:moveTo>
                  <a:pt x="0" y="0"/>
                </a:moveTo>
                <a:lnTo>
                  <a:pt x="419100" y="0"/>
                </a:lnTo>
                <a:lnTo>
                  <a:pt x="419100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E747B"/>
            </a:solidFill>
          </a:ln>
        </p:spPr>
        <p:txBody>
          <a:bodyPr wrap="square" lIns="0" tIns="0" rIns="0" bIns="0" rtlCol="0"/>
          <a:lstStyle/>
          <a:p>
            <a:r>
              <a:rPr lang="en-US"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Elevator</a:t>
            </a:r>
          </a:p>
          <a:p>
            <a:endParaRPr sz="614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object 50"/>
          <p:cNvSpPr txBox="1"/>
          <p:nvPr/>
        </p:nvSpPr>
        <p:spPr>
          <a:xfrm>
            <a:off x="7277006" y="1505138"/>
            <a:ext cx="646401" cy="193409"/>
          </a:xfrm>
          <a:prstGeom prst="rect">
            <a:avLst/>
          </a:prstGeom>
        </p:spPr>
        <p:txBody>
          <a:bodyPr vert="horz" wrap="square" lIns="0" tIns="8659" rIns="0" bIns="0" rtlCol="0">
            <a:spAutoFit/>
          </a:bodyPr>
          <a:lstStyle/>
          <a:p>
            <a:pPr marL="8659">
              <a:spcBef>
                <a:spcPts val="68"/>
              </a:spcBef>
            </a:pPr>
            <a:r>
              <a:rPr sz="1200" spc="-139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FLOOR</a:t>
            </a:r>
            <a:r>
              <a:rPr sz="1200" spc="-181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spc="-99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4772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09542" y="122527"/>
            <a:ext cx="1652155" cy="363340"/>
          </a:xfrm>
          <a:prstGeom prst="rect">
            <a:avLst/>
          </a:prstGeom>
        </p:spPr>
        <p:txBody>
          <a:bodyPr vert="horz" wrap="square" lIns="0" tIns="27276" rIns="0" bIns="0" rtlCol="0">
            <a:spAutoFit/>
          </a:bodyPr>
          <a:lstStyle/>
          <a:p>
            <a:pPr marL="25977">
              <a:spcBef>
                <a:spcPts val="215"/>
              </a:spcBef>
            </a:pPr>
            <a:r>
              <a:rPr sz="818" dirty="0">
                <a:solidFill>
                  <a:srgbClr val="C34B5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OUR PROPERTY</a:t>
            </a:r>
          </a:p>
          <a:p>
            <a:pPr marL="8659"/>
            <a:r>
              <a:rPr sz="1364" i="1" dirty="0">
                <a:solidFill>
                  <a:srgbClr val="71747B"/>
                </a:solidFill>
                <a:latin typeface="Arial"/>
                <a:cs typeface="Arial"/>
              </a:rPr>
              <a:t>SITE PLAN - </a:t>
            </a:r>
            <a:r>
              <a:rPr lang="en-US" sz="1364" i="1" dirty="0">
                <a:solidFill>
                  <a:srgbClr val="71747B"/>
                </a:solidFill>
                <a:latin typeface="Arial"/>
                <a:cs typeface="Arial"/>
              </a:rPr>
              <a:t>LOFTS</a:t>
            </a:r>
          </a:p>
        </p:txBody>
      </p:sp>
      <p:sp>
        <p:nvSpPr>
          <p:cNvPr id="3" name="object 3"/>
          <p:cNvSpPr/>
          <p:nvPr/>
        </p:nvSpPr>
        <p:spPr>
          <a:xfrm>
            <a:off x="3933392" y="1256434"/>
            <a:ext cx="4208318" cy="753341"/>
          </a:xfrm>
          <a:custGeom>
            <a:avLst/>
            <a:gdLst/>
            <a:ahLst/>
            <a:cxnLst/>
            <a:rect l="l" t="t" r="r" b="b"/>
            <a:pathLst>
              <a:path w="6172200" h="1104900">
                <a:moveTo>
                  <a:pt x="0" y="0"/>
                </a:moveTo>
                <a:lnTo>
                  <a:pt x="6172200" y="0"/>
                </a:lnTo>
                <a:lnTo>
                  <a:pt x="6172200" y="1104900"/>
                </a:lnTo>
                <a:lnTo>
                  <a:pt x="0" y="11049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E747B"/>
            </a:solidFill>
          </a:ln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323301" y="1221798"/>
            <a:ext cx="762000" cy="787977"/>
          </a:xfrm>
          <a:custGeom>
            <a:avLst/>
            <a:gdLst/>
            <a:ahLst/>
            <a:cxnLst/>
            <a:rect l="l" t="t" r="r" b="b"/>
            <a:pathLst>
              <a:path w="1117600" h="1155700">
                <a:moveTo>
                  <a:pt x="0" y="0"/>
                </a:moveTo>
                <a:lnTo>
                  <a:pt x="1117600" y="0"/>
                </a:lnTo>
                <a:lnTo>
                  <a:pt x="1117600" y="1155700"/>
                </a:lnTo>
                <a:lnTo>
                  <a:pt x="0" y="11557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E747B"/>
            </a:solidFill>
          </a:ln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154574" y="1256434"/>
            <a:ext cx="987136" cy="781425"/>
          </a:xfrm>
          <a:custGeom>
            <a:avLst/>
            <a:gdLst/>
            <a:ahLst/>
            <a:cxnLst/>
            <a:rect l="l" t="t" r="r" b="b"/>
            <a:pathLst>
              <a:path w="1447800" h="1104900">
                <a:moveTo>
                  <a:pt x="0" y="0"/>
                </a:moveTo>
                <a:lnTo>
                  <a:pt x="1447800" y="0"/>
                </a:lnTo>
                <a:lnTo>
                  <a:pt x="1447800" y="1104900"/>
                </a:lnTo>
                <a:lnTo>
                  <a:pt x="0" y="11049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E747B"/>
            </a:solidFill>
          </a:ln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58904" y="1236422"/>
            <a:ext cx="978477" cy="764848"/>
          </a:xfrm>
          <a:prstGeom prst="rect">
            <a:avLst/>
          </a:prstGeom>
        </p:spPr>
        <p:txBody>
          <a:bodyPr vert="horz" wrap="square" lIns="0" tIns="8659" rIns="0" bIns="0" rtlCol="0">
            <a:spAutoFit/>
          </a:bodyPr>
          <a:lstStyle/>
          <a:p>
            <a:pPr marL="27708"/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Loft 117</a:t>
            </a:r>
            <a:endParaRPr sz="614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708" marR="52819"/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Two Level Loft, 710 ft</a:t>
            </a:r>
            <a:r>
              <a:rPr sz="614" baseline="27777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 </a:t>
            </a:r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Terrace w/ Jacuzzi  Balcony on 2</a:t>
            </a:r>
            <a:r>
              <a:rPr sz="614" baseline="27777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nd </a:t>
            </a:r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Floor</a:t>
            </a:r>
            <a:endParaRPr sz="614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708" marR="155427"/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1and ½ Bathrooms  King Bed and Sofa Bed</a:t>
            </a:r>
            <a:endParaRPr sz="614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27631" y="1257897"/>
            <a:ext cx="744682" cy="670335"/>
          </a:xfrm>
          <a:prstGeom prst="rect">
            <a:avLst/>
          </a:prstGeom>
        </p:spPr>
        <p:txBody>
          <a:bodyPr vert="horz" wrap="square" lIns="0" tIns="8659" rIns="0" bIns="0" rtlCol="0">
            <a:spAutoFit/>
          </a:bodyPr>
          <a:lstStyle/>
          <a:p>
            <a:pPr marL="29440"/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Loft 116</a:t>
            </a:r>
            <a:endParaRPr sz="614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9440" marR="189196"/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Two Level Loft  Private Terrace  1and ½ Baths</a:t>
            </a:r>
            <a:endParaRPr sz="614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9440" marR="55850"/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Two Floors, 540 ft</a:t>
            </a:r>
            <a:r>
              <a:rPr sz="614" baseline="27777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 </a:t>
            </a:r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King Bed</a:t>
            </a:r>
            <a:endParaRPr sz="614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444278" y="1827934"/>
            <a:ext cx="285750" cy="181841"/>
          </a:xfrm>
          <a:custGeom>
            <a:avLst/>
            <a:gdLst/>
            <a:ahLst/>
            <a:cxnLst/>
            <a:rect l="l" t="t" r="r" b="b"/>
            <a:pathLst>
              <a:path w="419100" h="266700">
                <a:moveTo>
                  <a:pt x="0" y="0"/>
                </a:moveTo>
                <a:lnTo>
                  <a:pt x="419100" y="0"/>
                </a:lnTo>
                <a:lnTo>
                  <a:pt x="419100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E747B"/>
            </a:solidFill>
          </a:ln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44278" y="1827935"/>
            <a:ext cx="285750" cy="220941"/>
          </a:xfrm>
          <a:prstGeom prst="rect">
            <a:avLst/>
          </a:prstGeom>
          <a:ln w="12700">
            <a:solidFill>
              <a:srgbClr val="6E747B"/>
            </a:solidFill>
          </a:ln>
        </p:spPr>
        <p:txBody>
          <a:bodyPr vert="horz" wrap="square" lIns="0" tIns="31606" rIns="0" bIns="0" rtlCol="0">
            <a:spAutoFit/>
          </a:bodyPr>
          <a:lstStyle/>
          <a:p>
            <a:pPr marL="16452"/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Elevator</a:t>
            </a:r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271097" y="1152525"/>
            <a:ext cx="3420341" cy="95250"/>
          </a:xfrm>
          <a:custGeom>
            <a:avLst/>
            <a:gdLst/>
            <a:ahLst/>
            <a:cxnLst/>
            <a:rect l="l" t="t" r="r" b="b"/>
            <a:pathLst>
              <a:path w="5016500" h="139700">
                <a:moveTo>
                  <a:pt x="0" y="139700"/>
                </a:moveTo>
                <a:lnTo>
                  <a:pt x="5016500" y="139700"/>
                </a:lnTo>
                <a:lnTo>
                  <a:pt x="5016500" y="0"/>
                </a:lnTo>
                <a:lnTo>
                  <a:pt x="0" y="0"/>
                </a:lnTo>
                <a:lnTo>
                  <a:pt x="0" y="139700"/>
                </a:lnTo>
                <a:close/>
              </a:path>
            </a:pathLst>
          </a:custGeom>
          <a:solidFill>
            <a:srgbClr val="6E747B"/>
          </a:solidFill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271097" y="1152525"/>
            <a:ext cx="3420341" cy="95250"/>
          </a:xfrm>
          <a:custGeom>
            <a:avLst/>
            <a:gdLst/>
            <a:ahLst/>
            <a:cxnLst/>
            <a:rect l="l" t="t" r="r" b="b"/>
            <a:pathLst>
              <a:path w="5016500" h="139700">
                <a:moveTo>
                  <a:pt x="0" y="139700"/>
                </a:moveTo>
                <a:lnTo>
                  <a:pt x="5016500" y="139700"/>
                </a:lnTo>
                <a:lnTo>
                  <a:pt x="5016500" y="0"/>
                </a:lnTo>
                <a:lnTo>
                  <a:pt x="0" y="0"/>
                </a:lnTo>
                <a:lnTo>
                  <a:pt x="0" y="139700"/>
                </a:lnTo>
                <a:close/>
              </a:path>
            </a:pathLst>
          </a:custGeom>
          <a:ln w="12700">
            <a:solidFill>
              <a:srgbClr val="6E747B"/>
            </a:solidFill>
          </a:ln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323426" y="958622"/>
            <a:ext cx="824787" cy="193409"/>
          </a:xfrm>
          <a:prstGeom prst="rect">
            <a:avLst/>
          </a:prstGeom>
        </p:spPr>
        <p:txBody>
          <a:bodyPr vert="horz" wrap="square" lIns="0" tIns="8659" rIns="0" bIns="0" rtlCol="0">
            <a:spAutoFit/>
          </a:bodyPr>
          <a:lstStyle/>
          <a:p>
            <a:pPr marL="8659"/>
            <a:r>
              <a:rPr sz="1200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FLOOR 1</a:t>
            </a:r>
            <a:endParaRPr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067983" y="1256434"/>
            <a:ext cx="77932" cy="762000"/>
          </a:xfrm>
          <a:custGeom>
            <a:avLst/>
            <a:gdLst/>
            <a:ahLst/>
            <a:cxnLst/>
            <a:rect l="l" t="t" r="r" b="b"/>
            <a:pathLst>
              <a:path w="114300" h="1117600">
                <a:moveTo>
                  <a:pt x="0" y="1117600"/>
                </a:moveTo>
                <a:lnTo>
                  <a:pt x="114300" y="1117600"/>
                </a:lnTo>
                <a:lnTo>
                  <a:pt x="114300" y="0"/>
                </a:lnTo>
                <a:lnTo>
                  <a:pt x="0" y="0"/>
                </a:lnTo>
                <a:lnTo>
                  <a:pt x="0" y="1117600"/>
                </a:lnTo>
                <a:close/>
              </a:path>
            </a:pathLst>
          </a:custGeom>
          <a:solidFill>
            <a:srgbClr val="6E747B"/>
          </a:solidFill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067983" y="1256434"/>
            <a:ext cx="77932" cy="762000"/>
          </a:xfrm>
          <a:custGeom>
            <a:avLst/>
            <a:gdLst/>
            <a:ahLst/>
            <a:cxnLst/>
            <a:rect l="l" t="t" r="r" b="b"/>
            <a:pathLst>
              <a:path w="114300" h="1117600">
                <a:moveTo>
                  <a:pt x="0" y="0"/>
                </a:moveTo>
                <a:lnTo>
                  <a:pt x="114300" y="0"/>
                </a:lnTo>
                <a:lnTo>
                  <a:pt x="114300" y="1117600"/>
                </a:lnTo>
                <a:lnTo>
                  <a:pt x="0" y="11176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E747B"/>
            </a:solidFill>
          </a:ln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561301" y="1221798"/>
            <a:ext cx="762000" cy="787977"/>
          </a:xfrm>
          <a:custGeom>
            <a:avLst/>
            <a:gdLst/>
            <a:ahLst/>
            <a:cxnLst/>
            <a:rect l="l" t="t" r="r" b="b"/>
            <a:pathLst>
              <a:path w="1117600" h="1155700">
                <a:moveTo>
                  <a:pt x="0" y="0"/>
                </a:moveTo>
                <a:lnTo>
                  <a:pt x="1117600" y="0"/>
                </a:lnTo>
                <a:lnTo>
                  <a:pt x="1117600" y="1155700"/>
                </a:lnTo>
                <a:lnTo>
                  <a:pt x="0" y="11557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E747B"/>
            </a:solidFill>
          </a:ln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565631" y="1252745"/>
            <a:ext cx="753341" cy="670335"/>
          </a:xfrm>
          <a:prstGeom prst="rect">
            <a:avLst/>
          </a:prstGeom>
        </p:spPr>
        <p:txBody>
          <a:bodyPr vert="horz" wrap="square" lIns="0" tIns="8659" rIns="0" bIns="0" rtlCol="0">
            <a:spAutoFit/>
          </a:bodyPr>
          <a:lstStyle/>
          <a:p>
            <a:pPr marL="22946"/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Loft 115</a:t>
            </a:r>
            <a:endParaRPr sz="614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946" marR="204349"/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Two Level Loft  Private Terrace  1and ½ Baths</a:t>
            </a:r>
            <a:endParaRPr sz="614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946" marR="70570"/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Two Floors, 540 ft</a:t>
            </a:r>
            <a:r>
              <a:rPr sz="614" baseline="27777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 </a:t>
            </a:r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King Bed</a:t>
            </a:r>
            <a:endParaRPr sz="614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807960" y="1221798"/>
            <a:ext cx="753341" cy="787977"/>
          </a:xfrm>
          <a:custGeom>
            <a:avLst/>
            <a:gdLst/>
            <a:ahLst/>
            <a:cxnLst/>
            <a:rect l="l" t="t" r="r" b="b"/>
            <a:pathLst>
              <a:path w="1104900" h="1155700">
                <a:moveTo>
                  <a:pt x="0" y="0"/>
                </a:moveTo>
                <a:lnTo>
                  <a:pt x="1104900" y="0"/>
                </a:lnTo>
                <a:lnTo>
                  <a:pt x="1104900" y="1155700"/>
                </a:lnTo>
                <a:lnTo>
                  <a:pt x="0" y="11557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E747B"/>
            </a:solidFill>
          </a:ln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812290" y="1252295"/>
            <a:ext cx="744682" cy="670335"/>
          </a:xfrm>
          <a:prstGeom prst="rect">
            <a:avLst/>
          </a:prstGeom>
        </p:spPr>
        <p:txBody>
          <a:bodyPr vert="horz" wrap="square" lIns="0" tIns="8659" rIns="0" bIns="0" rtlCol="0">
            <a:spAutoFit/>
          </a:bodyPr>
          <a:lstStyle/>
          <a:p>
            <a:pPr marL="18184"/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Loft 114</a:t>
            </a:r>
            <a:endParaRPr sz="614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184" marR="200453"/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Two Level Loft  Private Terrace  1and ½ Baths</a:t>
            </a:r>
            <a:endParaRPr sz="614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184" marR="66673"/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Two Floors, 540 ft</a:t>
            </a:r>
            <a:r>
              <a:rPr sz="614" baseline="27777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 </a:t>
            </a:r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King Bed</a:t>
            </a:r>
            <a:endParaRPr sz="614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730028" y="1247775"/>
            <a:ext cx="77932" cy="736023"/>
          </a:xfrm>
          <a:custGeom>
            <a:avLst/>
            <a:gdLst/>
            <a:ahLst/>
            <a:cxnLst/>
            <a:rect l="l" t="t" r="r" b="b"/>
            <a:pathLst>
              <a:path w="114300" h="1079500">
                <a:moveTo>
                  <a:pt x="0" y="1079500"/>
                </a:moveTo>
                <a:lnTo>
                  <a:pt x="114300" y="1079500"/>
                </a:lnTo>
                <a:lnTo>
                  <a:pt x="114300" y="0"/>
                </a:lnTo>
                <a:lnTo>
                  <a:pt x="0" y="0"/>
                </a:lnTo>
                <a:lnTo>
                  <a:pt x="0" y="1079500"/>
                </a:lnTo>
                <a:close/>
              </a:path>
            </a:pathLst>
          </a:custGeom>
          <a:solidFill>
            <a:srgbClr val="6E747B"/>
          </a:solidFill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730028" y="1247775"/>
            <a:ext cx="77932" cy="762000"/>
          </a:xfrm>
          <a:custGeom>
            <a:avLst/>
            <a:gdLst/>
            <a:ahLst/>
            <a:cxnLst/>
            <a:rect l="l" t="t" r="r" b="b"/>
            <a:pathLst>
              <a:path w="114300" h="1117600">
                <a:moveTo>
                  <a:pt x="0" y="0"/>
                </a:moveTo>
                <a:lnTo>
                  <a:pt x="114300" y="0"/>
                </a:lnTo>
                <a:lnTo>
                  <a:pt x="114300" y="1117600"/>
                </a:lnTo>
                <a:lnTo>
                  <a:pt x="0" y="11176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E747B"/>
            </a:solidFill>
          </a:ln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933392" y="1983798"/>
            <a:ext cx="874568" cy="103909"/>
          </a:xfrm>
          <a:custGeom>
            <a:avLst/>
            <a:gdLst/>
            <a:ahLst/>
            <a:cxnLst/>
            <a:rect l="l" t="t" r="r" b="b"/>
            <a:pathLst>
              <a:path w="1282700" h="152400">
                <a:moveTo>
                  <a:pt x="0" y="152400"/>
                </a:moveTo>
                <a:lnTo>
                  <a:pt x="1282700" y="152400"/>
                </a:lnTo>
                <a:lnTo>
                  <a:pt x="12827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6E747B"/>
          </a:solidFill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933392" y="1983798"/>
            <a:ext cx="874568" cy="103909"/>
          </a:xfrm>
          <a:custGeom>
            <a:avLst/>
            <a:gdLst/>
            <a:ahLst/>
            <a:cxnLst/>
            <a:rect l="l" t="t" r="r" b="b"/>
            <a:pathLst>
              <a:path w="1282700" h="152400">
                <a:moveTo>
                  <a:pt x="0" y="152400"/>
                </a:moveTo>
                <a:lnTo>
                  <a:pt x="1282700" y="152400"/>
                </a:lnTo>
                <a:lnTo>
                  <a:pt x="12827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ln w="12700">
            <a:solidFill>
              <a:srgbClr val="6E747B"/>
            </a:solidFill>
          </a:ln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958384" y="1273987"/>
            <a:ext cx="736023" cy="103257"/>
          </a:xfrm>
          <a:prstGeom prst="rect">
            <a:avLst/>
          </a:prstGeom>
        </p:spPr>
        <p:txBody>
          <a:bodyPr vert="horz" wrap="square" lIns="0" tIns="8659" rIns="0" bIns="0" rtlCol="0">
            <a:spAutoFit/>
          </a:bodyPr>
          <a:lstStyle/>
          <a:p>
            <a:pPr marL="8659"/>
            <a:r>
              <a:rPr lang="en-US"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Accounting Office</a:t>
            </a:r>
            <a:endParaRPr sz="614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489933" y="2032663"/>
            <a:ext cx="646401" cy="193409"/>
          </a:xfrm>
          <a:prstGeom prst="rect">
            <a:avLst/>
          </a:prstGeom>
        </p:spPr>
        <p:txBody>
          <a:bodyPr vert="horz" wrap="square" lIns="0" tIns="8659" rIns="0" bIns="0" rtlCol="0">
            <a:spAutoFit/>
          </a:bodyPr>
          <a:lstStyle/>
          <a:p>
            <a:pPr marL="8659"/>
            <a:r>
              <a:rPr sz="1200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FLOOR</a:t>
            </a:r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5" name="object 25"/>
          <p:cNvGraphicFramePr>
            <a:graphicFrameLocks noGrp="1"/>
          </p:cNvGraphicFramePr>
          <p:nvPr>
            <p:extLst/>
          </p:nvPr>
        </p:nvGraphicFramePr>
        <p:xfrm>
          <a:off x="3929063" y="2213264"/>
          <a:ext cx="4177147" cy="86547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4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7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3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69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55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41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444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7881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71500">
                <a:tc gridSpan="3"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en-US" sz="600" kern="1200" dirty="0" smtClean="0">
                          <a:solidFill>
                            <a:srgbClr val="6E747B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Accounting  Office</a:t>
                      </a:r>
                      <a:endParaRPr sz="600" kern="1200" dirty="0">
                        <a:solidFill>
                          <a:srgbClr val="6E747B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23380" marB="0">
                    <a:lnL w="12700">
                      <a:solidFill>
                        <a:srgbClr val="6E747B"/>
                      </a:solidFill>
                      <a:prstDash val="solid"/>
                    </a:lnL>
                    <a:lnR w="12700">
                      <a:solidFill>
                        <a:srgbClr val="6E747B"/>
                      </a:solidFill>
                      <a:prstDash val="solid"/>
                    </a:lnR>
                    <a:lnT w="12700">
                      <a:solidFill>
                        <a:srgbClr val="6E747B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</a:pPr>
                      <a:endParaRPr sz="600" kern="1200">
                        <a:solidFill>
                          <a:srgbClr val="6E747B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6E7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6E747B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46990">
                        <a:lnSpc>
                          <a:spcPts val="1310"/>
                        </a:lnSpc>
                        <a:spcBef>
                          <a:spcPts val="210"/>
                        </a:spcBef>
                      </a:pPr>
                      <a:r>
                        <a:rPr sz="600" kern="1200" dirty="0">
                          <a:solidFill>
                            <a:srgbClr val="6E747B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Loft 114</a:t>
                      </a:r>
                    </a:p>
                    <a:p>
                      <a:pPr marL="46990">
                        <a:lnSpc>
                          <a:spcPts val="1070"/>
                        </a:lnSpc>
                      </a:pPr>
                      <a:r>
                        <a:rPr sz="600" kern="1200" dirty="0">
                          <a:solidFill>
                            <a:srgbClr val="6E747B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Second Floor</a:t>
                      </a:r>
                    </a:p>
                  </a:txBody>
                  <a:tcPr marL="0" marR="0" marT="18184" marB="0">
                    <a:lnR w="12700">
                      <a:solidFill>
                        <a:srgbClr val="6E747B"/>
                      </a:solidFill>
                      <a:prstDash val="solid"/>
                    </a:lnR>
                    <a:lnT w="12700">
                      <a:solidFill>
                        <a:srgbClr val="6E747B"/>
                      </a:solidFill>
                      <a:prstDash val="solid"/>
                    </a:lnT>
                    <a:lnB w="12700">
                      <a:solidFill>
                        <a:srgbClr val="6E747B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46990">
                        <a:lnSpc>
                          <a:spcPts val="1310"/>
                        </a:lnSpc>
                        <a:spcBef>
                          <a:spcPts val="170"/>
                        </a:spcBef>
                      </a:pPr>
                      <a:r>
                        <a:rPr sz="600" kern="1200" dirty="0">
                          <a:solidFill>
                            <a:srgbClr val="6E747B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Loft 115</a:t>
                      </a:r>
                    </a:p>
                    <a:p>
                      <a:pPr marL="46990">
                        <a:lnSpc>
                          <a:spcPts val="1070"/>
                        </a:lnSpc>
                      </a:pPr>
                      <a:r>
                        <a:rPr sz="600" kern="1200" dirty="0">
                          <a:solidFill>
                            <a:srgbClr val="6E747B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Second Floor</a:t>
                      </a:r>
                    </a:p>
                  </a:txBody>
                  <a:tcPr marL="0" marR="0" marT="14720" marB="0">
                    <a:lnL w="12700">
                      <a:solidFill>
                        <a:srgbClr val="6E747B"/>
                      </a:solidFill>
                      <a:prstDash val="solid"/>
                    </a:lnL>
                    <a:lnR w="12700">
                      <a:solidFill>
                        <a:srgbClr val="6E747B"/>
                      </a:solidFill>
                      <a:prstDash val="solid"/>
                    </a:lnR>
                    <a:lnT w="12700">
                      <a:solidFill>
                        <a:srgbClr val="6E747B"/>
                      </a:solidFill>
                      <a:prstDash val="solid"/>
                    </a:lnT>
                    <a:lnB w="12700">
                      <a:solidFill>
                        <a:srgbClr val="6E747B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59055">
                        <a:lnSpc>
                          <a:spcPts val="1310"/>
                        </a:lnSpc>
                        <a:spcBef>
                          <a:spcPts val="180"/>
                        </a:spcBef>
                      </a:pPr>
                      <a:r>
                        <a:rPr sz="600" kern="1200" dirty="0">
                          <a:solidFill>
                            <a:srgbClr val="6E747B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Loft 116</a:t>
                      </a:r>
                    </a:p>
                    <a:p>
                      <a:pPr marL="59055">
                        <a:lnSpc>
                          <a:spcPts val="1070"/>
                        </a:lnSpc>
                      </a:pPr>
                      <a:r>
                        <a:rPr sz="600" kern="1200" dirty="0">
                          <a:solidFill>
                            <a:srgbClr val="6E747B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Second Floor</a:t>
                      </a:r>
                    </a:p>
                  </a:txBody>
                  <a:tcPr marL="0" marR="0" marT="15586" marB="0">
                    <a:lnL w="12700">
                      <a:solidFill>
                        <a:srgbClr val="6E747B"/>
                      </a:solidFill>
                      <a:prstDash val="solid"/>
                    </a:lnL>
                    <a:lnT w="12700">
                      <a:solidFill>
                        <a:srgbClr val="6E747B"/>
                      </a:solidFill>
                      <a:prstDash val="solid"/>
                    </a:lnT>
                    <a:lnB w="12700">
                      <a:solidFill>
                        <a:srgbClr val="6E747B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 kern="1200">
                        <a:solidFill>
                          <a:srgbClr val="6E747B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rgbClr val="6E747B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46990">
                        <a:lnSpc>
                          <a:spcPts val="1310"/>
                        </a:lnSpc>
                        <a:spcBef>
                          <a:spcPts val="445"/>
                        </a:spcBef>
                      </a:pPr>
                      <a:r>
                        <a:rPr sz="600" kern="1200" dirty="0">
                          <a:solidFill>
                            <a:srgbClr val="6E747B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Loft 117</a:t>
                      </a:r>
                    </a:p>
                    <a:p>
                      <a:pPr marL="46990">
                        <a:lnSpc>
                          <a:spcPts val="1070"/>
                        </a:lnSpc>
                      </a:pPr>
                      <a:r>
                        <a:rPr sz="600" kern="1200" dirty="0">
                          <a:solidFill>
                            <a:srgbClr val="6E747B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Second Floor</a:t>
                      </a:r>
                    </a:p>
                  </a:txBody>
                  <a:tcPr marL="0" marR="0" marT="38533" marB="0">
                    <a:lnR w="12700">
                      <a:solidFill>
                        <a:srgbClr val="6E747B"/>
                      </a:solidFill>
                      <a:prstDash val="solid"/>
                    </a:lnR>
                    <a:lnT w="12700">
                      <a:solidFill>
                        <a:srgbClr val="6E747B"/>
                      </a:solidFill>
                      <a:prstDash val="solid"/>
                    </a:lnT>
                    <a:lnB w="12700">
                      <a:solidFill>
                        <a:srgbClr val="6E747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44">
                <a:tc gridSpan="2"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</a:pPr>
                      <a:endParaRPr sz="600" kern="1200">
                        <a:solidFill>
                          <a:srgbClr val="6E747B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6E747B"/>
                      </a:solidFill>
                      <a:prstDash val="solid"/>
                    </a:lnL>
                    <a:lnR w="12700">
                      <a:solidFill>
                        <a:srgbClr val="6E747B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600" kern="1200" dirty="0">
                          <a:solidFill>
                            <a:srgbClr val="6E747B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Elevator</a:t>
                      </a:r>
                    </a:p>
                  </a:txBody>
                  <a:tcPr marL="0" marR="0" marT="29008" marB="0">
                    <a:lnL w="12700">
                      <a:solidFill>
                        <a:srgbClr val="6E747B"/>
                      </a:solidFill>
                      <a:prstDash val="solid"/>
                    </a:lnL>
                    <a:lnR w="12700">
                      <a:solidFill>
                        <a:srgbClr val="6E747B"/>
                      </a:solidFill>
                      <a:prstDash val="solid"/>
                    </a:lnR>
                    <a:lnT w="12700">
                      <a:solidFill>
                        <a:srgbClr val="6E747B"/>
                      </a:solidFill>
                      <a:prstDash val="solid"/>
                    </a:lnT>
                    <a:lnB w="12700">
                      <a:solidFill>
                        <a:srgbClr val="6E747B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6E747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6670" marB="0">
                    <a:lnL w="12700">
                      <a:solidFill>
                        <a:srgbClr val="6E747B"/>
                      </a:solidFill>
                      <a:prstDash val="solid"/>
                    </a:lnL>
                    <a:lnR w="12700">
                      <a:solidFill>
                        <a:srgbClr val="6E747B"/>
                      </a:solidFill>
                      <a:prstDash val="solid"/>
                    </a:lnR>
                    <a:lnT w="12700">
                      <a:solidFill>
                        <a:srgbClr val="6E747B"/>
                      </a:solidFill>
                      <a:prstDash val="solid"/>
                    </a:lnT>
                    <a:lnB w="12700">
                      <a:solidFill>
                        <a:srgbClr val="6E747B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1590" marB="0">
                    <a:lnL w="12700">
                      <a:solidFill>
                        <a:srgbClr val="6E747B"/>
                      </a:solidFill>
                      <a:prstDash val="solid"/>
                    </a:lnL>
                    <a:lnR w="12700">
                      <a:solidFill>
                        <a:srgbClr val="6E747B"/>
                      </a:solidFill>
                      <a:prstDash val="solid"/>
                    </a:lnR>
                    <a:lnT w="12700">
                      <a:solidFill>
                        <a:srgbClr val="6E747B"/>
                      </a:solidFill>
                      <a:prstDash val="solid"/>
                    </a:lnT>
                    <a:lnB w="12700">
                      <a:solidFill>
                        <a:srgbClr val="6E747B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2860" marB="0">
                    <a:lnL w="12700">
                      <a:solidFill>
                        <a:srgbClr val="6E747B"/>
                      </a:solidFill>
                      <a:prstDash val="solid"/>
                    </a:lnL>
                    <a:lnT w="12700">
                      <a:solidFill>
                        <a:srgbClr val="6E747B"/>
                      </a:solidFill>
                      <a:prstDash val="solid"/>
                    </a:lnT>
                    <a:lnB w="12700">
                      <a:solidFill>
                        <a:srgbClr val="6E747B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6E747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6515" marB="0">
                    <a:lnR w="12700">
                      <a:solidFill>
                        <a:srgbClr val="6E747B"/>
                      </a:solidFill>
                      <a:prstDash val="solid"/>
                    </a:lnR>
                    <a:lnT w="12700">
                      <a:solidFill>
                        <a:srgbClr val="6E747B"/>
                      </a:solidFill>
                      <a:prstDash val="solid"/>
                    </a:lnT>
                    <a:lnB w="12700">
                      <a:solidFill>
                        <a:srgbClr val="6E747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93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E747B"/>
                      </a:solidFill>
                      <a:prstDash val="solid"/>
                    </a:lnL>
                    <a:lnR w="12700">
                      <a:solidFill>
                        <a:srgbClr val="6E747B"/>
                      </a:solidFill>
                      <a:prstDash val="solid"/>
                    </a:lnR>
                    <a:lnB w="12700">
                      <a:solidFill>
                        <a:srgbClr val="6E747B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6E74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6E747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6E747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6670" marB="0">
                    <a:lnL w="12700">
                      <a:solidFill>
                        <a:srgbClr val="6E747B"/>
                      </a:solidFill>
                      <a:prstDash val="solid"/>
                    </a:lnL>
                    <a:lnR w="12700">
                      <a:solidFill>
                        <a:srgbClr val="6E747B"/>
                      </a:solidFill>
                      <a:prstDash val="solid"/>
                    </a:lnR>
                    <a:lnT w="12700">
                      <a:solidFill>
                        <a:srgbClr val="6E747B"/>
                      </a:solidFill>
                      <a:prstDash val="solid"/>
                    </a:lnT>
                    <a:lnB w="12700">
                      <a:solidFill>
                        <a:srgbClr val="6E747B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1590" marB="0">
                    <a:lnL w="12700">
                      <a:solidFill>
                        <a:srgbClr val="6E747B"/>
                      </a:solidFill>
                      <a:prstDash val="solid"/>
                    </a:lnL>
                    <a:lnR w="12700">
                      <a:solidFill>
                        <a:srgbClr val="6E747B"/>
                      </a:solidFill>
                      <a:prstDash val="solid"/>
                    </a:lnR>
                    <a:lnT w="12700">
                      <a:solidFill>
                        <a:srgbClr val="6E747B"/>
                      </a:solidFill>
                      <a:prstDash val="solid"/>
                    </a:lnT>
                    <a:lnB w="12700">
                      <a:solidFill>
                        <a:srgbClr val="6E747B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2860" marB="0">
                    <a:lnL w="12700">
                      <a:solidFill>
                        <a:srgbClr val="6E747B"/>
                      </a:solidFill>
                      <a:prstDash val="solid"/>
                    </a:lnL>
                    <a:lnT w="12700">
                      <a:solidFill>
                        <a:srgbClr val="6E747B"/>
                      </a:solidFill>
                      <a:prstDash val="solid"/>
                    </a:lnT>
                    <a:lnB w="12700">
                      <a:solidFill>
                        <a:srgbClr val="6E747B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6E747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6515" marB="0">
                    <a:lnR w="12700">
                      <a:solidFill>
                        <a:srgbClr val="6E747B"/>
                      </a:solidFill>
                      <a:prstDash val="solid"/>
                    </a:lnR>
                    <a:lnT w="12700">
                      <a:solidFill>
                        <a:srgbClr val="6E747B"/>
                      </a:solidFill>
                      <a:prstDash val="solid"/>
                    </a:lnT>
                    <a:lnB w="12700">
                      <a:solidFill>
                        <a:srgbClr val="6E747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6" name="object 26"/>
          <p:cNvSpPr/>
          <p:nvPr/>
        </p:nvSpPr>
        <p:spPr>
          <a:xfrm>
            <a:off x="3942051" y="3256684"/>
            <a:ext cx="4216977" cy="831273"/>
          </a:xfrm>
          <a:custGeom>
            <a:avLst/>
            <a:gdLst/>
            <a:ahLst/>
            <a:cxnLst/>
            <a:rect l="l" t="t" r="r" b="b"/>
            <a:pathLst>
              <a:path w="6184900" h="1219200">
                <a:moveTo>
                  <a:pt x="0" y="0"/>
                </a:moveTo>
                <a:lnTo>
                  <a:pt x="6184900" y="0"/>
                </a:lnTo>
                <a:lnTo>
                  <a:pt x="61849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E747B"/>
            </a:solidFill>
          </a:ln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933642" y="3256684"/>
            <a:ext cx="1160318" cy="831273"/>
          </a:xfrm>
          <a:custGeom>
            <a:avLst/>
            <a:gdLst/>
            <a:ahLst/>
            <a:cxnLst/>
            <a:rect l="l" t="t" r="r" b="b"/>
            <a:pathLst>
              <a:path w="1701800" h="1219200">
                <a:moveTo>
                  <a:pt x="0" y="0"/>
                </a:moveTo>
                <a:lnTo>
                  <a:pt x="1701800" y="0"/>
                </a:lnTo>
                <a:lnTo>
                  <a:pt x="17018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E747B"/>
            </a:solidFill>
          </a:ln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163233" y="3256684"/>
            <a:ext cx="987136" cy="831273"/>
          </a:xfrm>
          <a:custGeom>
            <a:avLst/>
            <a:gdLst/>
            <a:ahLst/>
            <a:cxnLst/>
            <a:rect l="l" t="t" r="r" b="b"/>
            <a:pathLst>
              <a:path w="1447800" h="1219200">
                <a:moveTo>
                  <a:pt x="0" y="0"/>
                </a:moveTo>
                <a:lnTo>
                  <a:pt x="1447800" y="0"/>
                </a:lnTo>
                <a:lnTo>
                  <a:pt x="14478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E747B"/>
            </a:solidFill>
          </a:ln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167563" y="3288420"/>
            <a:ext cx="978477" cy="406032"/>
          </a:xfrm>
          <a:prstGeom prst="rect">
            <a:avLst/>
          </a:prstGeom>
        </p:spPr>
        <p:txBody>
          <a:bodyPr vert="horz" wrap="square" lIns="0" tIns="27709" rIns="0" bIns="0" rtlCol="0">
            <a:spAutoFit/>
          </a:bodyPr>
          <a:lstStyle/>
          <a:p>
            <a:pPr marL="29873" marR="595730"/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Suite 31</a:t>
            </a:r>
            <a:r>
              <a:rPr lang="en-US"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King Suite  Balcony</a:t>
            </a:r>
            <a:endParaRPr sz="614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937972" y="3264876"/>
            <a:ext cx="1143000" cy="292283"/>
          </a:xfrm>
          <a:prstGeom prst="rect">
            <a:avLst/>
          </a:prstGeom>
        </p:spPr>
        <p:txBody>
          <a:bodyPr vert="horz" wrap="square" lIns="0" tIns="8659" rIns="0" bIns="0" rtlCol="0">
            <a:spAutoFit/>
          </a:bodyPr>
          <a:lstStyle/>
          <a:p>
            <a:pPr marL="44160"/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Suite 31</a:t>
            </a:r>
            <a:r>
              <a:rPr lang="en-US"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  <a:p>
            <a:pPr marL="44160"/>
            <a:r>
              <a:rPr lang="en-US"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King Suite</a:t>
            </a:r>
          </a:p>
          <a:p>
            <a:pPr marL="44160"/>
            <a:endParaRPr sz="614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4452938" y="3828184"/>
            <a:ext cx="285750" cy="181841"/>
          </a:xfrm>
          <a:custGeom>
            <a:avLst/>
            <a:gdLst/>
            <a:ahLst/>
            <a:cxnLst/>
            <a:rect l="l" t="t" r="r" b="b"/>
            <a:pathLst>
              <a:path w="419100" h="266700">
                <a:moveTo>
                  <a:pt x="0" y="0"/>
                </a:moveTo>
                <a:lnTo>
                  <a:pt x="419100" y="0"/>
                </a:lnTo>
                <a:lnTo>
                  <a:pt x="419100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E747B"/>
            </a:solidFill>
          </a:ln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409642" y="3828184"/>
            <a:ext cx="337705" cy="114909"/>
          </a:xfrm>
          <a:prstGeom prst="rect">
            <a:avLst/>
          </a:prstGeom>
          <a:ln w="12700">
            <a:solidFill>
              <a:srgbClr val="6E747B"/>
            </a:solidFill>
          </a:ln>
        </p:spPr>
        <p:txBody>
          <a:bodyPr vert="horz" wrap="square" lIns="0" tIns="30740" rIns="0" bIns="0" rtlCol="0">
            <a:spAutoFit/>
          </a:bodyPr>
          <a:lstStyle/>
          <a:p>
            <a:pPr marL="18617"/>
            <a:r>
              <a:rPr sz="545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Elevator</a:t>
            </a:r>
            <a:endParaRPr sz="614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275801" y="3082899"/>
            <a:ext cx="886692" cy="193409"/>
          </a:xfrm>
          <a:prstGeom prst="rect">
            <a:avLst/>
          </a:prstGeom>
        </p:spPr>
        <p:txBody>
          <a:bodyPr vert="horz" wrap="square" lIns="0" tIns="8659" rIns="0" bIns="0" rtlCol="0">
            <a:spAutoFit/>
          </a:bodyPr>
          <a:lstStyle/>
          <a:p>
            <a:pPr marL="8659"/>
            <a:r>
              <a:rPr sz="1200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FLOOR 3</a:t>
            </a:r>
            <a:endParaRPr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085301" y="3256684"/>
            <a:ext cx="77932" cy="744682"/>
          </a:xfrm>
          <a:custGeom>
            <a:avLst/>
            <a:gdLst/>
            <a:ahLst/>
            <a:cxnLst/>
            <a:rect l="l" t="t" r="r" b="b"/>
            <a:pathLst>
              <a:path w="114300" h="1092200">
                <a:moveTo>
                  <a:pt x="0" y="1092200"/>
                </a:moveTo>
                <a:lnTo>
                  <a:pt x="114300" y="1092200"/>
                </a:lnTo>
                <a:lnTo>
                  <a:pt x="114300" y="0"/>
                </a:lnTo>
                <a:lnTo>
                  <a:pt x="0" y="0"/>
                </a:lnTo>
                <a:lnTo>
                  <a:pt x="0" y="1092200"/>
                </a:lnTo>
                <a:close/>
              </a:path>
            </a:pathLst>
          </a:custGeom>
          <a:solidFill>
            <a:srgbClr val="6E747B"/>
          </a:solidFill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085301" y="3256684"/>
            <a:ext cx="77932" cy="831273"/>
          </a:xfrm>
          <a:custGeom>
            <a:avLst/>
            <a:gdLst/>
            <a:ahLst/>
            <a:cxnLst/>
            <a:rect l="l" t="t" r="r" b="b"/>
            <a:pathLst>
              <a:path w="114300" h="1219200">
                <a:moveTo>
                  <a:pt x="0" y="0"/>
                </a:moveTo>
                <a:lnTo>
                  <a:pt x="114300" y="0"/>
                </a:lnTo>
                <a:lnTo>
                  <a:pt x="1143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E747B"/>
            </a:solidFill>
          </a:ln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4816619" y="3256684"/>
            <a:ext cx="1117023" cy="831273"/>
          </a:xfrm>
          <a:custGeom>
            <a:avLst/>
            <a:gdLst/>
            <a:ahLst/>
            <a:cxnLst/>
            <a:rect l="l" t="t" r="r" b="b"/>
            <a:pathLst>
              <a:path w="1638300" h="1219200">
                <a:moveTo>
                  <a:pt x="0" y="0"/>
                </a:moveTo>
                <a:lnTo>
                  <a:pt x="1638300" y="0"/>
                </a:lnTo>
                <a:lnTo>
                  <a:pt x="16383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E747B"/>
            </a:solidFill>
          </a:ln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816619" y="3256684"/>
            <a:ext cx="1117023" cy="322886"/>
          </a:xfrm>
          <a:prstGeom prst="rect">
            <a:avLst/>
          </a:prstGeom>
          <a:ln w="12700">
            <a:solidFill>
              <a:srgbClr val="6E747B"/>
            </a:solidFill>
          </a:ln>
        </p:spPr>
        <p:txBody>
          <a:bodyPr vert="horz" wrap="square" lIns="0" tIns="38966" rIns="0" bIns="0" rtlCol="0">
            <a:spAutoFit/>
          </a:bodyPr>
          <a:lstStyle/>
          <a:p>
            <a:pPr marL="25977" marR="738168"/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Suite 312  King Suite</a:t>
            </a:r>
            <a:endParaRPr sz="614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4747346" y="3248025"/>
            <a:ext cx="69273" cy="753341"/>
          </a:xfrm>
          <a:custGeom>
            <a:avLst/>
            <a:gdLst/>
            <a:ahLst/>
            <a:cxnLst/>
            <a:rect l="l" t="t" r="r" b="b"/>
            <a:pathLst>
              <a:path w="101600" h="1104900">
                <a:moveTo>
                  <a:pt x="0" y="1104900"/>
                </a:moveTo>
                <a:lnTo>
                  <a:pt x="101600" y="1104900"/>
                </a:lnTo>
                <a:lnTo>
                  <a:pt x="101600" y="0"/>
                </a:lnTo>
                <a:lnTo>
                  <a:pt x="0" y="0"/>
                </a:lnTo>
                <a:lnTo>
                  <a:pt x="0" y="1104900"/>
                </a:lnTo>
                <a:close/>
              </a:path>
            </a:pathLst>
          </a:custGeom>
          <a:solidFill>
            <a:srgbClr val="6E747B"/>
          </a:solidFill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4747346" y="3248025"/>
            <a:ext cx="69273" cy="839932"/>
          </a:xfrm>
          <a:custGeom>
            <a:avLst/>
            <a:gdLst/>
            <a:ahLst/>
            <a:cxnLst/>
            <a:rect l="l" t="t" r="r" b="b"/>
            <a:pathLst>
              <a:path w="101600" h="1231900">
                <a:moveTo>
                  <a:pt x="0" y="0"/>
                </a:moveTo>
                <a:lnTo>
                  <a:pt x="101600" y="0"/>
                </a:lnTo>
                <a:lnTo>
                  <a:pt x="101600" y="1231900"/>
                </a:lnTo>
                <a:lnTo>
                  <a:pt x="0" y="12319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E747B"/>
            </a:solidFill>
          </a:ln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4115233" y="3975389"/>
            <a:ext cx="632114" cy="25977"/>
          </a:xfrm>
          <a:custGeom>
            <a:avLst/>
            <a:gdLst/>
            <a:ahLst/>
            <a:cxnLst/>
            <a:rect l="l" t="t" r="r" b="b"/>
            <a:pathLst>
              <a:path w="927100" h="38100">
                <a:moveTo>
                  <a:pt x="0" y="38100"/>
                </a:moveTo>
                <a:lnTo>
                  <a:pt x="927100" y="38100"/>
                </a:lnTo>
                <a:lnTo>
                  <a:pt x="927100" y="0"/>
                </a:lnTo>
                <a:lnTo>
                  <a:pt x="0" y="0"/>
                </a:lnTo>
                <a:lnTo>
                  <a:pt x="0" y="38100"/>
                </a:lnTo>
                <a:close/>
              </a:path>
            </a:pathLst>
          </a:custGeom>
          <a:solidFill>
            <a:srgbClr val="6E747B"/>
          </a:solidFill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4115233" y="3975389"/>
            <a:ext cx="632114" cy="77932"/>
          </a:xfrm>
          <a:custGeom>
            <a:avLst/>
            <a:gdLst/>
            <a:ahLst/>
            <a:cxnLst/>
            <a:rect l="l" t="t" r="r" b="b"/>
            <a:pathLst>
              <a:path w="927100" h="114300">
                <a:moveTo>
                  <a:pt x="0" y="0"/>
                </a:moveTo>
                <a:lnTo>
                  <a:pt x="927100" y="0"/>
                </a:lnTo>
                <a:lnTo>
                  <a:pt x="9271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E747B"/>
            </a:solidFill>
          </a:ln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4115233" y="4001366"/>
            <a:ext cx="3048000" cy="95250"/>
          </a:xfrm>
          <a:custGeom>
            <a:avLst/>
            <a:gdLst/>
            <a:ahLst/>
            <a:cxnLst/>
            <a:rect l="l" t="t" r="r" b="b"/>
            <a:pathLst>
              <a:path w="4470400" h="139700">
                <a:moveTo>
                  <a:pt x="0" y="139700"/>
                </a:moveTo>
                <a:lnTo>
                  <a:pt x="4470400" y="139700"/>
                </a:lnTo>
                <a:lnTo>
                  <a:pt x="4470400" y="0"/>
                </a:lnTo>
                <a:lnTo>
                  <a:pt x="0" y="0"/>
                </a:lnTo>
                <a:lnTo>
                  <a:pt x="0" y="139700"/>
                </a:lnTo>
                <a:close/>
              </a:path>
            </a:pathLst>
          </a:custGeom>
          <a:solidFill>
            <a:srgbClr val="6E747B"/>
          </a:solidFill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4115233" y="4001366"/>
            <a:ext cx="3048000" cy="95250"/>
          </a:xfrm>
          <a:custGeom>
            <a:avLst/>
            <a:gdLst/>
            <a:ahLst/>
            <a:cxnLst/>
            <a:rect l="l" t="t" r="r" b="b"/>
            <a:pathLst>
              <a:path w="4470400" h="139700">
                <a:moveTo>
                  <a:pt x="0" y="139700"/>
                </a:moveTo>
                <a:lnTo>
                  <a:pt x="4470400" y="139700"/>
                </a:lnTo>
                <a:lnTo>
                  <a:pt x="4470400" y="0"/>
                </a:lnTo>
                <a:lnTo>
                  <a:pt x="0" y="0"/>
                </a:lnTo>
                <a:lnTo>
                  <a:pt x="0" y="139700"/>
                </a:lnTo>
                <a:close/>
              </a:path>
            </a:pathLst>
          </a:custGeom>
          <a:ln w="12700">
            <a:solidFill>
              <a:srgbClr val="6E747B"/>
            </a:solidFill>
          </a:ln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3924733" y="4304434"/>
            <a:ext cx="4216977" cy="831273"/>
          </a:xfrm>
          <a:custGeom>
            <a:avLst/>
            <a:gdLst/>
            <a:ahLst/>
            <a:cxnLst/>
            <a:rect l="l" t="t" r="r" b="b"/>
            <a:pathLst>
              <a:path w="6184900" h="1219200">
                <a:moveTo>
                  <a:pt x="0" y="0"/>
                </a:moveTo>
                <a:lnTo>
                  <a:pt x="6184900" y="0"/>
                </a:lnTo>
                <a:lnTo>
                  <a:pt x="61849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E747B"/>
            </a:solidFill>
          </a:ln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6609051" y="4304434"/>
            <a:ext cx="623455" cy="831273"/>
          </a:xfrm>
          <a:custGeom>
            <a:avLst/>
            <a:gdLst/>
            <a:ahLst/>
            <a:cxnLst/>
            <a:rect l="l" t="t" r="r" b="b"/>
            <a:pathLst>
              <a:path w="914400" h="1219200">
                <a:moveTo>
                  <a:pt x="0" y="0"/>
                </a:moveTo>
                <a:lnTo>
                  <a:pt x="914400" y="0"/>
                </a:lnTo>
                <a:lnTo>
                  <a:pt x="9144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E747B"/>
            </a:solidFill>
          </a:ln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7258483" y="4304434"/>
            <a:ext cx="874568" cy="831273"/>
          </a:xfrm>
          <a:custGeom>
            <a:avLst/>
            <a:gdLst/>
            <a:ahLst/>
            <a:cxnLst/>
            <a:rect l="l" t="t" r="r" b="b"/>
            <a:pathLst>
              <a:path w="1282700" h="1219200">
                <a:moveTo>
                  <a:pt x="0" y="0"/>
                </a:moveTo>
                <a:lnTo>
                  <a:pt x="1282700" y="0"/>
                </a:lnTo>
                <a:lnTo>
                  <a:pt x="12827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E747B"/>
            </a:solidFill>
          </a:ln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323426" y="4336212"/>
            <a:ext cx="805295" cy="292283"/>
          </a:xfrm>
          <a:prstGeom prst="rect">
            <a:avLst/>
          </a:prstGeom>
        </p:spPr>
        <p:txBody>
          <a:bodyPr vert="horz" wrap="square" lIns="0" tIns="8659" rIns="0" bIns="0" rtlCol="0">
            <a:spAutoFit/>
          </a:bodyPr>
          <a:lstStyle/>
          <a:p>
            <a:pPr marL="20348"/>
            <a:r>
              <a:rPr lang="en-US"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Suite </a:t>
            </a:r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406</a:t>
            </a:r>
            <a:endParaRPr lang="en-US" sz="614" dirty="0">
              <a:solidFill>
                <a:srgbClr val="6E747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0348"/>
            <a:r>
              <a:rPr lang="en-US"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King Suite  Balcony</a:t>
            </a:r>
            <a:endParaRPr lang="en-US" sz="614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0348"/>
            <a:endParaRPr sz="614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4435619" y="4875933"/>
            <a:ext cx="277091" cy="181841"/>
          </a:xfrm>
          <a:custGeom>
            <a:avLst/>
            <a:gdLst/>
            <a:ahLst/>
            <a:cxnLst/>
            <a:rect l="l" t="t" r="r" b="b"/>
            <a:pathLst>
              <a:path w="406400" h="266700">
                <a:moveTo>
                  <a:pt x="0" y="0"/>
                </a:moveTo>
                <a:lnTo>
                  <a:pt x="406400" y="0"/>
                </a:lnTo>
                <a:lnTo>
                  <a:pt x="406400" y="266699"/>
                </a:lnTo>
                <a:lnTo>
                  <a:pt x="0" y="266699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E747B"/>
            </a:solidFill>
          </a:ln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435619" y="4875934"/>
            <a:ext cx="285750" cy="114909"/>
          </a:xfrm>
          <a:prstGeom prst="rect">
            <a:avLst/>
          </a:prstGeom>
          <a:ln w="12700">
            <a:solidFill>
              <a:srgbClr val="6E747B"/>
            </a:solidFill>
          </a:ln>
        </p:spPr>
        <p:txBody>
          <a:bodyPr vert="horz" wrap="square" lIns="0" tIns="30740" rIns="0" bIns="0" rtlCol="0">
            <a:spAutoFit/>
          </a:bodyPr>
          <a:lstStyle/>
          <a:p>
            <a:pPr marL="14287"/>
            <a:r>
              <a:rPr sz="545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Elevator</a:t>
            </a:r>
            <a:endParaRPr sz="54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7232505" y="4131269"/>
            <a:ext cx="892787" cy="193409"/>
          </a:xfrm>
          <a:prstGeom prst="rect">
            <a:avLst/>
          </a:prstGeom>
        </p:spPr>
        <p:txBody>
          <a:bodyPr vert="horz" wrap="square" lIns="0" tIns="8659" rIns="0" bIns="0" rtlCol="0">
            <a:spAutoFit/>
          </a:bodyPr>
          <a:lstStyle/>
          <a:p>
            <a:pPr marL="8659"/>
            <a:r>
              <a:rPr sz="1200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FLOOR 4</a:t>
            </a:r>
            <a:endParaRPr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7232506" y="4304434"/>
            <a:ext cx="86591" cy="831273"/>
          </a:xfrm>
          <a:custGeom>
            <a:avLst/>
            <a:gdLst/>
            <a:ahLst/>
            <a:cxnLst/>
            <a:rect l="l" t="t" r="r" b="b"/>
            <a:pathLst>
              <a:path w="127000" h="1219200">
                <a:moveTo>
                  <a:pt x="0" y="1219199"/>
                </a:moveTo>
                <a:lnTo>
                  <a:pt x="127000" y="1219199"/>
                </a:lnTo>
                <a:lnTo>
                  <a:pt x="127000" y="0"/>
                </a:lnTo>
                <a:lnTo>
                  <a:pt x="0" y="0"/>
                </a:lnTo>
                <a:lnTo>
                  <a:pt x="0" y="1219199"/>
                </a:lnTo>
                <a:close/>
              </a:path>
            </a:pathLst>
          </a:custGeom>
          <a:solidFill>
            <a:srgbClr val="6E747B"/>
          </a:solidFill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7232506" y="4304434"/>
            <a:ext cx="86591" cy="831273"/>
          </a:xfrm>
          <a:custGeom>
            <a:avLst/>
            <a:gdLst/>
            <a:ahLst/>
            <a:cxnLst/>
            <a:rect l="l" t="t" r="r" b="b"/>
            <a:pathLst>
              <a:path w="127000" h="1219200">
                <a:moveTo>
                  <a:pt x="0" y="0"/>
                </a:moveTo>
                <a:lnTo>
                  <a:pt x="127000" y="0"/>
                </a:lnTo>
                <a:lnTo>
                  <a:pt x="1270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E747B"/>
            </a:solidFill>
          </a:ln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4721369" y="4295775"/>
            <a:ext cx="77932" cy="736023"/>
          </a:xfrm>
          <a:custGeom>
            <a:avLst/>
            <a:gdLst/>
            <a:ahLst/>
            <a:cxnLst/>
            <a:rect l="l" t="t" r="r" b="b"/>
            <a:pathLst>
              <a:path w="114300" h="1079500">
                <a:moveTo>
                  <a:pt x="0" y="1079499"/>
                </a:moveTo>
                <a:lnTo>
                  <a:pt x="114300" y="1079499"/>
                </a:lnTo>
                <a:lnTo>
                  <a:pt x="114300" y="0"/>
                </a:lnTo>
                <a:lnTo>
                  <a:pt x="0" y="0"/>
                </a:lnTo>
                <a:lnTo>
                  <a:pt x="0" y="1079499"/>
                </a:lnTo>
                <a:close/>
              </a:path>
            </a:pathLst>
          </a:custGeom>
          <a:solidFill>
            <a:srgbClr val="6E747B"/>
          </a:solidFill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4721369" y="4295775"/>
            <a:ext cx="77932" cy="839932"/>
          </a:xfrm>
          <a:custGeom>
            <a:avLst/>
            <a:gdLst/>
            <a:ahLst/>
            <a:cxnLst/>
            <a:rect l="l" t="t" r="r" b="b"/>
            <a:pathLst>
              <a:path w="114300" h="1231900">
                <a:moveTo>
                  <a:pt x="0" y="0"/>
                </a:moveTo>
                <a:lnTo>
                  <a:pt x="114300" y="0"/>
                </a:lnTo>
                <a:lnTo>
                  <a:pt x="114300" y="1231900"/>
                </a:lnTo>
                <a:lnTo>
                  <a:pt x="0" y="12319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E747B"/>
            </a:solidFill>
          </a:ln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4089255" y="5057774"/>
            <a:ext cx="623455" cy="77932"/>
          </a:xfrm>
          <a:custGeom>
            <a:avLst/>
            <a:gdLst/>
            <a:ahLst/>
            <a:cxnLst/>
            <a:rect l="l" t="t" r="r" b="b"/>
            <a:pathLst>
              <a:path w="914400" h="114300">
                <a:moveTo>
                  <a:pt x="0" y="114299"/>
                </a:moveTo>
                <a:lnTo>
                  <a:pt x="914400" y="114299"/>
                </a:lnTo>
                <a:lnTo>
                  <a:pt x="914400" y="0"/>
                </a:lnTo>
                <a:lnTo>
                  <a:pt x="0" y="0"/>
                </a:lnTo>
                <a:lnTo>
                  <a:pt x="0" y="114299"/>
                </a:lnTo>
                <a:close/>
              </a:path>
            </a:pathLst>
          </a:custGeom>
          <a:solidFill>
            <a:srgbClr val="6E747B"/>
          </a:solidFill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4089256" y="5057774"/>
            <a:ext cx="640773" cy="77932"/>
          </a:xfrm>
          <a:custGeom>
            <a:avLst/>
            <a:gdLst/>
            <a:ahLst/>
            <a:cxnLst/>
            <a:rect l="l" t="t" r="r" b="b"/>
            <a:pathLst>
              <a:path w="939800" h="114300">
                <a:moveTo>
                  <a:pt x="0" y="0"/>
                </a:moveTo>
                <a:lnTo>
                  <a:pt x="939800" y="0"/>
                </a:lnTo>
                <a:lnTo>
                  <a:pt x="939800" y="114299"/>
                </a:lnTo>
                <a:lnTo>
                  <a:pt x="0" y="114299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E747B"/>
            </a:solidFill>
          </a:ln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942011" y="4315752"/>
            <a:ext cx="645535" cy="386796"/>
          </a:xfrm>
          <a:prstGeom prst="rect">
            <a:avLst/>
          </a:prstGeom>
        </p:spPr>
        <p:txBody>
          <a:bodyPr vert="horz" wrap="square" lIns="0" tIns="8659" rIns="0" bIns="0" rtlCol="0">
            <a:spAutoFit/>
          </a:bodyPr>
          <a:lstStyle/>
          <a:p>
            <a:pPr marL="8659"/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Suite 401</a:t>
            </a:r>
            <a:endParaRPr sz="614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659" marR="3464"/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King Suite, 585 ft</a:t>
            </a:r>
            <a:r>
              <a:rPr sz="614" baseline="27777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 </a:t>
            </a:r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Sofa Bed</a:t>
            </a:r>
            <a:endParaRPr sz="614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659"/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Balcony</a:t>
            </a:r>
            <a:endParaRPr sz="614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3981864" y="3273570"/>
            <a:ext cx="668049" cy="386796"/>
          </a:xfrm>
          <a:prstGeom prst="rect">
            <a:avLst/>
          </a:prstGeom>
        </p:spPr>
        <p:txBody>
          <a:bodyPr vert="horz" wrap="square" lIns="0" tIns="8659" rIns="0" bIns="0" rtlCol="0">
            <a:spAutoFit/>
          </a:bodyPr>
          <a:lstStyle/>
          <a:p>
            <a:pPr marL="8659"/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Suite 311</a:t>
            </a:r>
            <a:endParaRPr sz="614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659"/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King Suite</a:t>
            </a:r>
            <a:endParaRPr sz="614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659" marR="3464"/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1and ½ Bathrooms</a:t>
            </a:r>
            <a:endParaRPr sz="614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6609051" y="4304434"/>
            <a:ext cx="623455" cy="583254"/>
          </a:xfrm>
          <a:prstGeom prst="rect">
            <a:avLst/>
          </a:prstGeom>
          <a:ln w="12700">
            <a:solidFill>
              <a:srgbClr val="6E747B"/>
            </a:solidFill>
          </a:ln>
        </p:spPr>
        <p:txBody>
          <a:bodyPr vert="horz" wrap="square" lIns="0" tIns="16019" rIns="0" bIns="0" rtlCol="0">
            <a:spAutoFit/>
          </a:bodyPr>
          <a:lstStyle/>
          <a:p>
            <a:pPr marL="19482"/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Loft 405</a:t>
            </a:r>
            <a:endParaRPr sz="614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9482" marR="69271"/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Two Level Loft  Spiral Staircase  Queen Bed  550 ft</a:t>
            </a:r>
            <a:r>
              <a:rPr sz="614" baseline="27777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sz="614" baseline="2777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5994256" y="4304434"/>
            <a:ext cx="614795" cy="831273"/>
          </a:xfrm>
          <a:custGeom>
            <a:avLst/>
            <a:gdLst/>
            <a:ahLst/>
            <a:cxnLst/>
            <a:rect l="l" t="t" r="r" b="b"/>
            <a:pathLst>
              <a:path w="901700" h="1219200">
                <a:moveTo>
                  <a:pt x="0" y="0"/>
                </a:moveTo>
                <a:lnTo>
                  <a:pt x="901700" y="0"/>
                </a:lnTo>
                <a:lnTo>
                  <a:pt x="9017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E747B"/>
            </a:solidFill>
          </a:ln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5370801" y="4304434"/>
            <a:ext cx="623455" cy="805295"/>
          </a:xfrm>
          <a:custGeom>
            <a:avLst/>
            <a:gdLst/>
            <a:ahLst/>
            <a:cxnLst/>
            <a:rect l="l" t="t" r="r" b="b"/>
            <a:pathLst>
              <a:path w="914400" h="1181100">
                <a:moveTo>
                  <a:pt x="0" y="0"/>
                </a:moveTo>
                <a:lnTo>
                  <a:pt x="914400" y="0"/>
                </a:lnTo>
                <a:lnTo>
                  <a:pt x="914400" y="1181100"/>
                </a:lnTo>
                <a:lnTo>
                  <a:pt x="0" y="11811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E747B"/>
            </a:solidFill>
          </a:ln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5994256" y="4304435"/>
            <a:ext cx="614795" cy="576696"/>
          </a:xfrm>
          <a:prstGeom prst="rect">
            <a:avLst/>
          </a:prstGeom>
          <a:ln w="12700">
            <a:solidFill>
              <a:srgbClr val="6E747B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15586"/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Loft 404</a:t>
            </a:r>
            <a:endParaRPr sz="614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5586" marR="64509"/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Two Level Loft  Spiral Staircase  Queen Bed  550 ft</a:t>
            </a:r>
            <a:r>
              <a:rPr sz="614" baseline="27777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sz="614" baseline="2777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5370801" y="4304435"/>
            <a:ext cx="623455" cy="576696"/>
          </a:xfrm>
          <a:prstGeom prst="rect">
            <a:avLst/>
          </a:prstGeom>
          <a:ln w="12700">
            <a:solidFill>
              <a:srgbClr val="6E747B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20348"/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Loft 403</a:t>
            </a:r>
            <a:endParaRPr sz="614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0348" marR="68405"/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Two Level Loft  Spiral Staircase  Queen Bed  550 ft</a:t>
            </a:r>
            <a:r>
              <a:rPr sz="614" baseline="27777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sz="614" baseline="2777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4712710" y="5031797"/>
            <a:ext cx="2589068" cy="103909"/>
          </a:xfrm>
          <a:custGeom>
            <a:avLst/>
            <a:gdLst/>
            <a:ahLst/>
            <a:cxnLst/>
            <a:rect l="l" t="t" r="r" b="b"/>
            <a:pathLst>
              <a:path w="3797300" h="152400">
                <a:moveTo>
                  <a:pt x="0" y="152399"/>
                </a:moveTo>
                <a:lnTo>
                  <a:pt x="3797300" y="152399"/>
                </a:lnTo>
                <a:lnTo>
                  <a:pt x="3797300" y="0"/>
                </a:lnTo>
                <a:lnTo>
                  <a:pt x="0" y="0"/>
                </a:lnTo>
                <a:lnTo>
                  <a:pt x="0" y="152399"/>
                </a:lnTo>
                <a:close/>
              </a:path>
            </a:pathLst>
          </a:custGeom>
          <a:solidFill>
            <a:srgbClr val="6E747B"/>
          </a:solidFill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4712710" y="5031797"/>
            <a:ext cx="2589068" cy="103909"/>
          </a:xfrm>
          <a:custGeom>
            <a:avLst/>
            <a:gdLst/>
            <a:ahLst/>
            <a:cxnLst/>
            <a:rect l="l" t="t" r="r" b="b"/>
            <a:pathLst>
              <a:path w="3797300" h="152400">
                <a:moveTo>
                  <a:pt x="0" y="152399"/>
                </a:moveTo>
                <a:lnTo>
                  <a:pt x="3797300" y="152399"/>
                </a:lnTo>
                <a:lnTo>
                  <a:pt x="3797300" y="0"/>
                </a:lnTo>
                <a:lnTo>
                  <a:pt x="0" y="0"/>
                </a:lnTo>
                <a:lnTo>
                  <a:pt x="0" y="152399"/>
                </a:lnTo>
                <a:close/>
              </a:path>
            </a:pathLst>
          </a:custGeom>
          <a:ln w="12700">
            <a:solidFill>
              <a:srgbClr val="6E747B"/>
            </a:solidFill>
          </a:ln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4803631" y="4304434"/>
            <a:ext cx="567170" cy="878160"/>
          </a:xfrm>
          <a:prstGeom prst="rect">
            <a:avLst/>
          </a:prstGeom>
          <a:ln w="12700">
            <a:solidFill>
              <a:srgbClr val="6E747B"/>
            </a:solidFill>
          </a:ln>
        </p:spPr>
        <p:txBody>
          <a:bodyPr vert="horz" wrap="square" lIns="0" tIns="27276" rIns="0" bIns="0" rtlCol="0">
            <a:spAutoFit/>
          </a:bodyPr>
          <a:lstStyle/>
          <a:p>
            <a:pPr marL="26410" marR="175775"/>
            <a:r>
              <a:rPr lang="en-US"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Loft 402</a:t>
            </a:r>
          </a:p>
          <a:p>
            <a:pPr marL="26410" marR="175775"/>
            <a:r>
              <a:rPr lang="en-US"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Two Level Loft  Spiral Staircase  Queen Bed  550t</a:t>
            </a:r>
            <a:r>
              <a:rPr lang="en-US" sz="614" baseline="27777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sz="614" baseline="27777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6410" marR="175775"/>
            <a:endParaRPr lang="en-US" sz="614" dirty="0">
              <a:solidFill>
                <a:srgbClr val="6E747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6410" marR="175775"/>
            <a:endParaRPr sz="614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3924733" y="5334865"/>
            <a:ext cx="4216977" cy="831273"/>
          </a:xfrm>
          <a:custGeom>
            <a:avLst/>
            <a:gdLst/>
            <a:ahLst/>
            <a:cxnLst/>
            <a:rect l="l" t="t" r="r" b="b"/>
            <a:pathLst>
              <a:path w="6184900" h="1219200">
                <a:moveTo>
                  <a:pt x="0" y="0"/>
                </a:moveTo>
                <a:lnTo>
                  <a:pt x="6184900" y="0"/>
                </a:lnTo>
                <a:lnTo>
                  <a:pt x="6184900" y="1219199"/>
                </a:lnTo>
                <a:lnTo>
                  <a:pt x="0" y="1219199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E747B"/>
            </a:solidFill>
          </a:ln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6617710" y="5334865"/>
            <a:ext cx="614795" cy="831273"/>
          </a:xfrm>
          <a:custGeom>
            <a:avLst/>
            <a:gdLst/>
            <a:ahLst/>
            <a:cxnLst/>
            <a:rect l="l" t="t" r="r" b="b"/>
            <a:pathLst>
              <a:path w="901700" h="1219200">
                <a:moveTo>
                  <a:pt x="0" y="0"/>
                </a:moveTo>
                <a:lnTo>
                  <a:pt x="901700" y="0"/>
                </a:lnTo>
                <a:lnTo>
                  <a:pt x="901700" y="1219199"/>
                </a:lnTo>
                <a:lnTo>
                  <a:pt x="0" y="1219199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E747B"/>
            </a:solidFill>
          </a:ln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7258483" y="5334865"/>
            <a:ext cx="874568" cy="831273"/>
          </a:xfrm>
          <a:custGeom>
            <a:avLst/>
            <a:gdLst/>
            <a:ahLst/>
            <a:cxnLst/>
            <a:rect l="l" t="t" r="r" b="b"/>
            <a:pathLst>
              <a:path w="1282700" h="1219200">
                <a:moveTo>
                  <a:pt x="0" y="0"/>
                </a:moveTo>
                <a:lnTo>
                  <a:pt x="1282700" y="0"/>
                </a:lnTo>
                <a:lnTo>
                  <a:pt x="1282700" y="1219199"/>
                </a:lnTo>
                <a:lnTo>
                  <a:pt x="0" y="1219199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E747B"/>
            </a:solidFill>
          </a:ln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7327756" y="5368212"/>
            <a:ext cx="800966" cy="103257"/>
          </a:xfrm>
          <a:prstGeom prst="rect">
            <a:avLst/>
          </a:prstGeom>
        </p:spPr>
        <p:txBody>
          <a:bodyPr vert="horz" wrap="square" lIns="0" tIns="8659" rIns="0" bIns="0" rtlCol="0">
            <a:spAutoFit/>
          </a:bodyPr>
          <a:lstStyle/>
          <a:p>
            <a:pPr marL="16019"/>
            <a:r>
              <a:rPr lang="en-US"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Sales Office</a:t>
            </a:r>
            <a:endParaRPr sz="614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4435619" y="5906366"/>
            <a:ext cx="285750" cy="221815"/>
          </a:xfrm>
          <a:prstGeom prst="rect">
            <a:avLst/>
          </a:prstGeom>
          <a:ln w="12700">
            <a:solidFill>
              <a:srgbClr val="6E747B"/>
            </a:solidFill>
          </a:ln>
        </p:spPr>
        <p:txBody>
          <a:bodyPr vert="horz" wrap="square" lIns="0" tIns="32472" rIns="0" bIns="0" rtlCol="0">
            <a:spAutoFit/>
          </a:bodyPr>
          <a:lstStyle/>
          <a:p>
            <a:pPr marL="14287"/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Elevator</a:t>
            </a:r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7216705" y="5141064"/>
            <a:ext cx="1038227" cy="193409"/>
          </a:xfrm>
          <a:prstGeom prst="rect">
            <a:avLst/>
          </a:prstGeom>
        </p:spPr>
        <p:txBody>
          <a:bodyPr vert="horz" wrap="square" lIns="0" tIns="8659" rIns="0" bIns="0" rtlCol="0">
            <a:spAutoFit/>
          </a:bodyPr>
          <a:lstStyle/>
          <a:p>
            <a:pPr marL="8659"/>
            <a:r>
              <a:rPr sz="1200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FLOOR 5</a:t>
            </a:r>
            <a:endParaRPr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7232506" y="5334865"/>
            <a:ext cx="86591" cy="727364"/>
          </a:xfrm>
          <a:custGeom>
            <a:avLst/>
            <a:gdLst/>
            <a:ahLst/>
            <a:cxnLst/>
            <a:rect l="l" t="t" r="r" b="b"/>
            <a:pathLst>
              <a:path w="127000" h="1066800">
                <a:moveTo>
                  <a:pt x="0" y="1066799"/>
                </a:moveTo>
                <a:lnTo>
                  <a:pt x="127000" y="1066799"/>
                </a:lnTo>
                <a:lnTo>
                  <a:pt x="127000" y="0"/>
                </a:lnTo>
                <a:lnTo>
                  <a:pt x="0" y="0"/>
                </a:lnTo>
                <a:lnTo>
                  <a:pt x="0" y="10667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7232506" y="5334865"/>
            <a:ext cx="86591" cy="831273"/>
          </a:xfrm>
          <a:custGeom>
            <a:avLst/>
            <a:gdLst/>
            <a:ahLst/>
            <a:cxnLst/>
            <a:rect l="l" t="t" r="r" b="b"/>
            <a:pathLst>
              <a:path w="127000" h="1219200">
                <a:moveTo>
                  <a:pt x="0" y="0"/>
                </a:moveTo>
                <a:lnTo>
                  <a:pt x="127000" y="0"/>
                </a:lnTo>
                <a:lnTo>
                  <a:pt x="127000" y="1219199"/>
                </a:lnTo>
                <a:lnTo>
                  <a:pt x="0" y="1219199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E747B"/>
            </a:solidFill>
          </a:ln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4721369" y="5326206"/>
            <a:ext cx="77932" cy="839932"/>
          </a:xfrm>
          <a:custGeom>
            <a:avLst/>
            <a:gdLst/>
            <a:ahLst/>
            <a:cxnLst/>
            <a:rect l="l" t="t" r="r" b="b"/>
            <a:pathLst>
              <a:path w="114300" h="1231900">
                <a:moveTo>
                  <a:pt x="0" y="1231899"/>
                </a:moveTo>
                <a:lnTo>
                  <a:pt x="114300" y="1231899"/>
                </a:lnTo>
                <a:lnTo>
                  <a:pt x="114300" y="0"/>
                </a:lnTo>
                <a:lnTo>
                  <a:pt x="0" y="0"/>
                </a:lnTo>
                <a:lnTo>
                  <a:pt x="0" y="1231899"/>
                </a:lnTo>
                <a:close/>
              </a:path>
            </a:pathLst>
          </a:custGeom>
          <a:solidFill>
            <a:srgbClr val="6E747B"/>
          </a:solidFill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4721369" y="5326206"/>
            <a:ext cx="77932" cy="839932"/>
          </a:xfrm>
          <a:custGeom>
            <a:avLst/>
            <a:gdLst/>
            <a:ahLst/>
            <a:cxnLst/>
            <a:rect l="l" t="t" r="r" b="b"/>
            <a:pathLst>
              <a:path w="114300" h="1231900">
                <a:moveTo>
                  <a:pt x="0" y="0"/>
                </a:moveTo>
                <a:lnTo>
                  <a:pt x="114300" y="0"/>
                </a:lnTo>
                <a:lnTo>
                  <a:pt x="114300" y="1231899"/>
                </a:lnTo>
                <a:lnTo>
                  <a:pt x="0" y="1231899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E747B"/>
            </a:solidFill>
          </a:ln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4089256" y="6088206"/>
            <a:ext cx="640773" cy="77932"/>
          </a:xfrm>
          <a:custGeom>
            <a:avLst/>
            <a:gdLst/>
            <a:ahLst/>
            <a:cxnLst/>
            <a:rect l="l" t="t" r="r" b="b"/>
            <a:pathLst>
              <a:path w="939800" h="114300">
                <a:moveTo>
                  <a:pt x="0" y="114299"/>
                </a:moveTo>
                <a:lnTo>
                  <a:pt x="939800" y="114299"/>
                </a:lnTo>
                <a:lnTo>
                  <a:pt x="939800" y="0"/>
                </a:lnTo>
                <a:lnTo>
                  <a:pt x="0" y="0"/>
                </a:lnTo>
                <a:lnTo>
                  <a:pt x="0" y="114299"/>
                </a:lnTo>
                <a:close/>
              </a:path>
            </a:pathLst>
          </a:custGeom>
          <a:solidFill>
            <a:srgbClr val="6E747B"/>
          </a:solidFill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4089256" y="6088206"/>
            <a:ext cx="640773" cy="77932"/>
          </a:xfrm>
          <a:custGeom>
            <a:avLst/>
            <a:gdLst/>
            <a:ahLst/>
            <a:cxnLst/>
            <a:rect l="l" t="t" r="r" b="b"/>
            <a:pathLst>
              <a:path w="939800" h="114300">
                <a:moveTo>
                  <a:pt x="0" y="0"/>
                </a:moveTo>
                <a:lnTo>
                  <a:pt x="939800" y="0"/>
                </a:lnTo>
                <a:lnTo>
                  <a:pt x="939800" y="114299"/>
                </a:lnTo>
                <a:lnTo>
                  <a:pt x="0" y="114299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E747B"/>
            </a:solidFill>
          </a:ln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3942011" y="5347750"/>
            <a:ext cx="645535" cy="386796"/>
          </a:xfrm>
          <a:prstGeom prst="rect">
            <a:avLst/>
          </a:prstGeom>
        </p:spPr>
        <p:txBody>
          <a:bodyPr vert="horz" wrap="square" lIns="0" tIns="8659" rIns="0" bIns="0" rtlCol="0">
            <a:spAutoFit/>
          </a:bodyPr>
          <a:lstStyle/>
          <a:p>
            <a:pPr marL="8659"/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Suite 501</a:t>
            </a:r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659" marR="3464"/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King Suite, 585 ft</a:t>
            </a:r>
            <a:r>
              <a:rPr sz="614" baseline="27777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 </a:t>
            </a:r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Sofa Bed</a:t>
            </a:r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659"/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Balcony</a:t>
            </a:r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6622040" y="5343802"/>
            <a:ext cx="619125" cy="197770"/>
          </a:xfrm>
          <a:prstGeom prst="rect">
            <a:avLst/>
          </a:prstGeom>
        </p:spPr>
        <p:txBody>
          <a:bodyPr vert="horz" wrap="square" lIns="0" tIns="8659" rIns="0" bIns="0" rtlCol="0">
            <a:spAutoFit/>
          </a:bodyPr>
          <a:lstStyle/>
          <a:p>
            <a:pPr marL="6494"/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Loft 405</a:t>
            </a:r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494"/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Second Floor</a:t>
            </a:r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5994255" y="5334865"/>
            <a:ext cx="623455" cy="822614"/>
          </a:xfrm>
          <a:custGeom>
            <a:avLst/>
            <a:gdLst/>
            <a:ahLst/>
            <a:cxnLst/>
            <a:rect l="l" t="t" r="r" b="b"/>
            <a:pathLst>
              <a:path w="914400" h="1206500">
                <a:moveTo>
                  <a:pt x="0" y="0"/>
                </a:moveTo>
                <a:lnTo>
                  <a:pt x="914400" y="0"/>
                </a:lnTo>
                <a:lnTo>
                  <a:pt x="914400" y="1206499"/>
                </a:lnTo>
                <a:lnTo>
                  <a:pt x="0" y="1206499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E747B"/>
            </a:solidFill>
          </a:ln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" name="object 82"/>
          <p:cNvSpPr/>
          <p:nvPr/>
        </p:nvSpPr>
        <p:spPr>
          <a:xfrm>
            <a:off x="5370801" y="5334865"/>
            <a:ext cx="623455" cy="822614"/>
          </a:xfrm>
          <a:custGeom>
            <a:avLst/>
            <a:gdLst/>
            <a:ahLst/>
            <a:cxnLst/>
            <a:rect l="l" t="t" r="r" b="b"/>
            <a:pathLst>
              <a:path w="914400" h="1206500">
                <a:moveTo>
                  <a:pt x="0" y="0"/>
                </a:moveTo>
                <a:lnTo>
                  <a:pt x="914400" y="0"/>
                </a:lnTo>
                <a:lnTo>
                  <a:pt x="914400" y="1206499"/>
                </a:lnTo>
                <a:lnTo>
                  <a:pt x="0" y="1206499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E747B"/>
            </a:solidFill>
          </a:ln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5998585" y="5337533"/>
            <a:ext cx="614795" cy="197770"/>
          </a:xfrm>
          <a:prstGeom prst="rect">
            <a:avLst/>
          </a:prstGeom>
        </p:spPr>
        <p:txBody>
          <a:bodyPr vert="horz" wrap="square" lIns="0" tIns="8659" rIns="0" bIns="0" rtlCol="0">
            <a:spAutoFit/>
          </a:bodyPr>
          <a:lstStyle/>
          <a:p>
            <a:pPr marL="11257"/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Loft 404</a:t>
            </a:r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257"/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Second Floor</a:t>
            </a:r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5375131" y="5337533"/>
            <a:ext cx="614795" cy="197770"/>
          </a:xfrm>
          <a:prstGeom prst="rect">
            <a:avLst/>
          </a:prstGeom>
        </p:spPr>
        <p:txBody>
          <a:bodyPr vert="horz" wrap="square" lIns="0" tIns="8659" rIns="0" bIns="0" rtlCol="0">
            <a:spAutoFit/>
          </a:bodyPr>
          <a:lstStyle/>
          <a:p>
            <a:pPr marL="16019"/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Loft 403</a:t>
            </a:r>
            <a:endParaRPr sz="614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6019"/>
            <a:r>
              <a:rPr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Second Floor</a:t>
            </a:r>
            <a:endParaRPr sz="614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7306108" y="6062229"/>
            <a:ext cx="12989" cy="38966"/>
          </a:xfrm>
          <a:custGeom>
            <a:avLst/>
            <a:gdLst/>
            <a:ahLst/>
            <a:cxnLst/>
            <a:rect l="l" t="t" r="r" b="b"/>
            <a:pathLst>
              <a:path w="19050" h="57150">
                <a:moveTo>
                  <a:pt x="0" y="57149"/>
                </a:moveTo>
                <a:lnTo>
                  <a:pt x="19050" y="57149"/>
                </a:lnTo>
                <a:lnTo>
                  <a:pt x="19050" y="0"/>
                </a:lnTo>
                <a:lnTo>
                  <a:pt x="0" y="0"/>
                </a:lnTo>
                <a:lnTo>
                  <a:pt x="0" y="571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4799301" y="6062229"/>
            <a:ext cx="2437534" cy="38966"/>
          </a:xfrm>
          <a:custGeom>
            <a:avLst/>
            <a:gdLst/>
            <a:ahLst/>
            <a:cxnLst/>
            <a:rect l="l" t="t" r="r" b="b"/>
            <a:pathLst>
              <a:path w="3575050" h="57150">
                <a:moveTo>
                  <a:pt x="0" y="57149"/>
                </a:moveTo>
                <a:lnTo>
                  <a:pt x="3575050" y="57149"/>
                </a:lnTo>
                <a:lnTo>
                  <a:pt x="3575050" y="0"/>
                </a:lnTo>
                <a:lnTo>
                  <a:pt x="0" y="0"/>
                </a:lnTo>
                <a:lnTo>
                  <a:pt x="0" y="571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7" name="object 87"/>
          <p:cNvSpPr/>
          <p:nvPr/>
        </p:nvSpPr>
        <p:spPr>
          <a:xfrm>
            <a:off x="4799301" y="6062229"/>
            <a:ext cx="2519795" cy="103909"/>
          </a:xfrm>
          <a:custGeom>
            <a:avLst/>
            <a:gdLst/>
            <a:ahLst/>
            <a:cxnLst/>
            <a:rect l="l" t="t" r="r" b="b"/>
            <a:pathLst>
              <a:path w="3695700" h="152400">
                <a:moveTo>
                  <a:pt x="0" y="152399"/>
                </a:moveTo>
                <a:lnTo>
                  <a:pt x="3695700" y="152399"/>
                </a:lnTo>
                <a:lnTo>
                  <a:pt x="3695700" y="0"/>
                </a:lnTo>
                <a:lnTo>
                  <a:pt x="0" y="0"/>
                </a:lnTo>
                <a:lnTo>
                  <a:pt x="0" y="152399"/>
                </a:lnTo>
                <a:close/>
              </a:path>
            </a:pathLst>
          </a:custGeom>
          <a:ln w="12700">
            <a:solidFill>
              <a:srgbClr val="6E747B"/>
            </a:solidFill>
          </a:ln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4803631" y="5349838"/>
            <a:ext cx="562841" cy="199519"/>
          </a:xfrm>
          <a:prstGeom prst="rect">
            <a:avLst/>
          </a:prstGeom>
        </p:spPr>
        <p:txBody>
          <a:bodyPr vert="horz" wrap="square" lIns="0" tIns="10391" rIns="0" bIns="0" rtlCol="0">
            <a:spAutoFit/>
          </a:bodyPr>
          <a:lstStyle/>
          <a:p>
            <a:pPr marL="16019"/>
            <a:r>
              <a:rPr lang="en-US"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Loft 402</a:t>
            </a:r>
            <a:endParaRPr lang="en-US" sz="614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6019"/>
            <a:r>
              <a:rPr lang="en-US" sz="614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Second Floor</a:t>
            </a:r>
            <a:endParaRPr lang="en-US" sz="614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9" name="object 89"/>
          <p:cNvSpPr/>
          <p:nvPr/>
        </p:nvSpPr>
        <p:spPr>
          <a:xfrm>
            <a:off x="4803631" y="6101195"/>
            <a:ext cx="2511136" cy="112568"/>
          </a:xfrm>
          <a:custGeom>
            <a:avLst/>
            <a:gdLst/>
            <a:ahLst/>
            <a:cxnLst/>
            <a:rect l="l" t="t" r="r" b="b"/>
            <a:pathLst>
              <a:path w="3683000" h="165100">
                <a:moveTo>
                  <a:pt x="0" y="165099"/>
                </a:moveTo>
                <a:lnTo>
                  <a:pt x="3683000" y="165099"/>
                </a:lnTo>
                <a:lnTo>
                  <a:pt x="3683000" y="0"/>
                </a:lnTo>
                <a:lnTo>
                  <a:pt x="0" y="0"/>
                </a:lnTo>
                <a:lnTo>
                  <a:pt x="0" y="1650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1" name="object 91"/>
          <p:cNvSpPr/>
          <p:nvPr/>
        </p:nvSpPr>
        <p:spPr>
          <a:xfrm>
            <a:off x="6903460" y="3836843"/>
            <a:ext cx="51955" cy="1527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" name="object 92"/>
          <p:cNvSpPr/>
          <p:nvPr/>
        </p:nvSpPr>
        <p:spPr>
          <a:xfrm>
            <a:off x="7029018" y="4010085"/>
            <a:ext cx="322983" cy="51955"/>
          </a:xfrm>
          <a:custGeom>
            <a:avLst/>
            <a:gdLst/>
            <a:ahLst/>
            <a:cxnLst/>
            <a:rect l="l" t="t" r="r" b="b"/>
            <a:pathLst>
              <a:path w="473710" h="76200">
                <a:moveTo>
                  <a:pt x="460246" y="44450"/>
                </a:moveTo>
                <a:lnTo>
                  <a:pt x="396887" y="44450"/>
                </a:lnTo>
                <a:lnTo>
                  <a:pt x="396925" y="76200"/>
                </a:lnTo>
                <a:lnTo>
                  <a:pt x="460246" y="44450"/>
                </a:lnTo>
                <a:close/>
              </a:path>
              <a:path w="473710" h="76200">
                <a:moveTo>
                  <a:pt x="396836" y="0"/>
                </a:moveTo>
                <a:lnTo>
                  <a:pt x="396875" y="31750"/>
                </a:lnTo>
                <a:lnTo>
                  <a:pt x="6337" y="32181"/>
                </a:lnTo>
                <a:lnTo>
                  <a:pt x="2832" y="32181"/>
                </a:lnTo>
                <a:lnTo>
                  <a:pt x="0" y="35026"/>
                </a:lnTo>
                <a:lnTo>
                  <a:pt x="0" y="42049"/>
                </a:lnTo>
                <a:lnTo>
                  <a:pt x="2844" y="44881"/>
                </a:lnTo>
                <a:lnTo>
                  <a:pt x="460246" y="44450"/>
                </a:lnTo>
                <a:lnTo>
                  <a:pt x="473087" y="38011"/>
                </a:lnTo>
                <a:lnTo>
                  <a:pt x="396836" y="0"/>
                </a:lnTo>
                <a:close/>
              </a:path>
            </a:pathLst>
          </a:custGeom>
          <a:solidFill>
            <a:srgbClr val="6E747B"/>
          </a:solidFill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" name="object 93"/>
          <p:cNvSpPr/>
          <p:nvPr/>
        </p:nvSpPr>
        <p:spPr>
          <a:xfrm>
            <a:off x="5769119" y="3828184"/>
            <a:ext cx="51955" cy="1527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4" name="object 94"/>
          <p:cNvSpPr/>
          <p:nvPr/>
        </p:nvSpPr>
        <p:spPr>
          <a:xfrm>
            <a:off x="4245119" y="3862821"/>
            <a:ext cx="51955" cy="1527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" name="object 95"/>
          <p:cNvSpPr/>
          <p:nvPr/>
        </p:nvSpPr>
        <p:spPr>
          <a:xfrm>
            <a:off x="4115233" y="2979593"/>
            <a:ext cx="163838" cy="519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6" name="object 96"/>
          <p:cNvSpPr/>
          <p:nvPr/>
        </p:nvSpPr>
        <p:spPr>
          <a:xfrm>
            <a:off x="4574165" y="1498888"/>
            <a:ext cx="163838" cy="5195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7" name="object 97"/>
          <p:cNvSpPr/>
          <p:nvPr/>
        </p:nvSpPr>
        <p:spPr>
          <a:xfrm>
            <a:off x="5414096" y="1226128"/>
            <a:ext cx="51955" cy="15395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" name="object 98"/>
          <p:cNvSpPr/>
          <p:nvPr/>
        </p:nvSpPr>
        <p:spPr>
          <a:xfrm>
            <a:off x="6219392" y="1226127"/>
            <a:ext cx="51955" cy="15371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object 99"/>
          <p:cNvSpPr/>
          <p:nvPr/>
        </p:nvSpPr>
        <p:spPr>
          <a:xfrm>
            <a:off x="6946755" y="1226127"/>
            <a:ext cx="51955" cy="15371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object 100"/>
          <p:cNvSpPr/>
          <p:nvPr/>
        </p:nvSpPr>
        <p:spPr>
          <a:xfrm>
            <a:off x="7509596" y="1226127"/>
            <a:ext cx="51955" cy="15371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1" name="object 101"/>
          <p:cNvSpPr/>
          <p:nvPr/>
        </p:nvSpPr>
        <p:spPr>
          <a:xfrm>
            <a:off x="7106949" y="5049176"/>
            <a:ext cx="322983" cy="51955"/>
          </a:xfrm>
          <a:custGeom>
            <a:avLst/>
            <a:gdLst/>
            <a:ahLst/>
            <a:cxnLst/>
            <a:rect l="l" t="t" r="r" b="b"/>
            <a:pathLst>
              <a:path w="473710" h="76200">
                <a:moveTo>
                  <a:pt x="460246" y="44450"/>
                </a:moveTo>
                <a:lnTo>
                  <a:pt x="396887" y="44450"/>
                </a:lnTo>
                <a:lnTo>
                  <a:pt x="396925" y="76200"/>
                </a:lnTo>
                <a:lnTo>
                  <a:pt x="460246" y="44450"/>
                </a:lnTo>
                <a:close/>
              </a:path>
              <a:path w="473710" h="76200">
                <a:moveTo>
                  <a:pt x="396836" y="0"/>
                </a:moveTo>
                <a:lnTo>
                  <a:pt x="396875" y="31750"/>
                </a:lnTo>
                <a:lnTo>
                  <a:pt x="6337" y="32181"/>
                </a:lnTo>
                <a:lnTo>
                  <a:pt x="2832" y="32181"/>
                </a:lnTo>
                <a:lnTo>
                  <a:pt x="0" y="35026"/>
                </a:lnTo>
                <a:lnTo>
                  <a:pt x="0" y="42049"/>
                </a:lnTo>
                <a:lnTo>
                  <a:pt x="2844" y="44881"/>
                </a:lnTo>
                <a:lnTo>
                  <a:pt x="460246" y="44450"/>
                </a:lnTo>
                <a:lnTo>
                  <a:pt x="473087" y="38011"/>
                </a:lnTo>
                <a:lnTo>
                  <a:pt x="396836" y="0"/>
                </a:lnTo>
                <a:close/>
              </a:path>
            </a:pathLst>
          </a:custGeom>
          <a:solidFill>
            <a:srgbClr val="6E747B"/>
          </a:solidFill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" name="object 102"/>
          <p:cNvSpPr/>
          <p:nvPr/>
        </p:nvSpPr>
        <p:spPr>
          <a:xfrm>
            <a:off x="6721619" y="4936547"/>
            <a:ext cx="51955" cy="1527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" name="object 103"/>
          <p:cNvSpPr/>
          <p:nvPr/>
        </p:nvSpPr>
        <p:spPr>
          <a:xfrm>
            <a:off x="6063528" y="4936547"/>
            <a:ext cx="51955" cy="1527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" name="object 104"/>
          <p:cNvSpPr/>
          <p:nvPr/>
        </p:nvSpPr>
        <p:spPr>
          <a:xfrm>
            <a:off x="5457392" y="4936547"/>
            <a:ext cx="51955" cy="1527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" name="object 105"/>
          <p:cNvSpPr/>
          <p:nvPr/>
        </p:nvSpPr>
        <p:spPr>
          <a:xfrm>
            <a:off x="4981142" y="4927888"/>
            <a:ext cx="51955" cy="1527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6" name="object 106"/>
          <p:cNvSpPr/>
          <p:nvPr/>
        </p:nvSpPr>
        <p:spPr>
          <a:xfrm>
            <a:off x="4245119" y="4936547"/>
            <a:ext cx="51955" cy="1527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" name="object 107"/>
          <p:cNvSpPr/>
          <p:nvPr/>
        </p:nvSpPr>
        <p:spPr>
          <a:xfrm>
            <a:off x="4245119" y="5992956"/>
            <a:ext cx="51955" cy="1527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1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7909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49386" y="137123"/>
            <a:ext cx="3125932" cy="388988"/>
          </a:xfrm>
          <a:prstGeom prst="rect">
            <a:avLst/>
          </a:prstGeom>
        </p:spPr>
        <p:txBody>
          <a:bodyPr vert="horz" wrap="square" lIns="0" tIns="27276" rIns="0" bIns="0" rtlCol="0">
            <a:spAutoFit/>
          </a:bodyPr>
          <a:lstStyle/>
          <a:p>
            <a:pPr marL="25977">
              <a:spcBef>
                <a:spcPts val="215"/>
              </a:spcBef>
            </a:pPr>
            <a:r>
              <a:rPr sz="818" dirty="0">
                <a:solidFill>
                  <a:srgbClr val="C34B5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OUR PROPERTY</a:t>
            </a:r>
            <a:endParaRPr sz="818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659">
              <a:spcBef>
                <a:spcPts val="245"/>
              </a:spcBef>
            </a:pPr>
            <a:r>
              <a:rPr lang="en-US" sz="1364" i="1" dirty="0">
                <a:solidFill>
                  <a:srgbClr val="71747B"/>
                </a:solidFill>
                <a:latin typeface="Arial"/>
                <a:cs typeface="Arial"/>
              </a:rPr>
              <a:t>SITE PLAN – BUNGALOWS &amp; VILLAS</a:t>
            </a:r>
          </a:p>
        </p:txBody>
      </p:sp>
      <p:sp>
        <p:nvSpPr>
          <p:cNvPr id="3" name="object 3"/>
          <p:cNvSpPr/>
          <p:nvPr/>
        </p:nvSpPr>
        <p:spPr>
          <a:xfrm>
            <a:off x="4058949" y="5073361"/>
            <a:ext cx="4208318" cy="753341"/>
          </a:xfrm>
          <a:custGeom>
            <a:avLst/>
            <a:gdLst/>
            <a:ahLst/>
            <a:cxnLst/>
            <a:rect l="l" t="t" r="r" b="b"/>
            <a:pathLst>
              <a:path w="6172200" h="1104900">
                <a:moveTo>
                  <a:pt x="0" y="0"/>
                </a:moveTo>
                <a:lnTo>
                  <a:pt x="6172200" y="0"/>
                </a:lnTo>
                <a:lnTo>
                  <a:pt x="6172200" y="1104900"/>
                </a:lnTo>
                <a:lnTo>
                  <a:pt x="0" y="11049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E747B"/>
            </a:solidFill>
          </a:ln>
        </p:spPr>
        <p:txBody>
          <a:bodyPr wrap="square" lIns="0" tIns="0" rIns="0" bIns="0" rtlCol="0"/>
          <a:lstStyle/>
          <a:p>
            <a:endParaRPr sz="1227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24017" y="2172565"/>
            <a:ext cx="900545" cy="1038682"/>
          </a:xfrm>
          <a:prstGeom prst="rect">
            <a:avLst/>
          </a:prstGeom>
          <a:solidFill>
            <a:srgbClr val="308CC2"/>
          </a:solidFill>
          <a:ln w="12700">
            <a:solidFill>
              <a:srgbClr val="6E747B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59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endParaRPr sz="1159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endParaRPr sz="1159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endParaRPr sz="1159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spcBef>
                <a:spcPts val="34"/>
              </a:spcBef>
            </a:pPr>
            <a:r>
              <a:rPr lang="en-US" sz="129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Adult </a:t>
            </a:r>
            <a:endParaRPr sz="1295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5195" algn="ctr"/>
            <a:r>
              <a:rPr sz="818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Pool</a:t>
            </a:r>
            <a:endParaRPr sz="818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29663" y="4214968"/>
            <a:ext cx="808759" cy="302670"/>
          </a:xfrm>
          <a:prstGeom prst="rect">
            <a:avLst/>
          </a:prstGeom>
        </p:spPr>
        <p:txBody>
          <a:bodyPr vert="horz" wrap="square" lIns="0" tIns="8659" rIns="0" bIns="0" rtlCol="0">
            <a:spAutoFit/>
          </a:bodyPr>
          <a:lstStyle/>
          <a:p>
            <a:pPr marL="8659">
              <a:spcBef>
                <a:spcPts val="68"/>
              </a:spcBef>
            </a:pPr>
            <a:r>
              <a:rPr sz="955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Mermaid Lounge</a:t>
            </a:r>
            <a:endParaRPr sz="95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22493" y="5354626"/>
            <a:ext cx="678439" cy="302670"/>
          </a:xfrm>
          <a:prstGeom prst="rect">
            <a:avLst/>
          </a:prstGeom>
        </p:spPr>
        <p:txBody>
          <a:bodyPr vert="horz" wrap="square" lIns="0" tIns="8659" rIns="0" bIns="0" rtlCol="0">
            <a:spAutoFit/>
          </a:bodyPr>
          <a:lstStyle/>
          <a:p>
            <a:pPr marL="8659">
              <a:spcBef>
                <a:spcPts val="68"/>
              </a:spcBef>
            </a:pPr>
            <a:r>
              <a:rPr sz="955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 Building</a:t>
            </a:r>
            <a:endParaRPr sz="955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06699" y="1644361"/>
            <a:ext cx="917864" cy="153450"/>
          </a:xfrm>
          <a:prstGeom prst="rect">
            <a:avLst/>
          </a:prstGeom>
          <a:ln w="12700">
            <a:solidFill>
              <a:srgbClr val="6E747B"/>
            </a:solidFill>
          </a:ln>
        </p:spPr>
        <p:txBody>
          <a:bodyPr vert="horz" wrap="square" lIns="0" tIns="37666" rIns="0" bIns="0" rtlCol="0">
            <a:spAutoFit/>
          </a:bodyPr>
          <a:lstStyle/>
          <a:p>
            <a:pPr marL="300029">
              <a:spcBef>
                <a:spcPts val="296"/>
              </a:spcBef>
            </a:pPr>
            <a:r>
              <a:rPr sz="750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Cabanas</a:t>
            </a:r>
            <a:endParaRPr sz="7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8095632"/>
              </p:ext>
            </p:extLst>
          </p:nvPr>
        </p:nvGraphicFramePr>
        <p:xfrm>
          <a:off x="6184756" y="1640031"/>
          <a:ext cx="2458912" cy="211334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39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98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26523">
                <a:tc>
                  <a:txBody>
                    <a:bodyPr/>
                    <a:lstStyle/>
                    <a:p>
                      <a:pPr marL="45085">
                        <a:lnSpc>
                          <a:spcPts val="1310"/>
                        </a:lnSpc>
                        <a:spcBef>
                          <a:spcPts val="235"/>
                        </a:spcBef>
                      </a:pPr>
                      <a:r>
                        <a:rPr sz="600" spc="0" dirty="0">
                          <a:solidFill>
                            <a:srgbClr val="6E747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Villa 110</a:t>
                      </a:r>
                      <a:endParaRPr sz="600" spc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45085" marR="89535">
                        <a:lnSpc>
                          <a:spcPts val="1100"/>
                        </a:lnSpc>
                        <a:spcBef>
                          <a:spcPts val="10"/>
                        </a:spcBef>
                      </a:pPr>
                      <a:r>
                        <a:rPr sz="600" spc="0" dirty="0">
                          <a:solidFill>
                            <a:srgbClr val="6E747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Poolside Manor Villa  Two Floors, 710 ft</a:t>
                      </a:r>
                      <a:r>
                        <a:rPr sz="600" spc="0" baseline="27777" dirty="0">
                          <a:solidFill>
                            <a:srgbClr val="6E747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  </a:t>
                      </a:r>
                      <a:r>
                        <a:rPr sz="600" spc="0" dirty="0">
                          <a:solidFill>
                            <a:srgbClr val="6E747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Private Terrace  </a:t>
                      </a:r>
                      <a:endParaRPr lang="en-US" sz="600" spc="0" dirty="0" smtClean="0">
                        <a:solidFill>
                          <a:srgbClr val="6E747B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45085" marR="89535">
                        <a:lnSpc>
                          <a:spcPts val="1100"/>
                        </a:lnSpc>
                        <a:spcBef>
                          <a:spcPts val="10"/>
                        </a:spcBef>
                      </a:pPr>
                      <a:r>
                        <a:rPr sz="600" spc="0" dirty="0" smtClean="0">
                          <a:solidFill>
                            <a:srgbClr val="6E747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Spiral </a:t>
                      </a:r>
                      <a:r>
                        <a:rPr sz="600" spc="0" dirty="0">
                          <a:solidFill>
                            <a:srgbClr val="6E747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Staircase</a:t>
                      </a:r>
                      <a:endParaRPr sz="600" spc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45085">
                        <a:lnSpc>
                          <a:spcPts val="960"/>
                        </a:lnSpc>
                      </a:pPr>
                      <a:r>
                        <a:rPr sz="600" spc="0" dirty="0">
                          <a:solidFill>
                            <a:srgbClr val="6E747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Two full bathrooms</a:t>
                      </a:r>
                      <a:endParaRPr sz="600" spc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45085" marR="592455">
                        <a:lnSpc>
                          <a:spcPct val="101800"/>
                        </a:lnSpc>
                      </a:pPr>
                      <a:r>
                        <a:rPr sz="600" spc="0" dirty="0">
                          <a:solidFill>
                            <a:srgbClr val="6E747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1King Bed  Sofa Bed</a:t>
                      </a:r>
                      <a:endParaRPr sz="600" spc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20349" marB="0">
                    <a:lnL w="12700">
                      <a:solidFill>
                        <a:srgbClr val="6E747B"/>
                      </a:solidFill>
                      <a:prstDash val="solid"/>
                    </a:lnL>
                    <a:lnR w="12700">
                      <a:solidFill>
                        <a:srgbClr val="6E747B"/>
                      </a:solidFill>
                      <a:prstDash val="solid"/>
                    </a:lnR>
                    <a:lnT w="12700">
                      <a:solidFill>
                        <a:srgbClr val="6E747B"/>
                      </a:solidFill>
                      <a:prstDash val="solid"/>
                    </a:lnT>
                    <a:lnB w="12700">
                      <a:solidFill>
                        <a:srgbClr val="6E747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310"/>
                        </a:lnSpc>
                        <a:spcBef>
                          <a:spcPts val="325"/>
                        </a:spcBef>
                      </a:pPr>
                      <a:r>
                        <a:rPr lang="en-US" sz="600" spc="0" dirty="0" smtClean="0">
                          <a:solidFill>
                            <a:srgbClr val="6E747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Spa </a:t>
                      </a:r>
                      <a:r>
                        <a:rPr sz="600" spc="0" dirty="0" smtClean="0">
                          <a:solidFill>
                            <a:srgbClr val="6E747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Villa </a:t>
                      </a:r>
                      <a:r>
                        <a:rPr sz="600" spc="0" dirty="0">
                          <a:solidFill>
                            <a:srgbClr val="6E747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112</a:t>
                      </a:r>
                      <a:endParaRPr sz="600" spc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50800" marR="662305">
                        <a:lnSpc>
                          <a:spcPts val="1100"/>
                        </a:lnSpc>
                        <a:spcBef>
                          <a:spcPts val="10"/>
                        </a:spcBef>
                      </a:pPr>
                      <a:r>
                        <a:rPr sz="600" spc="0" dirty="0">
                          <a:solidFill>
                            <a:srgbClr val="6E747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Patio Villa, 710 ft</a:t>
                      </a:r>
                      <a:r>
                        <a:rPr sz="600" spc="0" baseline="27777" dirty="0">
                          <a:solidFill>
                            <a:srgbClr val="6E747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  </a:t>
                      </a:r>
                      <a:r>
                        <a:rPr sz="600" spc="0" dirty="0">
                          <a:solidFill>
                            <a:srgbClr val="6E747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Two Floors, King Bed</a:t>
                      </a:r>
                      <a:endParaRPr sz="600" spc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50800" marR="473075">
                        <a:lnSpc>
                          <a:spcPct val="97200"/>
                        </a:lnSpc>
                        <a:spcBef>
                          <a:spcPts val="10"/>
                        </a:spcBef>
                      </a:pPr>
                      <a:r>
                        <a:rPr sz="600" spc="0" dirty="0">
                          <a:solidFill>
                            <a:srgbClr val="6E747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Private Patio with </a:t>
                      </a:r>
                      <a:r>
                        <a:rPr lang="en-US" sz="600" spc="0" dirty="0" smtClean="0">
                          <a:solidFill>
                            <a:srgbClr val="6E747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</a:t>
                      </a:r>
                      <a:r>
                        <a:rPr sz="600" spc="0" dirty="0" smtClean="0">
                          <a:solidFill>
                            <a:srgbClr val="6E747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acuzzi  </a:t>
                      </a:r>
                      <a:endParaRPr lang="en-US" sz="600" spc="0" dirty="0" smtClean="0">
                        <a:solidFill>
                          <a:srgbClr val="6E747B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50800" marR="473075">
                        <a:lnSpc>
                          <a:spcPct val="97200"/>
                        </a:lnSpc>
                        <a:spcBef>
                          <a:spcPts val="10"/>
                        </a:spcBef>
                      </a:pPr>
                      <a:r>
                        <a:rPr sz="600" spc="0" dirty="0" smtClean="0">
                          <a:solidFill>
                            <a:srgbClr val="6E747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Two </a:t>
                      </a:r>
                      <a:r>
                        <a:rPr sz="600" spc="0" dirty="0">
                          <a:solidFill>
                            <a:srgbClr val="6E747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full bathrooms  Spiral Staircase</a:t>
                      </a:r>
                      <a:endParaRPr sz="600" spc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5080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600" spc="0" dirty="0">
                          <a:solidFill>
                            <a:srgbClr val="6E747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Sofa Bed</a:t>
                      </a:r>
                      <a:endParaRPr sz="600" spc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28142" marB="0">
                    <a:lnL w="12700">
                      <a:solidFill>
                        <a:srgbClr val="6E747B"/>
                      </a:solidFill>
                      <a:prstDash val="solid"/>
                    </a:lnL>
                    <a:lnR w="12700">
                      <a:solidFill>
                        <a:srgbClr val="6E747B"/>
                      </a:solidFill>
                      <a:prstDash val="solid"/>
                    </a:lnR>
                    <a:lnT w="12700">
                      <a:solidFill>
                        <a:srgbClr val="6E747B"/>
                      </a:solidFill>
                      <a:prstDash val="solid"/>
                    </a:lnT>
                    <a:lnB w="12700">
                      <a:solidFill>
                        <a:srgbClr val="6E747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2193">
                <a:tc>
                  <a:txBody>
                    <a:bodyPr/>
                    <a:lstStyle/>
                    <a:p>
                      <a:pPr marL="27940">
                        <a:lnSpc>
                          <a:spcPts val="1310"/>
                        </a:lnSpc>
                        <a:spcBef>
                          <a:spcPts val="85"/>
                        </a:spcBef>
                      </a:pPr>
                      <a:r>
                        <a:rPr sz="600" spc="0" dirty="0">
                          <a:solidFill>
                            <a:srgbClr val="6E747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Villa 109</a:t>
                      </a:r>
                      <a:endParaRPr sz="600" spc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7940" marR="106680">
                        <a:lnSpc>
                          <a:spcPts val="1100"/>
                        </a:lnSpc>
                        <a:spcBef>
                          <a:spcPts val="10"/>
                        </a:spcBef>
                      </a:pPr>
                      <a:r>
                        <a:rPr sz="600" spc="0" dirty="0">
                          <a:solidFill>
                            <a:srgbClr val="6E747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Poolside Manor Villa  Two Floors, 700 ft</a:t>
                      </a:r>
                      <a:r>
                        <a:rPr sz="600" spc="0" baseline="27777" dirty="0">
                          <a:solidFill>
                            <a:srgbClr val="6E747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  </a:t>
                      </a:r>
                      <a:r>
                        <a:rPr sz="600" spc="0" dirty="0">
                          <a:solidFill>
                            <a:srgbClr val="6E747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Private </a:t>
                      </a:r>
                      <a:r>
                        <a:rPr sz="600" spc="0" dirty="0" smtClean="0">
                          <a:solidFill>
                            <a:srgbClr val="6E747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Terrace</a:t>
                      </a:r>
                      <a:endParaRPr lang="en-US" sz="600" spc="0" dirty="0" smtClean="0">
                        <a:solidFill>
                          <a:srgbClr val="6E747B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7940" marR="106680">
                        <a:lnSpc>
                          <a:spcPts val="1100"/>
                        </a:lnSpc>
                        <a:spcBef>
                          <a:spcPts val="10"/>
                        </a:spcBef>
                      </a:pPr>
                      <a:r>
                        <a:rPr sz="600" spc="0" dirty="0" smtClean="0">
                          <a:solidFill>
                            <a:srgbClr val="6E747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Spiral </a:t>
                      </a:r>
                      <a:r>
                        <a:rPr sz="600" spc="0" dirty="0">
                          <a:solidFill>
                            <a:srgbClr val="6E747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Staircase</a:t>
                      </a:r>
                      <a:endParaRPr sz="600" spc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7940">
                        <a:lnSpc>
                          <a:spcPts val="960"/>
                        </a:lnSpc>
                      </a:pPr>
                      <a:r>
                        <a:rPr sz="600" spc="0" dirty="0">
                          <a:solidFill>
                            <a:srgbClr val="6E747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Two full bathrooms</a:t>
                      </a:r>
                      <a:endParaRPr sz="600" spc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7940" marR="609600">
                        <a:lnSpc>
                          <a:spcPct val="101800"/>
                        </a:lnSpc>
                      </a:pPr>
                      <a:r>
                        <a:rPr sz="600" spc="0" dirty="0">
                          <a:solidFill>
                            <a:srgbClr val="6E747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1King Bed  Sofa Bed</a:t>
                      </a:r>
                      <a:endParaRPr sz="600" spc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7360" marB="0">
                    <a:lnL w="12700">
                      <a:solidFill>
                        <a:srgbClr val="6E747B"/>
                      </a:solidFill>
                      <a:prstDash val="solid"/>
                    </a:lnL>
                    <a:lnR w="12700">
                      <a:solidFill>
                        <a:srgbClr val="6E747B"/>
                      </a:solidFill>
                      <a:prstDash val="solid"/>
                    </a:lnR>
                    <a:lnT w="12700">
                      <a:solidFill>
                        <a:srgbClr val="6E747B"/>
                      </a:solidFill>
                      <a:prstDash val="solid"/>
                    </a:lnT>
                    <a:lnB w="12700">
                      <a:solidFill>
                        <a:srgbClr val="6E747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ts val="1310"/>
                        </a:lnSpc>
                        <a:spcBef>
                          <a:spcPts val="280"/>
                        </a:spcBef>
                      </a:pPr>
                      <a:r>
                        <a:rPr lang="en-US" sz="600" spc="0" dirty="0" smtClean="0">
                          <a:solidFill>
                            <a:srgbClr val="6E747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Spa </a:t>
                      </a:r>
                      <a:r>
                        <a:rPr sz="600" spc="0" dirty="0" smtClean="0">
                          <a:solidFill>
                            <a:srgbClr val="6E747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Villa </a:t>
                      </a:r>
                      <a:r>
                        <a:rPr sz="600" spc="0" dirty="0">
                          <a:solidFill>
                            <a:srgbClr val="6E747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111</a:t>
                      </a:r>
                      <a:endParaRPr sz="600" spc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63500" marR="649605">
                        <a:lnSpc>
                          <a:spcPts val="1100"/>
                        </a:lnSpc>
                        <a:spcBef>
                          <a:spcPts val="10"/>
                        </a:spcBef>
                      </a:pPr>
                      <a:r>
                        <a:rPr sz="600" spc="0" dirty="0">
                          <a:solidFill>
                            <a:srgbClr val="6E747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Patio Villa, 710 ft</a:t>
                      </a:r>
                      <a:r>
                        <a:rPr sz="600" spc="0" baseline="27777" dirty="0">
                          <a:solidFill>
                            <a:srgbClr val="6E747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  </a:t>
                      </a:r>
                      <a:r>
                        <a:rPr sz="600" spc="0" dirty="0">
                          <a:solidFill>
                            <a:srgbClr val="6E747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Two Floors, King Bed</a:t>
                      </a:r>
                      <a:endParaRPr sz="600" spc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63500" marR="460375">
                        <a:lnSpc>
                          <a:spcPct val="97200"/>
                        </a:lnSpc>
                        <a:spcBef>
                          <a:spcPts val="10"/>
                        </a:spcBef>
                      </a:pPr>
                      <a:r>
                        <a:rPr sz="600" spc="0" dirty="0">
                          <a:solidFill>
                            <a:srgbClr val="6E747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Private Patio with Jacuzzi  </a:t>
                      </a:r>
                      <a:endParaRPr lang="en-US" sz="600" spc="0" dirty="0" smtClean="0">
                        <a:solidFill>
                          <a:srgbClr val="6E747B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63500" marR="460375">
                        <a:lnSpc>
                          <a:spcPct val="97200"/>
                        </a:lnSpc>
                        <a:spcBef>
                          <a:spcPts val="10"/>
                        </a:spcBef>
                      </a:pPr>
                      <a:r>
                        <a:rPr sz="600" spc="0" dirty="0" smtClean="0">
                          <a:solidFill>
                            <a:srgbClr val="6E747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Two </a:t>
                      </a:r>
                      <a:r>
                        <a:rPr sz="600" spc="0" dirty="0">
                          <a:solidFill>
                            <a:srgbClr val="6E747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full bathrooms  Spiral Staircase</a:t>
                      </a:r>
                      <a:endParaRPr sz="600" spc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600" spc="0" dirty="0">
                          <a:solidFill>
                            <a:srgbClr val="6E747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Sofa Bed</a:t>
                      </a:r>
                      <a:endParaRPr sz="600" spc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24245" marB="0">
                    <a:lnL w="12700">
                      <a:solidFill>
                        <a:srgbClr val="6E747B"/>
                      </a:solidFill>
                      <a:prstDash val="solid"/>
                    </a:lnL>
                    <a:lnR w="12700">
                      <a:solidFill>
                        <a:srgbClr val="6E747B"/>
                      </a:solidFill>
                      <a:prstDash val="solid"/>
                    </a:lnR>
                    <a:lnT w="12700">
                      <a:solidFill>
                        <a:srgbClr val="6E747B"/>
                      </a:solidFill>
                      <a:prstDash val="solid"/>
                    </a:lnT>
                    <a:lnB w="12700">
                      <a:solidFill>
                        <a:srgbClr val="6E747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" name="objec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953445"/>
              </p:ext>
            </p:extLst>
          </p:nvPr>
        </p:nvGraphicFramePr>
        <p:xfrm>
          <a:off x="3140015" y="1640031"/>
          <a:ext cx="1797831" cy="290690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78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26523">
                <a:tc>
                  <a:txBody>
                    <a:bodyPr/>
                    <a:lstStyle/>
                    <a:p>
                      <a:pPr marL="59690">
                        <a:lnSpc>
                          <a:spcPts val="1310"/>
                        </a:lnSpc>
                        <a:spcBef>
                          <a:spcPts val="219"/>
                        </a:spcBef>
                      </a:pPr>
                      <a:r>
                        <a:rPr lang="en-US" sz="600" b="0" spc="0" dirty="0" smtClean="0">
                          <a:solidFill>
                            <a:srgbClr val="6E747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Bungalow</a:t>
                      </a:r>
                      <a:r>
                        <a:rPr lang="en-US" sz="600" b="0" spc="0" baseline="0" dirty="0" smtClean="0">
                          <a:solidFill>
                            <a:srgbClr val="6E747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600" b="0" spc="0" dirty="0" smtClean="0">
                          <a:solidFill>
                            <a:srgbClr val="6E747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108</a:t>
                      </a:r>
                      <a:endParaRPr sz="600" b="0" spc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59690" marR="260350">
                        <a:lnSpc>
                          <a:spcPts val="1100"/>
                        </a:lnSpc>
                        <a:spcBef>
                          <a:spcPts val="10"/>
                        </a:spcBef>
                      </a:pPr>
                      <a:r>
                        <a:rPr sz="600" b="0" spc="0" dirty="0" smtClean="0">
                          <a:solidFill>
                            <a:srgbClr val="6E747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750 </a:t>
                      </a:r>
                      <a:r>
                        <a:rPr sz="600" b="0" spc="0" dirty="0">
                          <a:solidFill>
                            <a:srgbClr val="6E747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ft</a:t>
                      </a:r>
                      <a:r>
                        <a:rPr sz="600" b="0" spc="0" baseline="27777" dirty="0">
                          <a:solidFill>
                            <a:srgbClr val="6E747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  </a:t>
                      </a:r>
                      <a:r>
                        <a:rPr sz="600" b="0" spc="0" dirty="0">
                          <a:solidFill>
                            <a:srgbClr val="6E747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Private rooftop lounge  Private pool front terrace</a:t>
                      </a:r>
                      <a:endParaRPr sz="600" b="0" spc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59690" marR="480059">
                        <a:lnSpc>
                          <a:spcPct val="97200"/>
                        </a:lnSpc>
                        <a:spcBef>
                          <a:spcPts val="10"/>
                        </a:spcBef>
                      </a:pPr>
                      <a:r>
                        <a:rPr sz="600" b="0" spc="0" dirty="0">
                          <a:solidFill>
                            <a:srgbClr val="6E747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Balcony on 2</a:t>
                      </a:r>
                      <a:r>
                        <a:rPr sz="600" b="0" spc="0" baseline="27777" dirty="0">
                          <a:solidFill>
                            <a:srgbClr val="6E747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nd </a:t>
                      </a:r>
                      <a:r>
                        <a:rPr sz="600" b="0" spc="0" dirty="0">
                          <a:solidFill>
                            <a:srgbClr val="6E747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Floor  Two full bathrooms  Spiral staircase</a:t>
                      </a:r>
                      <a:endParaRPr sz="600" b="0" spc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59690" marR="983615">
                        <a:lnSpc>
                          <a:spcPct val="101800"/>
                        </a:lnSpc>
                      </a:pPr>
                      <a:r>
                        <a:rPr sz="600" b="0" spc="0" dirty="0">
                          <a:solidFill>
                            <a:srgbClr val="6E747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Two floors  Sofa bed</a:t>
                      </a:r>
                      <a:endParaRPr sz="600" b="0" spc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19049" marB="0">
                    <a:lnL w="12700">
                      <a:solidFill>
                        <a:srgbClr val="6E747B"/>
                      </a:solidFill>
                      <a:prstDash val="solid"/>
                    </a:lnL>
                    <a:lnR w="12700">
                      <a:solidFill>
                        <a:srgbClr val="6E747B"/>
                      </a:solidFill>
                      <a:prstDash val="solid"/>
                    </a:lnR>
                    <a:lnT w="12700">
                      <a:solidFill>
                        <a:srgbClr val="6E747B"/>
                      </a:solidFill>
                      <a:prstDash val="solid"/>
                    </a:lnT>
                    <a:lnB w="12700">
                      <a:solidFill>
                        <a:srgbClr val="6E747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6523">
                <a:tc>
                  <a:txBody>
                    <a:bodyPr/>
                    <a:lstStyle/>
                    <a:p>
                      <a:pPr marL="37465">
                        <a:lnSpc>
                          <a:spcPts val="1310"/>
                        </a:lnSpc>
                        <a:spcBef>
                          <a:spcPts val="85"/>
                        </a:spcBef>
                      </a:pPr>
                      <a:r>
                        <a:rPr lang="en-US" sz="600" spc="0" dirty="0" smtClean="0">
                          <a:solidFill>
                            <a:srgbClr val="6E747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Bungalow</a:t>
                      </a:r>
                      <a:r>
                        <a:rPr sz="600" spc="0" dirty="0" smtClean="0">
                          <a:solidFill>
                            <a:srgbClr val="6E747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600" spc="0" dirty="0">
                          <a:solidFill>
                            <a:srgbClr val="6E747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107</a:t>
                      </a:r>
                      <a:endParaRPr sz="600" spc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37465" marR="283845">
                        <a:lnSpc>
                          <a:spcPts val="1100"/>
                        </a:lnSpc>
                        <a:spcBef>
                          <a:spcPts val="10"/>
                        </a:spcBef>
                      </a:pPr>
                      <a:r>
                        <a:rPr sz="600" spc="0" dirty="0" smtClean="0">
                          <a:solidFill>
                            <a:srgbClr val="6E747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750 </a:t>
                      </a:r>
                      <a:r>
                        <a:rPr sz="600" spc="0" dirty="0">
                          <a:solidFill>
                            <a:srgbClr val="6E747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ft</a:t>
                      </a:r>
                      <a:r>
                        <a:rPr sz="600" spc="0" baseline="27777" dirty="0">
                          <a:solidFill>
                            <a:srgbClr val="6E747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  </a:t>
                      </a:r>
                      <a:r>
                        <a:rPr sz="600" spc="0" dirty="0">
                          <a:solidFill>
                            <a:srgbClr val="6E747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Private rooftop lounge  Private pool front terrace</a:t>
                      </a:r>
                      <a:endParaRPr sz="600" spc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37465" marR="502284">
                        <a:lnSpc>
                          <a:spcPct val="97200"/>
                        </a:lnSpc>
                        <a:spcBef>
                          <a:spcPts val="10"/>
                        </a:spcBef>
                      </a:pPr>
                      <a:r>
                        <a:rPr sz="600" spc="0" dirty="0">
                          <a:solidFill>
                            <a:srgbClr val="6E747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Balcony on 2</a:t>
                      </a:r>
                      <a:r>
                        <a:rPr sz="600" spc="0" baseline="27777" dirty="0">
                          <a:solidFill>
                            <a:srgbClr val="6E747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nd </a:t>
                      </a:r>
                      <a:r>
                        <a:rPr sz="600" spc="0" dirty="0">
                          <a:solidFill>
                            <a:srgbClr val="6E747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Floor  Two full bathrooms  Spiral staircase</a:t>
                      </a:r>
                      <a:endParaRPr sz="600" spc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37465" marR="1005840">
                        <a:lnSpc>
                          <a:spcPct val="101800"/>
                        </a:lnSpc>
                      </a:pPr>
                      <a:r>
                        <a:rPr sz="600" spc="0" dirty="0">
                          <a:solidFill>
                            <a:srgbClr val="6E747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Two floors  Sofa bed</a:t>
                      </a:r>
                      <a:endParaRPr sz="600" spc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7360" marB="0">
                    <a:lnL w="12700">
                      <a:solidFill>
                        <a:srgbClr val="6E747B"/>
                      </a:solidFill>
                      <a:prstDash val="solid"/>
                    </a:lnL>
                    <a:lnR w="12700">
                      <a:solidFill>
                        <a:srgbClr val="6E747B"/>
                      </a:solidFill>
                      <a:prstDash val="solid"/>
                    </a:lnR>
                    <a:lnT w="12700">
                      <a:solidFill>
                        <a:srgbClr val="6E747B"/>
                      </a:solidFill>
                      <a:prstDash val="solid"/>
                    </a:lnT>
                    <a:lnB w="12700">
                      <a:solidFill>
                        <a:srgbClr val="6E747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3855">
                <a:tc>
                  <a:txBody>
                    <a:bodyPr/>
                    <a:lstStyle/>
                    <a:p>
                      <a:pPr marL="41275">
                        <a:lnSpc>
                          <a:spcPts val="1310"/>
                        </a:lnSpc>
                        <a:spcBef>
                          <a:spcPts val="130"/>
                        </a:spcBef>
                      </a:pPr>
                      <a:r>
                        <a:rPr lang="en-US" sz="600" spc="0" dirty="0" smtClean="0">
                          <a:solidFill>
                            <a:srgbClr val="6E747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Bungalow</a:t>
                      </a:r>
                      <a:r>
                        <a:rPr sz="600" spc="0" dirty="0" smtClean="0">
                          <a:solidFill>
                            <a:srgbClr val="6E747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600" spc="0" dirty="0">
                          <a:solidFill>
                            <a:srgbClr val="6E747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106</a:t>
                      </a:r>
                      <a:endParaRPr sz="600" spc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41275" marR="278765" algn="l">
                        <a:lnSpc>
                          <a:spcPts val="1100"/>
                        </a:lnSpc>
                        <a:spcBef>
                          <a:spcPts val="10"/>
                        </a:spcBef>
                      </a:pPr>
                      <a:r>
                        <a:rPr sz="600" spc="0" dirty="0" smtClean="0">
                          <a:solidFill>
                            <a:srgbClr val="6E747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750 </a:t>
                      </a:r>
                      <a:r>
                        <a:rPr sz="600" spc="0" dirty="0">
                          <a:solidFill>
                            <a:srgbClr val="6E747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ft</a:t>
                      </a:r>
                      <a:r>
                        <a:rPr sz="600" spc="0" baseline="27777" dirty="0">
                          <a:solidFill>
                            <a:srgbClr val="6E747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  </a:t>
                      </a:r>
                      <a:r>
                        <a:rPr sz="600" spc="0" dirty="0">
                          <a:solidFill>
                            <a:srgbClr val="6E747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ADA compliant elevator  Private rooftop lounge</a:t>
                      </a:r>
                      <a:endParaRPr sz="600" spc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37465" marR="502284">
                        <a:lnSpc>
                          <a:spcPct val="97200"/>
                        </a:lnSpc>
                        <a:spcBef>
                          <a:spcPts val="10"/>
                        </a:spcBef>
                      </a:pPr>
                      <a:r>
                        <a:rPr sz="600" spc="0" dirty="0" smtClean="0">
                          <a:solidFill>
                            <a:srgbClr val="6E747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Private pool front terrace </a:t>
                      </a:r>
                      <a:endParaRPr lang="en-US" sz="600" spc="0" dirty="0" smtClean="0">
                        <a:solidFill>
                          <a:srgbClr val="6E747B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37465" marR="502284">
                        <a:lnSpc>
                          <a:spcPct val="97200"/>
                        </a:lnSpc>
                        <a:spcBef>
                          <a:spcPts val="10"/>
                        </a:spcBef>
                      </a:pPr>
                      <a:r>
                        <a:rPr lang="en-US" sz="600" spc="0" dirty="0" smtClean="0">
                          <a:solidFill>
                            <a:srgbClr val="6E747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Balcony on 2</a:t>
                      </a:r>
                      <a:r>
                        <a:rPr lang="en-US" sz="600" spc="0" baseline="27777" dirty="0" smtClean="0">
                          <a:solidFill>
                            <a:srgbClr val="6E747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nd </a:t>
                      </a:r>
                      <a:r>
                        <a:rPr lang="en-US" sz="600" spc="0" dirty="0" smtClean="0">
                          <a:solidFill>
                            <a:srgbClr val="6E747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Floor  Two full bathrooms  Spiral staircase</a:t>
                      </a:r>
                      <a:endParaRPr lang="en-US" sz="600" spc="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37465" marR="1005840">
                        <a:lnSpc>
                          <a:spcPct val="101800"/>
                        </a:lnSpc>
                      </a:pPr>
                      <a:r>
                        <a:rPr lang="en-US" sz="600" spc="0" dirty="0" smtClean="0">
                          <a:solidFill>
                            <a:srgbClr val="6E747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Two floors  Sofa bed</a:t>
                      </a:r>
                      <a:endParaRPr lang="en-US" sz="600" spc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11257" marB="0">
                    <a:lnL w="12700">
                      <a:solidFill>
                        <a:srgbClr val="6E747B"/>
                      </a:solidFill>
                      <a:prstDash val="solid"/>
                    </a:lnL>
                    <a:lnR w="12700">
                      <a:solidFill>
                        <a:srgbClr val="6E747B"/>
                      </a:solidFill>
                      <a:prstDash val="solid"/>
                    </a:lnR>
                    <a:lnT w="12700">
                      <a:solidFill>
                        <a:srgbClr val="6E747B"/>
                      </a:solidFill>
                      <a:prstDash val="solid"/>
                    </a:lnT>
                    <a:lnB w="12700">
                      <a:solidFill>
                        <a:srgbClr val="6E747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6293115" y="3445452"/>
            <a:ext cx="51955" cy="1527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27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094085" y="3393497"/>
            <a:ext cx="159015" cy="519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27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111403" y="2406360"/>
            <a:ext cx="159015" cy="519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27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293115" y="1484160"/>
            <a:ext cx="51955" cy="13401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27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864244" y="4294042"/>
            <a:ext cx="159015" cy="519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27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855585" y="3367520"/>
            <a:ext cx="159015" cy="519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27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846926" y="2440997"/>
            <a:ext cx="159015" cy="519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27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910878" y="1368208"/>
            <a:ext cx="965418" cy="134612"/>
          </a:xfrm>
          <a:prstGeom prst="rect">
            <a:avLst/>
          </a:prstGeom>
        </p:spPr>
        <p:txBody>
          <a:bodyPr vert="horz" wrap="square" lIns="0" tIns="8659" rIns="0" bIns="0" rtlCol="0">
            <a:spAutoFit/>
          </a:bodyPr>
          <a:lstStyle/>
          <a:p>
            <a:pPr marL="8659">
              <a:spcBef>
                <a:spcPts val="68"/>
              </a:spcBef>
            </a:pPr>
            <a:r>
              <a:rPr lang="en-US" sz="818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Poolside Bungalow</a:t>
            </a:r>
            <a:endParaRPr sz="818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653529" y="1395243"/>
            <a:ext cx="546389" cy="134612"/>
          </a:xfrm>
          <a:prstGeom prst="rect">
            <a:avLst/>
          </a:prstGeom>
        </p:spPr>
        <p:txBody>
          <a:bodyPr vert="horz" wrap="square" lIns="0" tIns="8659" rIns="0" bIns="0" rtlCol="0">
            <a:spAutoFit/>
          </a:bodyPr>
          <a:lstStyle/>
          <a:p>
            <a:pPr marL="8659">
              <a:spcBef>
                <a:spcPts val="68"/>
              </a:spcBef>
            </a:pPr>
            <a:r>
              <a:rPr lang="en-US" sz="818" dirty="0">
                <a:solidFill>
                  <a:srgbClr val="6E747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Villas</a:t>
            </a:r>
            <a:endParaRPr sz="818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318721" y="4995430"/>
            <a:ext cx="51955" cy="1527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27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470630" y="4978112"/>
            <a:ext cx="51955" cy="1527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27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583199" y="4978112"/>
            <a:ext cx="51955" cy="1527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27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6485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6374208" y="4167085"/>
            <a:ext cx="824616" cy="9564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Studio Terrace King</a:t>
            </a:r>
          </a:p>
          <a:p>
            <a:pPr algn="ctr"/>
            <a:r>
              <a:rPr lang="en-US" sz="1100" dirty="0" smtClean="0">
                <a:latin typeface="+mj-lt"/>
              </a:rPr>
              <a:t>K1KN</a:t>
            </a:r>
          </a:p>
          <a:p>
            <a:pPr algn="ctr"/>
            <a:r>
              <a:rPr lang="en-US" sz="1100" dirty="0" smtClean="0">
                <a:latin typeface="+mj-lt"/>
              </a:rPr>
              <a:t>137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51505" y="4167085"/>
            <a:ext cx="821976" cy="9509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Studio Terrace King</a:t>
            </a:r>
          </a:p>
          <a:p>
            <a:pPr algn="ctr"/>
            <a:r>
              <a:rPr lang="en-US" sz="1100" dirty="0" smtClean="0"/>
              <a:t>K1KN</a:t>
            </a:r>
          </a:p>
          <a:p>
            <a:pPr algn="ctr"/>
            <a:r>
              <a:rPr lang="en-US" sz="1100" dirty="0" smtClean="0"/>
              <a:t>138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27205" y="4172531"/>
            <a:ext cx="820113" cy="9509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Studio Terrace King</a:t>
            </a:r>
          </a:p>
          <a:p>
            <a:pPr algn="ctr"/>
            <a:r>
              <a:rPr lang="en-US" sz="1100" dirty="0" smtClean="0"/>
              <a:t>K1KN</a:t>
            </a:r>
          </a:p>
          <a:p>
            <a:pPr algn="ctr"/>
            <a:r>
              <a:rPr lang="en-US" sz="1100" dirty="0" smtClean="0"/>
              <a:t>139</a:t>
            </a:r>
          </a:p>
        </p:txBody>
      </p:sp>
      <p:cxnSp>
        <p:nvCxnSpPr>
          <p:cNvPr id="35" name="Straight Connector 34"/>
          <p:cNvCxnSpPr/>
          <p:nvPr/>
        </p:nvCxnSpPr>
        <p:spPr>
          <a:xfrm>
            <a:off x="1009529" y="5686573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Rectangle 97"/>
          <p:cNvSpPr/>
          <p:nvPr/>
        </p:nvSpPr>
        <p:spPr>
          <a:xfrm rot="16200000">
            <a:off x="5658727" y="5088688"/>
            <a:ext cx="554388" cy="5943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sp>
        <p:nvSpPr>
          <p:cNvPr id="99" name="Rectangle 98"/>
          <p:cNvSpPr/>
          <p:nvPr/>
        </p:nvSpPr>
        <p:spPr>
          <a:xfrm rot="16200000">
            <a:off x="4826208" y="5093653"/>
            <a:ext cx="544457" cy="5943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sp>
        <p:nvSpPr>
          <p:cNvPr id="100" name="Rectangle 99"/>
          <p:cNvSpPr/>
          <p:nvPr/>
        </p:nvSpPr>
        <p:spPr>
          <a:xfrm rot="16200000">
            <a:off x="6498387" y="5099804"/>
            <a:ext cx="546955" cy="5943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9014732" y="5645027"/>
            <a:ext cx="2633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1</a:t>
            </a:r>
            <a:r>
              <a:rPr lang="en-US" baseline="30000" dirty="0" smtClean="0"/>
              <a:t>st</a:t>
            </a:r>
            <a:r>
              <a:rPr lang="en-US" dirty="0" smtClean="0"/>
              <a:t>  Floor</a:t>
            </a:r>
            <a:endParaRPr lang="en-US" dirty="0"/>
          </a:p>
        </p:txBody>
      </p:sp>
      <p:cxnSp>
        <p:nvCxnSpPr>
          <p:cNvPr id="45" name="Straight Connector 44"/>
          <p:cNvCxnSpPr/>
          <p:nvPr/>
        </p:nvCxnSpPr>
        <p:spPr>
          <a:xfrm>
            <a:off x="9444500" y="316852"/>
            <a:ext cx="0" cy="50383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 flipH="1">
            <a:off x="1725271" y="1181727"/>
            <a:ext cx="9144" cy="37925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2379553" y="6099037"/>
            <a:ext cx="12755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+mj-lt"/>
              </a:rPr>
              <a:t>Terraces</a:t>
            </a:r>
            <a:endParaRPr lang="en-US" dirty="0">
              <a:latin typeface="+mj-lt"/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7198824" y="4167085"/>
            <a:ext cx="858425" cy="9444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Studio Terrace King</a:t>
            </a:r>
          </a:p>
          <a:p>
            <a:pPr algn="ctr"/>
            <a:r>
              <a:rPr lang="en-US" sz="1100" dirty="0" smtClean="0">
                <a:latin typeface="+mj-lt"/>
              </a:rPr>
              <a:t>K1KN</a:t>
            </a:r>
          </a:p>
          <a:p>
            <a:pPr algn="ctr"/>
            <a:r>
              <a:rPr lang="en-US" sz="1100" dirty="0" smtClean="0">
                <a:latin typeface="+mj-lt"/>
              </a:rPr>
              <a:t>136</a:t>
            </a:r>
          </a:p>
        </p:txBody>
      </p:sp>
      <p:sp>
        <p:nvSpPr>
          <p:cNvPr id="112" name="TextBox 111"/>
          <p:cNvSpPr txBox="1"/>
          <p:nvPr/>
        </p:nvSpPr>
        <p:spPr>
          <a:xfrm rot="5400000">
            <a:off x="8508340" y="2651358"/>
            <a:ext cx="2662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Washington Ave</a:t>
            </a:r>
            <a:endParaRPr lang="en-US" dirty="0"/>
          </a:p>
        </p:txBody>
      </p:sp>
      <p:sp>
        <p:nvSpPr>
          <p:cNvPr id="115" name="TextBox 114"/>
          <p:cNvSpPr txBox="1"/>
          <p:nvPr/>
        </p:nvSpPr>
        <p:spPr>
          <a:xfrm rot="16200000">
            <a:off x="-87923" y="2877960"/>
            <a:ext cx="2662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Back Alley</a:t>
            </a:r>
            <a:endParaRPr lang="en-US" dirty="0"/>
          </a:p>
        </p:txBody>
      </p:sp>
      <p:sp>
        <p:nvSpPr>
          <p:cNvPr id="116" name="TextBox 115"/>
          <p:cNvSpPr txBox="1"/>
          <p:nvPr/>
        </p:nvSpPr>
        <p:spPr>
          <a:xfrm>
            <a:off x="1686289" y="6392042"/>
            <a:ext cx="2662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6</a:t>
            </a:r>
            <a:r>
              <a:rPr lang="en-US" baseline="30000" dirty="0" smtClean="0"/>
              <a:t>th</a:t>
            </a:r>
            <a:r>
              <a:rPr lang="en-US" dirty="0" smtClean="0"/>
              <a:t> Street</a:t>
            </a:r>
            <a:endParaRPr lang="en-US" dirty="0"/>
          </a:p>
        </p:txBody>
      </p:sp>
      <p:sp>
        <p:nvSpPr>
          <p:cNvPr id="117" name="TextBox 116"/>
          <p:cNvSpPr txBox="1"/>
          <p:nvPr/>
        </p:nvSpPr>
        <p:spPr>
          <a:xfrm>
            <a:off x="3069502" y="55797"/>
            <a:ext cx="2662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Lofts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 rot="16200000">
            <a:off x="7326931" y="5081427"/>
            <a:ext cx="532840" cy="5943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3140062" y="1947010"/>
            <a:ext cx="996255" cy="1984910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Terrace</a:t>
            </a:r>
          </a:p>
          <a:p>
            <a:pPr algn="ctr"/>
            <a:r>
              <a:rPr lang="en-US" sz="1200" dirty="0" smtClean="0"/>
              <a:t>468 SF</a:t>
            </a:r>
            <a:endParaRPr lang="en-US" sz="1200" dirty="0"/>
          </a:p>
        </p:txBody>
      </p:sp>
      <p:sp>
        <p:nvSpPr>
          <p:cNvPr id="3" name="Rectangle 2"/>
          <p:cNvSpPr/>
          <p:nvPr/>
        </p:nvSpPr>
        <p:spPr>
          <a:xfrm>
            <a:off x="4125821" y="914400"/>
            <a:ext cx="1362446" cy="301752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Anchor</a:t>
            </a:r>
          </a:p>
          <a:p>
            <a:pPr algn="ctr"/>
            <a:r>
              <a:rPr lang="en-US" sz="1200" dirty="0" smtClean="0"/>
              <a:t>1,113 SF</a:t>
            </a:r>
            <a:endParaRPr lang="en-US" sz="1200" dirty="0"/>
          </a:p>
        </p:txBody>
      </p:sp>
      <p:sp>
        <p:nvSpPr>
          <p:cNvPr id="10" name="Rectangle 9"/>
          <p:cNvSpPr/>
          <p:nvPr/>
        </p:nvSpPr>
        <p:spPr>
          <a:xfrm>
            <a:off x="5488267" y="385112"/>
            <a:ext cx="1188720" cy="2692907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Gallery </a:t>
            </a:r>
          </a:p>
          <a:p>
            <a:pPr algn="ctr"/>
            <a:r>
              <a:rPr lang="en-US" sz="1200" dirty="0" smtClean="0"/>
              <a:t>723 SF</a:t>
            </a:r>
            <a:endParaRPr lang="en-US" sz="1200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15549" y="5098686"/>
            <a:ext cx="1831171" cy="118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8046720" y="425129"/>
            <a:ext cx="968012" cy="46853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>
            <a:off x="6602723" y="425129"/>
            <a:ext cx="24120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 66"/>
          <p:cNvSpPr/>
          <p:nvPr/>
        </p:nvSpPr>
        <p:spPr>
          <a:xfrm>
            <a:off x="3904841" y="4167085"/>
            <a:ext cx="820113" cy="9509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Studio Terrace King</a:t>
            </a:r>
          </a:p>
          <a:p>
            <a:pPr algn="ctr"/>
            <a:r>
              <a:rPr lang="en-US" sz="1100" dirty="0" smtClean="0"/>
              <a:t>K1KN</a:t>
            </a:r>
          </a:p>
          <a:p>
            <a:pPr algn="ctr"/>
            <a:r>
              <a:rPr lang="en-US" sz="1100" dirty="0" smtClean="0"/>
              <a:t>140</a:t>
            </a:r>
          </a:p>
        </p:txBody>
      </p:sp>
      <p:sp>
        <p:nvSpPr>
          <p:cNvPr id="69" name="Rectangle 68"/>
          <p:cNvSpPr/>
          <p:nvPr/>
        </p:nvSpPr>
        <p:spPr>
          <a:xfrm rot="16200000">
            <a:off x="4036000" y="5106639"/>
            <a:ext cx="554388" cy="5943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sp>
        <p:nvSpPr>
          <p:cNvPr id="70" name="TextBox 69"/>
          <p:cNvSpPr txBox="1"/>
          <p:nvPr/>
        </p:nvSpPr>
        <p:spPr>
          <a:xfrm rot="5998649">
            <a:off x="7675952" y="3120237"/>
            <a:ext cx="12755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+mj-lt"/>
              </a:rPr>
              <a:t>Terrace</a:t>
            </a:r>
            <a:endParaRPr lang="en-US" dirty="0">
              <a:latin typeface="+mj-lt"/>
            </a:endParaRPr>
          </a:p>
        </p:txBody>
      </p:sp>
      <p:sp>
        <p:nvSpPr>
          <p:cNvPr id="25" name="Rectangle 24"/>
          <p:cNvSpPr/>
          <p:nvPr/>
        </p:nvSpPr>
        <p:spPr>
          <a:xfrm rot="713721">
            <a:off x="7745899" y="1595681"/>
            <a:ext cx="922918" cy="841247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LOBBY BAR</a:t>
            </a:r>
          </a:p>
          <a:p>
            <a:pPr algn="ctr"/>
            <a:r>
              <a:rPr lang="en-US" sz="1200" dirty="0"/>
              <a:t>MINNOW</a:t>
            </a:r>
          </a:p>
        </p:txBody>
      </p:sp>
      <p:sp>
        <p:nvSpPr>
          <p:cNvPr id="27" name="Rectangle 26"/>
          <p:cNvSpPr/>
          <p:nvPr/>
        </p:nvSpPr>
        <p:spPr>
          <a:xfrm rot="705913">
            <a:off x="7611808" y="620117"/>
            <a:ext cx="1287797" cy="55119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MAIN ENTRANCE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357296" y="5634167"/>
            <a:ext cx="5107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smtClean="0"/>
              <a:t>Shower and Terrace</a:t>
            </a:r>
            <a:endParaRPr lang="en-US" sz="800" dirty="0"/>
          </a:p>
        </p:txBody>
      </p:sp>
      <p:sp>
        <p:nvSpPr>
          <p:cNvPr id="31" name="TextBox 30"/>
          <p:cNvSpPr txBox="1"/>
          <p:nvPr/>
        </p:nvSpPr>
        <p:spPr>
          <a:xfrm>
            <a:off x="6516497" y="5640919"/>
            <a:ext cx="5107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smtClean="0"/>
              <a:t>Shower and Terrace</a:t>
            </a:r>
            <a:endParaRPr lang="en-US" sz="800" dirty="0"/>
          </a:p>
        </p:txBody>
      </p:sp>
      <p:sp>
        <p:nvSpPr>
          <p:cNvPr id="32" name="TextBox 31"/>
          <p:cNvSpPr txBox="1"/>
          <p:nvPr/>
        </p:nvSpPr>
        <p:spPr>
          <a:xfrm>
            <a:off x="5687779" y="5653360"/>
            <a:ext cx="5107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smtClean="0"/>
              <a:t>Shower and Terrace</a:t>
            </a:r>
            <a:endParaRPr lang="en-US" sz="800" dirty="0"/>
          </a:p>
        </p:txBody>
      </p:sp>
      <p:sp>
        <p:nvSpPr>
          <p:cNvPr id="33" name="TextBox 32"/>
          <p:cNvSpPr txBox="1"/>
          <p:nvPr/>
        </p:nvSpPr>
        <p:spPr>
          <a:xfrm>
            <a:off x="4054803" y="5680132"/>
            <a:ext cx="5107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smtClean="0"/>
              <a:t>Shower and Terrace</a:t>
            </a:r>
            <a:endParaRPr lang="en-US" sz="800" dirty="0"/>
          </a:p>
        </p:txBody>
      </p:sp>
      <p:sp>
        <p:nvSpPr>
          <p:cNvPr id="34" name="TextBox 33"/>
          <p:cNvSpPr txBox="1"/>
          <p:nvPr/>
        </p:nvSpPr>
        <p:spPr>
          <a:xfrm>
            <a:off x="4808202" y="5649487"/>
            <a:ext cx="5107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smtClean="0"/>
              <a:t>Shower and Terrace</a:t>
            </a:r>
            <a:endParaRPr lang="en-US" sz="800" dirty="0"/>
          </a:p>
        </p:txBody>
      </p:sp>
      <p:sp>
        <p:nvSpPr>
          <p:cNvPr id="36" name="TextBox 35"/>
          <p:cNvSpPr txBox="1"/>
          <p:nvPr/>
        </p:nvSpPr>
        <p:spPr>
          <a:xfrm rot="5400000">
            <a:off x="9515701" y="2750942"/>
            <a:ext cx="2758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Sunrise views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 rot="16200000">
            <a:off x="-735173" y="2792427"/>
            <a:ext cx="2758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Sunset Views</a:t>
            </a:r>
            <a:endParaRPr lang="en-US" dirty="0"/>
          </a:p>
        </p:txBody>
      </p:sp>
      <p:cxnSp>
        <p:nvCxnSpPr>
          <p:cNvPr id="6" name="Straight Connector 5"/>
          <p:cNvCxnSpPr/>
          <p:nvPr/>
        </p:nvCxnSpPr>
        <p:spPr>
          <a:xfrm flipH="1">
            <a:off x="2816281" y="5024668"/>
            <a:ext cx="803549" cy="7310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H="1">
            <a:off x="2476643" y="4715477"/>
            <a:ext cx="851102" cy="7383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 rot="19057155">
            <a:off x="2670048" y="5050910"/>
            <a:ext cx="795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Stairs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1843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34793" y="1534886"/>
            <a:ext cx="914400" cy="7090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ADA Spa Studio Terrace</a:t>
            </a:r>
          </a:p>
          <a:p>
            <a:pPr algn="ctr"/>
            <a:r>
              <a:rPr lang="en-US" sz="1000" dirty="0" smtClean="0"/>
              <a:t>K1WN</a:t>
            </a:r>
          </a:p>
          <a:p>
            <a:pPr algn="ctr"/>
            <a:r>
              <a:rPr lang="en-US" sz="1000" dirty="0" smtClean="0"/>
              <a:t>226</a:t>
            </a:r>
            <a:endParaRPr lang="en-US" sz="1000" dirty="0"/>
          </a:p>
        </p:txBody>
      </p:sp>
      <p:sp>
        <p:nvSpPr>
          <p:cNvPr id="5" name="Rectangle 4"/>
          <p:cNvSpPr/>
          <p:nvPr/>
        </p:nvSpPr>
        <p:spPr>
          <a:xfrm>
            <a:off x="4434793" y="2242143"/>
            <a:ext cx="914400" cy="9128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Studio Terrace Two Queens</a:t>
            </a:r>
          </a:p>
          <a:p>
            <a:pPr algn="ctr"/>
            <a:r>
              <a:rPr lang="en-US" sz="1100" dirty="0" smtClean="0"/>
              <a:t>K2QN</a:t>
            </a:r>
          </a:p>
          <a:p>
            <a:pPr algn="ctr"/>
            <a:r>
              <a:rPr lang="en-US" sz="1100" dirty="0" smtClean="0"/>
              <a:t>228</a:t>
            </a:r>
            <a:endParaRPr lang="en-US" sz="1100" dirty="0"/>
          </a:p>
        </p:txBody>
      </p:sp>
      <p:sp>
        <p:nvSpPr>
          <p:cNvPr id="6" name="Rectangle 5"/>
          <p:cNvSpPr/>
          <p:nvPr/>
        </p:nvSpPr>
        <p:spPr>
          <a:xfrm>
            <a:off x="4432000" y="3984969"/>
            <a:ext cx="914400" cy="6764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Studio Terrace King</a:t>
            </a:r>
          </a:p>
          <a:p>
            <a:pPr algn="ctr"/>
            <a:r>
              <a:rPr lang="en-US" sz="1100" dirty="0" smtClean="0"/>
              <a:t>K1KN</a:t>
            </a:r>
          </a:p>
          <a:p>
            <a:pPr algn="ctr"/>
            <a:r>
              <a:rPr lang="en-US" sz="1100" dirty="0" smtClean="0"/>
              <a:t>232</a:t>
            </a:r>
            <a:endParaRPr lang="en-US" sz="1100" dirty="0"/>
          </a:p>
        </p:txBody>
      </p:sp>
      <p:sp>
        <p:nvSpPr>
          <p:cNvPr id="7" name="Rectangle 6"/>
          <p:cNvSpPr/>
          <p:nvPr/>
        </p:nvSpPr>
        <p:spPr>
          <a:xfrm>
            <a:off x="4435043" y="3165398"/>
            <a:ext cx="914400" cy="8370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Studio Terrace Two Queens</a:t>
            </a:r>
          </a:p>
          <a:p>
            <a:pPr algn="ctr"/>
            <a:r>
              <a:rPr lang="en-US" sz="1100" dirty="0" smtClean="0"/>
              <a:t>K2QN</a:t>
            </a:r>
          </a:p>
          <a:p>
            <a:pPr algn="ctr"/>
            <a:r>
              <a:rPr lang="en-US" sz="1100" dirty="0" smtClean="0"/>
              <a:t>230</a:t>
            </a:r>
            <a:endParaRPr lang="en-US" sz="1100" dirty="0"/>
          </a:p>
        </p:txBody>
      </p:sp>
      <p:sp>
        <p:nvSpPr>
          <p:cNvPr id="8" name="Rectangle 7"/>
          <p:cNvSpPr/>
          <p:nvPr/>
        </p:nvSpPr>
        <p:spPr>
          <a:xfrm>
            <a:off x="2018569" y="4873916"/>
            <a:ext cx="839007" cy="9509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/>
              <a:t>Studio Terrace King</a:t>
            </a:r>
          </a:p>
          <a:p>
            <a:pPr algn="ctr"/>
            <a:r>
              <a:rPr lang="en-US" sz="1100" dirty="0" smtClean="0"/>
              <a:t>K1KN</a:t>
            </a:r>
          </a:p>
          <a:p>
            <a:pPr algn="ctr"/>
            <a:r>
              <a:rPr lang="en-US" sz="1100" dirty="0" smtClean="0"/>
              <a:t>240</a:t>
            </a:r>
            <a:endParaRPr lang="en-US" sz="1100" dirty="0"/>
          </a:p>
        </p:txBody>
      </p:sp>
      <p:sp>
        <p:nvSpPr>
          <p:cNvPr id="9" name="Rectangle 8"/>
          <p:cNvSpPr/>
          <p:nvPr/>
        </p:nvSpPr>
        <p:spPr>
          <a:xfrm>
            <a:off x="4510575" y="4880056"/>
            <a:ext cx="844751" cy="9431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Studio Terrace King</a:t>
            </a:r>
          </a:p>
          <a:p>
            <a:pPr algn="ctr"/>
            <a:r>
              <a:rPr lang="en-US" sz="1100" dirty="0" smtClean="0">
                <a:latin typeface="+mj-lt"/>
              </a:rPr>
              <a:t>K1KN</a:t>
            </a:r>
          </a:p>
          <a:p>
            <a:pPr algn="ctr"/>
            <a:r>
              <a:rPr lang="en-US" sz="1100" dirty="0" smtClean="0">
                <a:latin typeface="+mj-lt"/>
              </a:rPr>
              <a:t>237</a:t>
            </a:r>
            <a:endParaRPr lang="en-US" sz="1100" dirty="0">
              <a:latin typeface="+mj-l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703862" y="4880056"/>
            <a:ext cx="821976" cy="9431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Studio Terrace King</a:t>
            </a:r>
          </a:p>
          <a:p>
            <a:pPr algn="ctr"/>
            <a:r>
              <a:rPr lang="en-US" sz="1100" dirty="0" smtClean="0"/>
              <a:t>K1KN</a:t>
            </a:r>
          </a:p>
          <a:p>
            <a:pPr algn="ctr"/>
            <a:r>
              <a:rPr lang="en-US" sz="1100" dirty="0" smtClean="0"/>
              <a:t>238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70092" y="4872202"/>
            <a:ext cx="820113" cy="9509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Studio Terrace King</a:t>
            </a:r>
          </a:p>
          <a:p>
            <a:pPr algn="ctr"/>
            <a:r>
              <a:rPr lang="en-US" sz="1100" dirty="0" smtClean="0"/>
              <a:t>K1KN</a:t>
            </a:r>
          </a:p>
          <a:p>
            <a:pPr algn="ctr"/>
            <a:r>
              <a:rPr lang="en-US" sz="1100" dirty="0" smtClean="0"/>
              <a:t>239</a:t>
            </a:r>
            <a:endParaRPr lang="en-US" sz="1100" dirty="0"/>
          </a:p>
        </p:txBody>
      </p:sp>
      <p:sp>
        <p:nvSpPr>
          <p:cNvPr id="22" name="Rectangle 21"/>
          <p:cNvSpPr/>
          <p:nvPr/>
        </p:nvSpPr>
        <p:spPr>
          <a:xfrm>
            <a:off x="6739128" y="3425628"/>
            <a:ext cx="914400" cy="7414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smtClean="0"/>
              <a:t>Studio Terrace Two Queens</a:t>
            </a:r>
          </a:p>
          <a:p>
            <a:pPr algn="ctr"/>
            <a:r>
              <a:rPr lang="en-US" sz="900" dirty="0" smtClean="0"/>
              <a:t>K2QN</a:t>
            </a:r>
          </a:p>
          <a:p>
            <a:pPr algn="ctr"/>
            <a:r>
              <a:rPr lang="en-US" sz="900" dirty="0" smtClean="0"/>
              <a:t>233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39128" y="779416"/>
            <a:ext cx="914400" cy="7043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Studio Terrace Two Queens</a:t>
            </a:r>
          </a:p>
          <a:p>
            <a:pPr algn="ctr"/>
            <a:r>
              <a:rPr lang="en-US" sz="900" dirty="0" smtClean="0"/>
              <a:t>K2QN</a:t>
            </a:r>
          </a:p>
          <a:p>
            <a:pPr algn="ctr"/>
            <a:r>
              <a:rPr lang="en-US" sz="900" dirty="0" smtClean="0"/>
              <a:t>225</a:t>
            </a:r>
            <a:endParaRPr lang="en-US" sz="900" dirty="0"/>
          </a:p>
        </p:txBody>
      </p:sp>
      <p:sp>
        <p:nvSpPr>
          <p:cNvPr id="24" name="Rectangle 23"/>
          <p:cNvSpPr/>
          <p:nvPr/>
        </p:nvSpPr>
        <p:spPr>
          <a:xfrm>
            <a:off x="6739128" y="2739452"/>
            <a:ext cx="914400" cy="7414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Studio Terrace Two Queens</a:t>
            </a:r>
          </a:p>
          <a:p>
            <a:pPr algn="ctr"/>
            <a:r>
              <a:rPr lang="en-US" sz="900" dirty="0" smtClean="0"/>
              <a:t>K2QN</a:t>
            </a:r>
          </a:p>
          <a:p>
            <a:pPr algn="ctr"/>
            <a:r>
              <a:rPr lang="en-US" sz="900" dirty="0" smtClean="0"/>
              <a:t>231</a:t>
            </a:r>
            <a:endParaRPr lang="en-US" sz="900" dirty="0"/>
          </a:p>
        </p:txBody>
      </p:sp>
      <p:sp>
        <p:nvSpPr>
          <p:cNvPr id="26" name="Rectangle 25"/>
          <p:cNvSpPr/>
          <p:nvPr/>
        </p:nvSpPr>
        <p:spPr>
          <a:xfrm>
            <a:off x="6739128" y="175673"/>
            <a:ext cx="914400" cy="5951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Studio Terrace King</a:t>
            </a:r>
          </a:p>
          <a:p>
            <a:pPr algn="ctr"/>
            <a:r>
              <a:rPr lang="en-US" sz="900" dirty="0" smtClean="0"/>
              <a:t>K1KN</a:t>
            </a:r>
          </a:p>
          <a:p>
            <a:pPr algn="ctr"/>
            <a:r>
              <a:rPr lang="en-US" sz="900" dirty="0" smtClean="0"/>
              <a:t>224</a:t>
            </a:r>
            <a:endParaRPr lang="en-US" sz="900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009529" y="5686573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3844404" y="1604302"/>
            <a:ext cx="601708" cy="5684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sp>
        <p:nvSpPr>
          <p:cNvPr id="51" name="Rectangle 50"/>
          <p:cNvSpPr/>
          <p:nvPr/>
        </p:nvSpPr>
        <p:spPr>
          <a:xfrm>
            <a:off x="3829823" y="4109007"/>
            <a:ext cx="601707" cy="5101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sp>
        <p:nvSpPr>
          <p:cNvPr id="52" name="Rectangle 51"/>
          <p:cNvSpPr/>
          <p:nvPr/>
        </p:nvSpPr>
        <p:spPr>
          <a:xfrm>
            <a:off x="3819061" y="3371718"/>
            <a:ext cx="612371" cy="5311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sp>
        <p:nvSpPr>
          <p:cNvPr id="53" name="Rectangle 52"/>
          <p:cNvSpPr/>
          <p:nvPr/>
        </p:nvSpPr>
        <p:spPr>
          <a:xfrm>
            <a:off x="3810123" y="2456180"/>
            <a:ext cx="626092" cy="561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sp>
        <p:nvSpPr>
          <p:cNvPr id="54" name="Rectangle 53"/>
          <p:cNvSpPr/>
          <p:nvPr/>
        </p:nvSpPr>
        <p:spPr>
          <a:xfrm>
            <a:off x="6739128" y="1486200"/>
            <a:ext cx="914400" cy="6534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Studio Terrace King</a:t>
            </a:r>
          </a:p>
          <a:p>
            <a:pPr algn="ctr"/>
            <a:r>
              <a:rPr lang="en-US" sz="900" dirty="0" smtClean="0"/>
              <a:t>K1KN</a:t>
            </a:r>
          </a:p>
          <a:p>
            <a:pPr algn="ctr"/>
            <a:r>
              <a:rPr lang="en-US" sz="900" dirty="0" smtClean="0"/>
              <a:t>227</a:t>
            </a:r>
            <a:endParaRPr lang="en-US" sz="900" dirty="0"/>
          </a:p>
        </p:txBody>
      </p:sp>
      <p:sp>
        <p:nvSpPr>
          <p:cNvPr id="55" name="Rectangle 54"/>
          <p:cNvSpPr/>
          <p:nvPr/>
        </p:nvSpPr>
        <p:spPr>
          <a:xfrm>
            <a:off x="6739128" y="2106725"/>
            <a:ext cx="914400" cy="6554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Studio Terrace King</a:t>
            </a:r>
          </a:p>
          <a:p>
            <a:pPr algn="ctr"/>
            <a:r>
              <a:rPr lang="en-US" sz="900" dirty="0" smtClean="0"/>
              <a:t>K1KN</a:t>
            </a:r>
          </a:p>
          <a:p>
            <a:pPr algn="ctr"/>
            <a:r>
              <a:rPr lang="en-US" sz="900" dirty="0" smtClean="0"/>
              <a:t>229</a:t>
            </a:r>
            <a:endParaRPr lang="en-US" sz="900" dirty="0"/>
          </a:p>
        </p:txBody>
      </p:sp>
      <p:sp>
        <p:nvSpPr>
          <p:cNvPr id="56" name="Rectangle 55"/>
          <p:cNvSpPr/>
          <p:nvPr/>
        </p:nvSpPr>
        <p:spPr>
          <a:xfrm>
            <a:off x="7655180" y="3587474"/>
            <a:ext cx="196099" cy="4544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7662671" y="919585"/>
            <a:ext cx="179464" cy="418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sp>
        <p:nvSpPr>
          <p:cNvPr id="58" name="Rectangle 57"/>
          <p:cNvSpPr/>
          <p:nvPr/>
        </p:nvSpPr>
        <p:spPr>
          <a:xfrm>
            <a:off x="7662671" y="1559691"/>
            <a:ext cx="179464" cy="4149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sp>
        <p:nvSpPr>
          <p:cNvPr id="59" name="Rectangle 58"/>
          <p:cNvSpPr/>
          <p:nvPr/>
        </p:nvSpPr>
        <p:spPr>
          <a:xfrm>
            <a:off x="7653528" y="2198683"/>
            <a:ext cx="179464" cy="4815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sp>
        <p:nvSpPr>
          <p:cNvPr id="60" name="Rectangle 59"/>
          <p:cNvSpPr/>
          <p:nvPr/>
        </p:nvSpPr>
        <p:spPr>
          <a:xfrm>
            <a:off x="7662671" y="2926290"/>
            <a:ext cx="188608" cy="4724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sp>
        <p:nvSpPr>
          <p:cNvPr id="62" name="Rectangle 61"/>
          <p:cNvSpPr/>
          <p:nvPr/>
        </p:nvSpPr>
        <p:spPr>
          <a:xfrm>
            <a:off x="7662671" y="283975"/>
            <a:ext cx="188609" cy="4149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cxnSp>
        <p:nvCxnSpPr>
          <p:cNvPr id="90" name="Straight Connector 89"/>
          <p:cNvCxnSpPr/>
          <p:nvPr/>
        </p:nvCxnSpPr>
        <p:spPr>
          <a:xfrm flipH="1" flipV="1">
            <a:off x="6905028" y="6108932"/>
            <a:ext cx="1059396" cy="14709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/>
          <p:cNvCxnSpPr/>
          <p:nvPr/>
        </p:nvCxnSpPr>
        <p:spPr>
          <a:xfrm flipV="1">
            <a:off x="6905028" y="5798887"/>
            <a:ext cx="0" cy="3173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ctangle 96"/>
          <p:cNvSpPr/>
          <p:nvPr/>
        </p:nvSpPr>
        <p:spPr>
          <a:xfrm rot="16200000">
            <a:off x="2288009" y="5672131"/>
            <a:ext cx="293949" cy="5943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endParaRPr lang="en-US" dirty="0" smtClean="0"/>
          </a:p>
          <a:p>
            <a:pPr algn="ctr"/>
            <a:r>
              <a:rPr lang="en-US" dirty="0" smtClean="0"/>
              <a:t>K1</a:t>
            </a:r>
            <a:endParaRPr lang="en-US" dirty="0"/>
          </a:p>
        </p:txBody>
      </p:sp>
      <p:sp>
        <p:nvSpPr>
          <p:cNvPr id="98" name="Rectangle 97"/>
          <p:cNvSpPr/>
          <p:nvPr/>
        </p:nvSpPr>
        <p:spPr>
          <a:xfrm rot="16200000">
            <a:off x="4023115" y="5671872"/>
            <a:ext cx="290765" cy="5943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sp>
        <p:nvSpPr>
          <p:cNvPr id="99" name="Rectangle 98"/>
          <p:cNvSpPr/>
          <p:nvPr/>
        </p:nvSpPr>
        <p:spPr>
          <a:xfrm rot="16200000">
            <a:off x="3162141" y="5672002"/>
            <a:ext cx="290766" cy="5943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sp>
        <p:nvSpPr>
          <p:cNvPr id="100" name="Rectangle 99"/>
          <p:cNvSpPr/>
          <p:nvPr/>
        </p:nvSpPr>
        <p:spPr>
          <a:xfrm rot="16200000">
            <a:off x="4818987" y="5663786"/>
            <a:ext cx="290764" cy="5943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9014732" y="5645027"/>
            <a:ext cx="2633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2</a:t>
            </a:r>
            <a:r>
              <a:rPr lang="en-US" baseline="30000" dirty="0" smtClean="0"/>
              <a:t>Nd</a:t>
            </a:r>
            <a:r>
              <a:rPr lang="en-US" dirty="0" smtClean="0"/>
              <a:t> Floor</a:t>
            </a:r>
            <a:endParaRPr lang="en-US" dirty="0"/>
          </a:p>
        </p:txBody>
      </p:sp>
      <p:cxnSp>
        <p:nvCxnSpPr>
          <p:cNvPr id="37" name="Straight Connector 36"/>
          <p:cNvCxnSpPr/>
          <p:nvPr/>
        </p:nvCxnSpPr>
        <p:spPr>
          <a:xfrm flipV="1">
            <a:off x="7964424" y="4572000"/>
            <a:ext cx="0" cy="15516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7534656" y="4572000"/>
            <a:ext cx="4297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3134862" y="332428"/>
            <a:ext cx="3330068" cy="718205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+mj-lt"/>
              </a:rPr>
              <a:t>Mezzanine </a:t>
            </a:r>
          </a:p>
          <a:p>
            <a:pPr algn="ctr"/>
            <a:r>
              <a:rPr lang="en-US" dirty="0" smtClean="0">
                <a:latin typeface="+mj-lt"/>
              </a:rPr>
              <a:t>2,278 sf</a:t>
            </a:r>
            <a:endParaRPr lang="en-US" dirty="0">
              <a:latin typeface="+mj-lt"/>
            </a:endParaRPr>
          </a:p>
        </p:txBody>
      </p:sp>
      <p:cxnSp>
        <p:nvCxnSpPr>
          <p:cNvPr id="45" name="Straight Connector 44"/>
          <p:cNvCxnSpPr/>
          <p:nvPr/>
        </p:nvCxnSpPr>
        <p:spPr>
          <a:xfrm>
            <a:off x="9014732" y="484632"/>
            <a:ext cx="0" cy="50383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 flipH="1">
            <a:off x="1415987" y="786357"/>
            <a:ext cx="9144" cy="37925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 flipH="1" flipV="1">
            <a:off x="1844312" y="471292"/>
            <a:ext cx="1270743" cy="133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 flipH="1">
            <a:off x="1789176" y="471292"/>
            <a:ext cx="55136" cy="43819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>
            <a:off x="1810512" y="4853264"/>
            <a:ext cx="13243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 rot="5400000">
            <a:off x="1392082" y="2723781"/>
            <a:ext cx="1358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+mj-lt"/>
              </a:rPr>
              <a:t>Terraces</a:t>
            </a:r>
            <a:endParaRPr lang="en-US" dirty="0">
              <a:latin typeface="+mj-lt"/>
            </a:endParaRPr>
          </a:p>
        </p:txBody>
      </p:sp>
      <p:sp>
        <p:nvSpPr>
          <p:cNvPr id="79" name="TextBox 78"/>
          <p:cNvSpPr txBox="1"/>
          <p:nvPr/>
        </p:nvSpPr>
        <p:spPr>
          <a:xfrm rot="5400000">
            <a:off x="7878226" y="2634805"/>
            <a:ext cx="1811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+mj-lt"/>
              </a:rPr>
              <a:t>Balconies</a:t>
            </a:r>
            <a:endParaRPr lang="en-US" dirty="0">
              <a:latin typeface="+mj-lt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2303677" y="6410200"/>
            <a:ext cx="1811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+mj-lt"/>
              </a:rPr>
              <a:t>Balconies </a:t>
            </a:r>
            <a:endParaRPr lang="en-US" dirty="0">
              <a:latin typeface="+mj-lt"/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5342741" y="4883222"/>
            <a:ext cx="858425" cy="9391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Studio Terrace King</a:t>
            </a:r>
          </a:p>
          <a:p>
            <a:pPr algn="ctr"/>
            <a:r>
              <a:rPr lang="en-US" sz="1100" dirty="0" smtClean="0">
                <a:latin typeface="+mj-lt"/>
              </a:rPr>
              <a:t>K1KN</a:t>
            </a:r>
          </a:p>
          <a:p>
            <a:pPr algn="ctr"/>
            <a:r>
              <a:rPr lang="en-US" sz="1100" dirty="0" smtClean="0">
                <a:latin typeface="+mj-lt"/>
              </a:rPr>
              <a:t>236</a:t>
            </a:r>
            <a:endParaRPr lang="en-US" sz="1100" dirty="0">
              <a:latin typeface="+mj-lt"/>
            </a:endParaRPr>
          </a:p>
        </p:txBody>
      </p:sp>
      <p:sp>
        <p:nvSpPr>
          <p:cNvPr id="82" name="TextBox 81"/>
          <p:cNvSpPr txBox="1"/>
          <p:nvPr/>
        </p:nvSpPr>
        <p:spPr>
          <a:xfrm rot="5400000">
            <a:off x="6946253" y="5237448"/>
            <a:ext cx="15940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Balcony not accessible</a:t>
            </a:r>
            <a:endParaRPr lang="en-US" sz="1200" dirty="0"/>
          </a:p>
        </p:txBody>
      </p:sp>
      <p:sp>
        <p:nvSpPr>
          <p:cNvPr id="103" name="Parallelogram 102"/>
          <p:cNvSpPr/>
          <p:nvPr/>
        </p:nvSpPr>
        <p:spPr>
          <a:xfrm>
            <a:off x="6432493" y="4167084"/>
            <a:ext cx="1221036" cy="1655252"/>
          </a:xfrm>
          <a:prstGeom prst="parallelogra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Spa                                            Studio Terrace</a:t>
            </a:r>
          </a:p>
          <a:p>
            <a:pPr algn="ctr"/>
            <a:r>
              <a:rPr lang="en-US" sz="1100" dirty="0"/>
              <a:t>K1ON</a:t>
            </a:r>
          </a:p>
          <a:p>
            <a:pPr algn="ctr"/>
            <a:r>
              <a:rPr lang="en-US" sz="1100" dirty="0"/>
              <a:t>234</a:t>
            </a:r>
          </a:p>
          <a:p>
            <a:pPr algn="ctr"/>
            <a:endParaRPr lang="en-US" sz="1100" dirty="0" smtClean="0"/>
          </a:p>
          <a:p>
            <a:pPr algn="ctr"/>
            <a:endParaRPr lang="en-US" sz="1100" dirty="0"/>
          </a:p>
          <a:p>
            <a:pPr algn="ctr"/>
            <a:endParaRPr lang="en-US" sz="1100" dirty="0" smtClean="0"/>
          </a:p>
          <a:p>
            <a:pPr algn="ctr"/>
            <a:endParaRPr lang="en-US" sz="1100" dirty="0" smtClean="0"/>
          </a:p>
        </p:txBody>
      </p:sp>
      <p:sp>
        <p:nvSpPr>
          <p:cNvPr id="111" name="Rectangle 110"/>
          <p:cNvSpPr/>
          <p:nvPr/>
        </p:nvSpPr>
        <p:spPr>
          <a:xfrm>
            <a:off x="6139106" y="4880055"/>
            <a:ext cx="784377" cy="9489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Studio Terrace King</a:t>
            </a:r>
          </a:p>
          <a:p>
            <a:pPr algn="ctr"/>
            <a:r>
              <a:rPr lang="en-US" sz="1100" dirty="0" smtClean="0">
                <a:latin typeface="+mj-lt"/>
              </a:rPr>
              <a:t>K1KN</a:t>
            </a:r>
          </a:p>
          <a:p>
            <a:pPr algn="ctr"/>
            <a:r>
              <a:rPr lang="en-US" sz="1100" dirty="0" smtClean="0">
                <a:latin typeface="+mj-lt"/>
              </a:rPr>
              <a:t>235</a:t>
            </a:r>
            <a:endParaRPr lang="en-US" sz="1100" dirty="0">
              <a:latin typeface="+mj-lt"/>
            </a:endParaRPr>
          </a:p>
        </p:txBody>
      </p:sp>
      <p:sp>
        <p:nvSpPr>
          <p:cNvPr id="112" name="TextBox 111"/>
          <p:cNvSpPr txBox="1"/>
          <p:nvPr/>
        </p:nvSpPr>
        <p:spPr>
          <a:xfrm rot="5400000">
            <a:off x="8508340" y="2651358"/>
            <a:ext cx="2662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Washington Ave</a:t>
            </a:r>
            <a:endParaRPr lang="en-US" dirty="0"/>
          </a:p>
        </p:txBody>
      </p:sp>
      <p:sp>
        <p:nvSpPr>
          <p:cNvPr id="115" name="TextBox 114"/>
          <p:cNvSpPr txBox="1"/>
          <p:nvPr/>
        </p:nvSpPr>
        <p:spPr>
          <a:xfrm rot="16200000">
            <a:off x="-200864" y="2819138"/>
            <a:ext cx="2662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Back Alley</a:t>
            </a:r>
            <a:endParaRPr lang="en-US" dirty="0"/>
          </a:p>
        </p:txBody>
      </p:sp>
      <p:sp>
        <p:nvSpPr>
          <p:cNvPr id="116" name="TextBox 115"/>
          <p:cNvSpPr txBox="1"/>
          <p:nvPr/>
        </p:nvSpPr>
        <p:spPr>
          <a:xfrm>
            <a:off x="3382089" y="6410330"/>
            <a:ext cx="2662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6</a:t>
            </a:r>
            <a:r>
              <a:rPr lang="en-US" baseline="30000" dirty="0" smtClean="0"/>
              <a:t>th</a:t>
            </a:r>
            <a:r>
              <a:rPr lang="en-US" dirty="0" smtClean="0"/>
              <a:t> Street</a:t>
            </a:r>
            <a:endParaRPr lang="en-US" dirty="0"/>
          </a:p>
        </p:txBody>
      </p:sp>
      <p:sp>
        <p:nvSpPr>
          <p:cNvPr id="117" name="TextBox 116"/>
          <p:cNvSpPr txBox="1"/>
          <p:nvPr/>
        </p:nvSpPr>
        <p:spPr>
          <a:xfrm>
            <a:off x="3069502" y="55797"/>
            <a:ext cx="2662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Lofts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 rot="5400000">
            <a:off x="9515701" y="2750942"/>
            <a:ext cx="2758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Sunrise views</a:t>
            </a:r>
            <a:endParaRPr lang="en-US" dirty="0"/>
          </a:p>
        </p:txBody>
      </p:sp>
      <p:sp>
        <p:nvSpPr>
          <p:cNvPr id="61" name="TextBox 60"/>
          <p:cNvSpPr txBox="1"/>
          <p:nvPr/>
        </p:nvSpPr>
        <p:spPr>
          <a:xfrm rot="16200000">
            <a:off x="-892734" y="2784085"/>
            <a:ext cx="2758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Sunset Views</a:t>
            </a:r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 flipH="1">
            <a:off x="486553" y="4799024"/>
            <a:ext cx="1086215" cy="8460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>
            <a:off x="807290" y="5129784"/>
            <a:ext cx="1058358" cy="8392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 rot="19296235">
            <a:off x="815318" y="5163024"/>
            <a:ext cx="901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Stairs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4032055" y="1161223"/>
            <a:ext cx="1935025" cy="3641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4122589" y="1167977"/>
            <a:ext cx="18248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solidFill>
                  <a:schemeClr val="bg1"/>
                </a:solidFill>
              </a:rPr>
              <a:t>Elevator Landing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016909" y="1684478"/>
            <a:ext cx="8600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Regular Tub and Shower</a:t>
            </a:r>
            <a:endParaRPr lang="en-US" sz="1000" dirty="0"/>
          </a:p>
        </p:txBody>
      </p:sp>
      <p:sp>
        <p:nvSpPr>
          <p:cNvPr id="65" name="TextBox 64"/>
          <p:cNvSpPr txBox="1"/>
          <p:nvPr/>
        </p:nvSpPr>
        <p:spPr>
          <a:xfrm>
            <a:off x="3196285" y="2625096"/>
            <a:ext cx="6950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Shower</a:t>
            </a:r>
            <a:endParaRPr lang="en-US" sz="1000" dirty="0"/>
          </a:p>
        </p:txBody>
      </p:sp>
      <p:sp>
        <p:nvSpPr>
          <p:cNvPr id="70" name="TextBox 69"/>
          <p:cNvSpPr txBox="1"/>
          <p:nvPr/>
        </p:nvSpPr>
        <p:spPr>
          <a:xfrm>
            <a:off x="3232448" y="3524518"/>
            <a:ext cx="6950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Shower</a:t>
            </a:r>
            <a:endParaRPr lang="en-US" sz="1000" dirty="0"/>
          </a:p>
        </p:txBody>
      </p:sp>
      <p:sp>
        <p:nvSpPr>
          <p:cNvPr id="71" name="TextBox 70"/>
          <p:cNvSpPr txBox="1"/>
          <p:nvPr/>
        </p:nvSpPr>
        <p:spPr>
          <a:xfrm>
            <a:off x="3254051" y="4243354"/>
            <a:ext cx="6950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Shower</a:t>
            </a:r>
            <a:endParaRPr lang="en-US" sz="1000" dirty="0"/>
          </a:p>
        </p:txBody>
      </p:sp>
      <p:sp>
        <p:nvSpPr>
          <p:cNvPr id="72" name="TextBox 71"/>
          <p:cNvSpPr txBox="1"/>
          <p:nvPr/>
        </p:nvSpPr>
        <p:spPr>
          <a:xfrm>
            <a:off x="1994684" y="6106348"/>
            <a:ext cx="8628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Shower. Small Closet</a:t>
            </a:r>
            <a:endParaRPr lang="en-US" sz="1000" dirty="0"/>
          </a:p>
        </p:txBody>
      </p:sp>
      <p:sp>
        <p:nvSpPr>
          <p:cNvPr id="73" name="TextBox 72"/>
          <p:cNvSpPr txBox="1"/>
          <p:nvPr/>
        </p:nvSpPr>
        <p:spPr>
          <a:xfrm>
            <a:off x="2951884" y="6162265"/>
            <a:ext cx="6950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Shower</a:t>
            </a:r>
            <a:endParaRPr lang="en-US" sz="1000" dirty="0"/>
          </a:p>
        </p:txBody>
      </p:sp>
      <p:sp>
        <p:nvSpPr>
          <p:cNvPr id="75" name="TextBox 74"/>
          <p:cNvSpPr txBox="1"/>
          <p:nvPr/>
        </p:nvSpPr>
        <p:spPr>
          <a:xfrm>
            <a:off x="3832659" y="6135099"/>
            <a:ext cx="6950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Shower</a:t>
            </a:r>
            <a:endParaRPr lang="en-US" sz="1000" dirty="0"/>
          </a:p>
        </p:txBody>
      </p:sp>
      <p:sp>
        <p:nvSpPr>
          <p:cNvPr id="76" name="TextBox 75"/>
          <p:cNvSpPr txBox="1"/>
          <p:nvPr/>
        </p:nvSpPr>
        <p:spPr>
          <a:xfrm>
            <a:off x="4638844" y="6135098"/>
            <a:ext cx="6950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Shower</a:t>
            </a:r>
            <a:endParaRPr lang="en-US" sz="1000" dirty="0"/>
          </a:p>
        </p:txBody>
      </p:sp>
      <p:sp>
        <p:nvSpPr>
          <p:cNvPr id="78" name="TextBox 77"/>
          <p:cNvSpPr txBox="1"/>
          <p:nvPr/>
        </p:nvSpPr>
        <p:spPr>
          <a:xfrm>
            <a:off x="5411895" y="5901218"/>
            <a:ext cx="13462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Shower/ No Balcony. Large Windows</a:t>
            </a:r>
            <a:endParaRPr lang="en-US" sz="1000" dirty="0"/>
          </a:p>
        </p:txBody>
      </p:sp>
      <p:sp>
        <p:nvSpPr>
          <p:cNvPr id="80" name="TextBox 79"/>
          <p:cNvSpPr txBox="1"/>
          <p:nvPr/>
        </p:nvSpPr>
        <p:spPr>
          <a:xfrm>
            <a:off x="7846388" y="4885751"/>
            <a:ext cx="112556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Soaker tub &amp; Shower. Large windows</a:t>
            </a:r>
            <a:endParaRPr lang="en-US" sz="1000" dirty="0"/>
          </a:p>
        </p:txBody>
      </p:sp>
      <p:sp>
        <p:nvSpPr>
          <p:cNvPr id="81" name="Rectangle 80"/>
          <p:cNvSpPr/>
          <p:nvPr/>
        </p:nvSpPr>
        <p:spPr>
          <a:xfrm>
            <a:off x="5412921" y="502613"/>
            <a:ext cx="811378" cy="65741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/>
              <a:t>Small</a:t>
            </a:r>
          </a:p>
          <a:p>
            <a:pPr algn="ctr"/>
            <a:r>
              <a:rPr lang="en-US" sz="1100" dirty="0" smtClean="0"/>
              <a:t>Maids Closet</a:t>
            </a:r>
            <a:endParaRPr lang="en-US" sz="1100" dirty="0"/>
          </a:p>
        </p:txBody>
      </p:sp>
      <p:sp>
        <p:nvSpPr>
          <p:cNvPr id="83" name="TextBox 82"/>
          <p:cNvSpPr txBox="1"/>
          <p:nvPr/>
        </p:nvSpPr>
        <p:spPr>
          <a:xfrm>
            <a:off x="7742811" y="3680532"/>
            <a:ext cx="6950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Shower</a:t>
            </a:r>
            <a:endParaRPr lang="en-US" sz="1000" dirty="0"/>
          </a:p>
        </p:txBody>
      </p:sp>
      <p:sp>
        <p:nvSpPr>
          <p:cNvPr id="84" name="TextBox 83"/>
          <p:cNvSpPr txBox="1"/>
          <p:nvPr/>
        </p:nvSpPr>
        <p:spPr>
          <a:xfrm>
            <a:off x="7762377" y="3048326"/>
            <a:ext cx="6950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Shower</a:t>
            </a:r>
            <a:endParaRPr lang="en-US" sz="1000" dirty="0"/>
          </a:p>
        </p:txBody>
      </p:sp>
      <p:sp>
        <p:nvSpPr>
          <p:cNvPr id="85" name="TextBox 84"/>
          <p:cNvSpPr txBox="1"/>
          <p:nvPr/>
        </p:nvSpPr>
        <p:spPr>
          <a:xfrm>
            <a:off x="7742968" y="2316364"/>
            <a:ext cx="6950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Shower</a:t>
            </a:r>
            <a:endParaRPr lang="en-US" sz="1000" dirty="0"/>
          </a:p>
        </p:txBody>
      </p:sp>
      <p:cxnSp>
        <p:nvCxnSpPr>
          <p:cNvPr id="25" name="Straight Connector 24"/>
          <p:cNvCxnSpPr>
            <a:endCxn id="32" idx="3"/>
          </p:cNvCxnSpPr>
          <p:nvPr/>
        </p:nvCxnSpPr>
        <p:spPr>
          <a:xfrm flipH="1">
            <a:off x="6464930" y="1337917"/>
            <a:ext cx="274199" cy="2793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stCxn id="54" idx="1"/>
          </p:cNvCxnSpPr>
          <p:nvPr/>
        </p:nvCxnSpPr>
        <p:spPr>
          <a:xfrm flipH="1" flipV="1">
            <a:off x="6432493" y="1671158"/>
            <a:ext cx="306635" cy="1417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550185" y="1486485"/>
            <a:ext cx="914745" cy="26161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100" dirty="0" smtClean="0"/>
              <a:t>Connecting</a:t>
            </a:r>
            <a:endParaRPr lang="en-US" sz="1100" dirty="0"/>
          </a:p>
        </p:txBody>
      </p:sp>
      <p:sp>
        <p:nvSpPr>
          <p:cNvPr id="87" name="TextBox 86"/>
          <p:cNvSpPr txBox="1"/>
          <p:nvPr/>
        </p:nvSpPr>
        <p:spPr>
          <a:xfrm>
            <a:off x="7787056" y="1614574"/>
            <a:ext cx="6950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Shower</a:t>
            </a:r>
            <a:endParaRPr lang="en-US" sz="1000" dirty="0"/>
          </a:p>
        </p:txBody>
      </p:sp>
      <p:sp>
        <p:nvSpPr>
          <p:cNvPr id="88" name="TextBox 87"/>
          <p:cNvSpPr txBox="1"/>
          <p:nvPr/>
        </p:nvSpPr>
        <p:spPr>
          <a:xfrm>
            <a:off x="7812654" y="1033484"/>
            <a:ext cx="6950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Bath Tub</a:t>
            </a:r>
            <a:endParaRPr lang="en-US" sz="1000" dirty="0"/>
          </a:p>
        </p:txBody>
      </p:sp>
      <p:sp>
        <p:nvSpPr>
          <p:cNvPr id="89" name="TextBox 88"/>
          <p:cNvSpPr txBox="1"/>
          <p:nvPr/>
        </p:nvSpPr>
        <p:spPr>
          <a:xfrm>
            <a:off x="7794497" y="349589"/>
            <a:ext cx="6950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Shower</a:t>
            </a:r>
            <a:endParaRPr lang="en-US" sz="1000" dirty="0"/>
          </a:p>
        </p:txBody>
      </p:sp>
      <p:cxnSp>
        <p:nvCxnSpPr>
          <p:cNvPr id="34" name="Straight Connector 33"/>
          <p:cNvCxnSpPr/>
          <p:nvPr/>
        </p:nvCxnSpPr>
        <p:spPr>
          <a:xfrm flipH="1">
            <a:off x="6318504" y="3926753"/>
            <a:ext cx="420624" cy="2799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H="1" flipV="1">
            <a:off x="6300216" y="4206741"/>
            <a:ext cx="365760" cy="3652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5431536" y="4085096"/>
            <a:ext cx="914745" cy="26161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100" dirty="0" smtClean="0"/>
              <a:t>Connecting</a:t>
            </a:r>
            <a:endParaRPr lang="en-US" sz="1100" dirty="0"/>
          </a:p>
        </p:txBody>
      </p:sp>
      <p:sp>
        <p:nvSpPr>
          <p:cNvPr id="3" name="TextBox 2"/>
          <p:cNvSpPr txBox="1"/>
          <p:nvPr/>
        </p:nvSpPr>
        <p:spPr>
          <a:xfrm>
            <a:off x="9503271" y="5931620"/>
            <a:ext cx="16563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PET FLOOR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98563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32158" y="2002349"/>
            <a:ext cx="914400" cy="6953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smtClean="0"/>
              <a:t>Spa Studio Terrace</a:t>
            </a:r>
          </a:p>
          <a:p>
            <a:pPr algn="ctr"/>
            <a:r>
              <a:rPr lang="en-US" sz="900" dirty="0" smtClean="0"/>
              <a:t>K1ON</a:t>
            </a:r>
          </a:p>
          <a:p>
            <a:pPr algn="ctr"/>
            <a:r>
              <a:rPr lang="en-US" sz="900" dirty="0" smtClean="0"/>
              <a:t>326</a:t>
            </a:r>
            <a:endParaRPr lang="en-US" sz="900" dirty="0"/>
          </a:p>
        </p:txBody>
      </p:sp>
      <p:sp>
        <p:nvSpPr>
          <p:cNvPr id="5" name="Rectangle 4"/>
          <p:cNvSpPr/>
          <p:nvPr/>
        </p:nvSpPr>
        <p:spPr>
          <a:xfrm>
            <a:off x="4432158" y="2697192"/>
            <a:ext cx="914400" cy="5873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Studio Terrace King</a:t>
            </a:r>
          </a:p>
          <a:p>
            <a:pPr algn="ctr"/>
            <a:r>
              <a:rPr lang="en-US" sz="900" dirty="0"/>
              <a:t>K1KN</a:t>
            </a:r>
          </a:p>
          <a:p>
            <a:pPr algn="ctr"/>
            <a:r>
              <a:rPr lang="en-US" sz="900" dirty="0" smtClean="0"/>
              <a:t>328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1335" y="3854215"/>
            <a:ext cx="914400" cy="589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Studio Terrace King</a:t>
            </a:r>
          </a:p>
          <a:p>
            <a:pPr algn="ctr"/>
            <a:r>
              <a:rPr lang="en-US" sz="900" dirty="0" smtClean="0"/>
              <a:t>K1KN</a:t>
            </a:r>
          </a:p>
          <a:p>
            <a:pPr algn="ctr"/>
            <a:r>
              <a:rPr lang="en-US" sz="900" dirty="0"/>
              <a:t>3</a:t>
            </a:r>
            <a:r>
              <a:rPr lang="en-US" sz="900" dirty="0" smtClean="0"/>
              <a:t>32</a:t>
            </a:r>
            <a:endParaRPr lang="en-US" sz="900" dirty="0"/>
          </a:p>
        </p:txBody>
      </p:sp>
      <p:sp>
        <p:nvSpPr>
          <p:cNvPr id="7" name="Rectangle 6"/>
          <p:cNvSpPr/>
          <p:nvPr/>
        </p:nvSpPr>
        <p:spPr>
          <a:xfrm>
            <a:off x="4432158" y="3283982"/>
            <a:ext cx="914400" cy="5702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Studio Terrace Two Queens</a:t>
            </a:r>
          </a:p>
          <a:p>
            <a:pPr algn="ctr"/>
            <a:r>
              <a:rPr lang="en-US" sz="900" dirty="0" smtClean="0"/>
              <a:t>K2QN</a:t>
            </a:r>
          </a:p>
          <a:p>
            <a:pPr algn="ctr"/>
            <a:r>
              <a:rPr lang="en-US" sz="900" dirty="0"/>
              <a:t>3</a:t>
            </a:r>
            <a:r>
              <a:rPr lang="en-US" sz="900" dirty="0" smtClean="0"/>
              <a:t>30</a:t>
            </a:r>
            <a:endParaRPr lang="en-US" sz="900" dirty="0"/>
          </a:p>
        </p:txBody>
      </p:sp>
      <p:sp>
        <p:nvSpPr>
          <p:cNvPr id="8" name="Rectangle 7"/>
          <p:cNvSpPr/>
          <p:nvPr/>
        </p:nvSpPr>
        <p:spPr>
          <a:xfrm>
            <a:off x="2018569" y="4873916"/>
            <a:ext cx="839007" cy="9509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/>
              <a:t>Studio Terrace King</a:t>
            </a:r>
          </a:p>
          <a:p>
            <a:pPr algn="ctr"/>
            <a:r>
              <a:rPr lang="en-US" sz="1100" dirty="0" smtClean="0"/>
              <a:t>K1KN</a:t>
            </a:r>
          </a:p>
          <a:p>
            <a:pPr algn="ctr"/>
            <a:r>
              <a:rPr lang="en-US" sz="1100" dirty="0"/>
              <a:t>3</a:t>
            </a:r>
            <a:r>
              <a:rPr lang="en-US" sz="1100" dirty="0" smtClean="0"/>
              <a:t>40</a:t>
            </a:r>
            <a:endParaRPr lang="en-US" sz="1100" dirty="0"/>
          </a:p>
        </p:txBody>
      </p:sp>
      <p:sp>
        <p:nvSpPr>
          <p:cNvPr id="9" name="Rectangle 8"/>
          <p:cNvSpPr/>
          <p:nvPr/>
        </p:nvSpPr>
        <p:spPr>
          <a:xfrm>
            <a:off x="4510575" y="4880056"/>
            <a:ext cx="844751" cy="9431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Studio Terrace King</a:t>
            </a:r>
          </a:p>
          <a:p>
            <a:pPr algn="ctr"/>
            <a:r>
              <a:rPr lang="en-US" sz="1100" dirty="0" smtClean="0">
                <a:latin typeface="+mj-lt"/>
              </a:rPr>
              <a:t>K1KN</a:t>
            </a:r>
          </a:p>
          <a:p>
            <a:pPr algn="ctr"/>
            <a:r>
              <a:rPr lang="en-US" sz="1100" dirty="0">
                <a:latin typeface="+mj-lt"/>
              </a:rPr>
              <a:t>3</a:t>
            </a:r>
            <a:r>
              <a:rPr lang="en-US" sz="1100" dirty="0" smtClean="0">
                <a:latin typeface="+mj-lt"/>
              </a:rPr>
              <a:t>37</a:t>
            </a:r>
            <a:endParaRPr lang="en-US" sz="1100" dirty="0">
              <a:latin typeface="+mj-l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703862" y="4880056"/>
            <a:ext cx="821976" cy="9431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Studio Terrace King</a:t>
            </a:r>
          </a:p>
          <a:p>
            <a:pPr algn="ctr"/>
            <a:r>
              <a:rPr lang="en-US" sz="1100" dirty="0" smtClean="0"/>
              <a:t>K1KN</a:t>
            </a:r>
          </a:p>
          <a:p>
            <a:pPr algn="ctr"/>
            <a:r>
              <a:rPr lang="en-US" sz="1100" dirty="0" smtClean="0"/>
              <a:t>338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70092" y="4872202"/>
            <a:ext cx="820113" cy="9509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Studio Terrace King</a:t>
            </a:r>
          </a:p>
          <a:p>
            <a:pPr algn="ctr"/>
            <a:r>
              <a:rPr lang="en-US" sz="1100" dirty="0" smtClean="0"/>
              <a:t>K1KN</a:t>
            </a:r>
          </a:p>
          <a:p>
            <a:pPr algn="ctr"/>
            <a:r>
              <a:rPr lang="en-US" sz="1100" dirty="0"/>
              <a:t>3</a:t>
            </a:r>
            <a:r>
              <a:rPr lang="en-US" sz="1100" dirty="0" smtClean="0"/>
              <a:t>39</a:t>
            </a:r>
            <a:endParaRPr lang="en-US" sz="1100" dirty="0"/>
          </a:p>
        </p:txBody>
      </p:sp>
      <p:sp>
        <p:nvSpPr>
          <p:cNvPr id="22" name="Rectangle 21"/>
          <p:cNvSpPr/>
          <p:nvPr/>
        </p:nvSpPr>
        <p:spPr>
          <a:xfrm>
            <a:off x="6739128" y="2985643"/>
            <a:ext cx="914400" cy="6134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Studio Terrace King</a:t>
            </a:r>
          </a:p>
          <a:p>
            <a:pPr algn="ctr"/>
            <a:r>
              <a:rPr lang="en-US" sz="900" dirty="0"/>
              <a:t>K1KN</a:t>
            </a:r>
          </a:p>
          <a:p>
            <a:pPr algn="ctr"/>
            <a:r>
              <a:rPr lang="en-US" sz="900" dirty="0" smtClean="0"/>
              <a:t>329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39128" y="652369"/>
            <a:ext cx="914400" cy="5876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Studio Terrace King</a:t>
            </a:r>
          </a:p>
          <a:p>
            <a:pPr algn="ctr"/>
            <a:r>
              <a:rPr lang="en-US" sz="900" dirty="0"/>
              <a:t>K1KN</a:t>
            </a:r>
          </a:p>
          <a:p>
            <a:pPr algn="ctr"/>
            <a:r>
              <a:rPr lang="en-US" sz="900" dirty="0" smtClean="0"/>
              <a:t>323</a:t>
            </a:r>
            <a:endParaRPr lang="en-US" sz="900" dirty="0"/>
          </a:p>
        </p:txBody>
      </p:sp>
      <p:sp>
        <p:nvSpPr>
          <p:cNvPr id="24" name="Rectangle 23"/>
          <p:cNvSpPr/>
          <p:nvPr/>
        </p:nvSpPr>
        <p:spPr>
          <a:xfrm>
            <a:off x="6739128" y="2410273"/>
            <a:ext cx="914400" cy="5824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Studio Terrace King</a:t>
            </a:r>
          </a:p>
          <a:p>
            <a:pPr algn="ctr"/>
            <a:r>
              <a:rPr lang="en-US" sz="900" dirty="0"/>
              <a:t>K1KN</a:t>
            </a:r>
          </a:p>
          <a:p>
            <a:pPr algn="ctr"/>
            <a:r>
              <a:rPr lang="en-US" sz="900" dirty="0" smtClean="0"/>
              <a:t>327</a:t>
            </a:r>
            <a:endParaRPr lang="en-US" sz="900" dirty="0"/>
          </a:p>
        </p:txBody>
      </p:sp>
      <p:sp>
        <p:nvSpPr>
          <p:cNvPr id="26" name="Rectangle 25"/>
          <p:cNvSpPr/>
          <p:nvPr/>
        </p:nvSpPr>
        <p:spPr>
          <a:xfrm>
            <a:off x="6739128" y="25167"/>
            <a:ext cx="914400" cy="6108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Studio Terrace King</a:t>
            </a:r>
          </a:p>
          <a:p>
            <a:pPr algn="ctr"/>
            <a:r>
              <a:rPr lang="en-US" sz="900" dirty="0" smtClean="0"/>
              <a:t>K1KN</a:t>
            </a:r>
          </a:p>
          <a:p>
            <a:pPr algn="ctr"/>
            <a:r>
              <a:rPr lang="en-US" sz="900" dirty="0" smtClean="0"/>
              <a:t>321</a:t>
            </a:r>
          </a:p>
        </p:txBody>
      </p:sp>
      <p:cxnSp>
        <p:nvCxnSpPr>
          <p:cNvPr id="35" name="Straight Connector 34"/>
          <p:cNvCxnSpPr/>
          <p:nvPr/>
        </p:nvCxnSpPr>
        <p:spPr>
          <a:xfrm>
            <a:off x="1009529" y="5686573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6739128" y="1238952"/>
            <a:ext cx="914400" cy="5804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Studio Terrace King</a:t>
            </a:r>
          </a:p>
          <a:p>
            <a:pPr algn="ctr"/>
            <a:r>
              <a:rPr lang="en-US" sz="900" dirty="0" smtClean="0"/>
              <a:t>K1KN</a:t>
            </a:r>
          </a:p>
          <a:p>
            <a:pPr algn="ctr"/>
            <a:r>
              <a:rPr lang="en-US" sz="900" dirty="0" smtClean="0"/>
              <a:t>324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739128" y="1822525"/>
            <a:ext cx="914400" cy="5834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Studio Terrace Two Queens</a:t>
            </a:r>
          </a:p>
          <a:p>
            <a:pPr algn="ctr"/>
            <a:r>
              <a:rPr lang="en-US" sz="900" dirty="0" smtClean="0"/>
              <a:t>K2QN</a:t>
            </a:r>
          </a:p>
          <a:p>
            <a:pPr algn="ctr"/>
            <a:r>
              <a:rPr lang="en-US" sz="900" dirty="0" smtClean="0"/>
              <a:t>325</a:t>
            </a:r>
            <a:endParaRPr lang="en-US" sz="900" dirty="0"/>
          </a:p>
        </p:txBody>
      </p:sp>
      <p:sp>
        <p:nvSpPr>
          <p:cNvPr id="56" name="Rectangle 55"/>
          <p:cNvSpPr/>
          <p:nvPr/>
        </p:nvSpPr>
        <p:spPr>
          <a:xfrm>
            <a:off x="7655180" y="3043580"/>
            <a:ext cx="196099" cy="4544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7653528" y="730152"/>
            <a:ext cx="179464" cy="418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sp>
        <p:nvSpPr>
          <p:cNvPr id="58" name="Rectangle 57"/>
          <p:cNvSpPr/>
          <p:nvPr/>
        </p:nvSpPr>
        <p:spPr>
          <a:xfrm>
            <a:off x="7653528" y="1348930"/>
            <a:ext cx="179464" cy="4149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sp>
        <p:nvSpPr>
          <p:cNvPr id="59" name="Rectangle 58"/>
          <p:cNvSpPr/>
          <p:nvPr/>
        </p:nvSpPr>
        <p:spPr>
          <a:xfrm>
            <a:off x="7653528" y="1906963"/>
            <a:ext cx="179464" cy="4815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sp>
        <p:nvSpPr>
          <p:cNvPr id="60" name="Rectangle 59"/>
          <p:cNvSpPr/>
          <p:nvPr/>
        </p:nvSpPr>
        <p:spPr>
          <a:xfrm>
            <a:off x="7662671" y="2458738"/>
            <a:ext cx="188608" cy="4724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sp>
        <p:nvSpPr>
          <p:cNvPr id="62" name="Rectangle 61"/>
          <p:cNvSpPr/>
          <p:nvPr/>
        </p:nvSpPr>
        <p:spPr>
          <a:xfrm>
            <a:off x="7653526" y="148724"/>
            <a:ext cx="188609" cy="4149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cxnSp>
        <p:nvCxnSpPr>
          <p:cNvPr id="90" name="Straight Connector 89"/>
          <p:cNvCxnSpPr/>
          <p:nvPr/>
        </p:nvCxnSpPr>
        <p:spPr>
          <a:xfrm flipH="1" flipV="1">
            <a:off x="6923483" y="6114435"/>
            <a:ext cx="1040941" cy="920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/>
          <p:cNvCxnSpPr/>
          <p:nvPr/>
        </p:nvCxnSpPr>
        <p:spPr>
          <a:xfrm flipV="1">
            <a:off x="6923483" y="5824892"/>
            <a:ext cx="0" cy="2987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ctangle 96"/>
          <p:cNvSpPr/>
          <p:nvPr/>
        </p:nvSpPr>
        <p:spPr>
          <a:xfrm rot="16200000">
            <a:off x="2288009" y="5672131"/>
            <a:ext cx="293949" cy="5943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endParaRPr lang="en-US" dirty="0" smtClean="0"/>
          </a:p>
          <a:p>
            <a:pPr algn="ctr"/>
            <a:r>
              <a:rPr lang="en-US" dirty="0" smtClean="0"/>
              <a:t>K1</a:t>
            </a:r>
            <a:endParaRPr lang="en-US" dirty="0"/>
          </a:p>
        </p:txBody>
      </p:sp>
      <p:sp>
        <p:nvSpPr>
          <p:cNvPr id="98" name="Rectangle 97"/>
          <p:cNvSpPr/>
          <p:nvPr/>
        </p:nvSpPr>
        <p:spPr>
          <a:xfrm rot="16200000">
            <a:off x="4023115" y="5671872"/>
            <a:ext cx="290765" cy="5943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sp>
        <p:nvSpPr>
          <p:cNvPr id="99" name="Rectangle 98"/>
          <p:cNvSpPr/>
          <p:nvPr/>
        </p:nvSpPr>
        <p:spPr>
          <a:xfrm rot="16200000">
            <a:off x="3162141" y="5672002"/>
            <a:ext cx="290766" cy="5943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sp>
        <p:nvSpPr>
          <p:cNvPr id="100" name="Rectangle 99"/>
          <p:cNvSpPr/>
          <p:nvPr/>
        </p:nvSpPr>
        <p:spPr>
          <a:xfrm rot="16200000">
            <a:off x="4818987" y="5663786"/>
            <a:ext cx="290764" cy="5943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9014732" y="5645027"/>
            <a:ext cx="2633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3</a:t>
            </a:r>
            <a:r>
              <a:rPr lang="en-US" baseline="30000" dirty="0" smtClean="0"/>
              <a:t>rd</a:t>
            </a:r>
            <a:r>
              <a:rPr lang="en-US" dirty="0" smtClean="0"/>
              <a:t> Floor</a:t>
            </a:r>
            <a:endParaRPr lang="en-US" dirty="0"/>
          </a:p>
        </p:txBody>
      </p:sp>
      <p:cxnSp>
        <p:nvCxnSpPr>
          <p:cNvPr id="37" name="Straight Connector 36"/>
          <p:cNvCxnSpPr/>
          <p:nvPr/>
        </p:nvCxnSpPr>
        <p:spPr>
          <a:xfrm flipV="1">
            <a:off x="7964424" y="4726974"/>
            <a:ext cx="0" cy="13966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V="1">
            <a:off x="7516368" y="4726974"/>
            <a:ext cx="448056" cy="101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9014732" y="484632"/>
            <a:ext cx="0" cy="50383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 flipH="1">
            <a:off x="1425422" y="730152"/>
            <a:ext cx="9144" cy="37925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 rot="5400000">
            <a:off x="7817572" y="2667931"/>
            <a:ext cx="1811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+mj-lt"/>
              </a:rPr>
              <a:t>Balconies</a:t>
            </a:r>
            <a:endParaRPr lang="en-US" dirty="0">
              <a:latin typeface="+mj-lt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2699117" y="6424057"/>
            <a:ext cx="1811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+mj-lt"/>
              </a:rPr>
              <a:t>Balconies</a:t>
            </a:r>
            <a:endParaRPr lang="en-US" dirty="0">
              <a:latin typeface="+mj-lt"/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5342741" y="4883222"/>
            <a:ext cx="858425" cy="9391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Studio Terrace King</a:t>
            </a:r>
          </a:p>
          <a:p>
            <a:pPr algn="ctr"/>
            <a:r>
              <a:rPr lang="en-US" sz="1100" dirty="0" smtClean="0">
                <a:latin typeface="+mj-lt"/>
              </a:rPr>
              <a:t>K1KN</a:t>
            </a:r>
          </a:p>
          <a:p>
            <a:pPr algn="ctr"/>
            <a:r>
              <a:rPr lang="en-US" sz="1100" dirty="0">
                <a:latin typeface="+mj-lt"/>
              </a:rPr>
              <a:t>3</a:t>
            </a:r>
            <a:r>
              <a:rPr lang="en-US" sz="1100" dirty="0" smtClean="0">
                <a:latin typeface="+mj-lt"/>
              </a:rPr>
              <a:t>36</a:t>
            </a:r>
            <a:endParaRPr lang="en-US" sz="1100" dirty="0">
              <a:latin typeface="+mj-lt"/>
            </a:endParaRPr>
          </a:p>
        </p:txBody>
      </p:sp>
      <p:sp>
        <p:nvSpPr>
          <p:cNvPr id="103" name="Parallelogram 102"/>
          <p:cNvSpPr/>
          <p:nvPr/>
        </p:nvSpPr>
        <p:spPr>
          <a:xfrm>
            <a:off x="6455663" y="4711701"/>
            <a:ext cx="1197866" cy="1110635"/>
          </a:xfrm>
          <a:prstGeom prst="parallelogra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smtClean="0"/>
              <a:t>Spa </a:t>
            </a:r>
          </a:p>
          <a:p>
            <a:pPr algn="ctr"/>
            <a:r>
              <a:rPr lang="en-US" sz="900" dirty="0" smtClean="0"/>
              <a:t>         Terrace</a:t>
            </a:r>
          </a:p>
          <a:p>
            <a:pPr algn="ctr"/>
            <a:r>
              <a:rPr lang="en-US" sz="900" dirty="0" smtClean="0"/>
              <a:t>      King</a:t>
            </a:r>
          </a:p>
          <a:p>
            <a:pPr algn="ctr"/>
            <a:r>
              <a:rPr lang="en-US" sz="900" dirty="0" smtClean="0"/>
              <a:t>       K1ON</a:t>
            </a:r>
            <a:endParaRPr lang="en-US" sz="900" dirty="0"/>
          </a:p>
          <a:p>
            <a:pPr algn="ctr"/>
            <a:r>
              <a:rPr lang="en-US" sz="900" dirty="0" smtClean="0"/>
              <a:t>     334</a:t>
            </a:r>
          </a:p>
          <a:p>
            <a:pPr algn="ctr"/>
            <a:endParaRPr lang="en-US" sz="1100" dirty="0" smtClean="0"/>
          </a:p>
        </p:txBody>
      </p:sp>
      <p:sp>
        <p:nvSpPr>
          <p:cNvPr id="111" name="Rectangle 110"/>
          <p:cNvSpPr/>
          <p:nvPr/>
        </p:nvSpPr>
        <p:spPr>
          <a:xfrm>
            <a:off x="6139106" y="4880055"/>
            <a:ext cx="784377" cy="9489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Studio Terrace King</a:t>
            </a:r>
          </a:p>
          <a:p>
            <a:pPr algn="ctr"/>
            <a:r>
              <a:rPr lang="en-US" sz="1100" dirty="0" smtClean="0">
                <a:latin typeface="+mj-lt"/>
              </a:rPr>
              <a:t>K1KN</a:t>
            </a:r>
          </a:p>
          <a:p>
            <a:pPr algn="ctr"/>
            <a:r>
              <a:rPr lang="en-US" sz="1100" dirty="0">
                <a:latin typeface="+mj-lt"/>
              </a:rPr>
              <a:t>3</a:t>
            </a:r>
            <a:r>
              <a:rPr lang="en-US" sz="1100" dirty="0" smtClean="0">
                <a:latin typeface="+mj-lt"/>
              </a:rPr>
              <a:t>35</a:t>
            </a:r>
            <a:endParaRPr lang="en-US" sz="1100" dirty="0">
              <a:latin typeface="+mj-lt"/>
            </a:endParaRPr>
          </a:p>
        </p:txBody>
      </p:sp>
      <p:sp>
        <p:nvSpPr>
          <p:cNvPr id="112" name="TextBox 111"/>
          <p:cNvSpPr txBox="1"/>
          <p:nvPr/>
        </p:nvSpPr>
        <p:spPr>
          <a:xfrm rot="5400000">
            <a:off x="8508340" y="2651358"/>
            <a:ext cx="2662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Washington Ave</a:t>
            </a:r>
            <a:endParaRPr lang="en-US" dirty="0"/>
          </a:p>
        </p:txBody>
      </p:sp>
      <p:sp>
        <p:nvSpPr>
          <p:cNvPr id="115" name="TextBox 114"/>
          <p:cNvSpPr txBox="1"/>
          <p:nvPr/>
        </p:nvSpPr>
        <p:spPr>
          <a:xfrm rot="16200000">
            <a:off x="-294133" y="2762041"/>
            <a:ext cx="2662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Back Alley</a:t>
            </a:r>
            <a:endParaRPr lang="en-US" dirty="0"/>
          </a:p>
        </p:txBody>
      </p:sp>
      <p:sp>
        <p:nvSpPr>
          <p:cNvPr id="116" name="TextBox 115"/>
          <p:cNvSpPr txBox="1"/>
          <p:nvPr/>
        </p:nvSpPr>
        <p:spPr>
          <a:xfrm>
            <a:off x="3382089" y="6410330"/>
            <a:ext cx="2662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6</a:t>
            </a:r>
            <a:r>
              <a:rPr lang="en-US" baseline="30000" dirty="0" smtClean="0"/>
              <a:t>th</a:t>
            </a:r>
            <a:r>
              <a:rPr lang="en-US" dirty="0" smtClean="0"/>
              <a:t> Street</a:t>
            </a:r>
            <a:endParaRPr lang="en-US" dirty="0"/>
          </a:p>
        </p:txBody>
      </p:sp>
      <p:sp>
        <p:nvSpPr>
          <p:cNvPr id="117" name="TextBox 116"/>
          <p:cNvSpPr txBox="1"/>
          <p:nvPr/>
        </p:nvSpPr>
        <p:spPr>
          <a:xfrm>
            <a:off x="639849" y="82963"/>
            <a:ext cx="26621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Lofts</a:t>
            </a:r>
          </a:p>
          <a:p>
            <a:pPr algn="ctr"/>
            <a:r>
              <a:rPr lang="en-US" dirty="0" smtClean="0"/>
              <a:t>Connecting Door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6737476" y="3561013"/>
            <a:ext cx="914400" cy="6134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smtClean="0"/>
              <a:t>Studio Terrace Two Queens</a:t>
            </a:r>
          </a:p>
          <a:p>
            <a:pPr algn="ctr"/>
            <a:r>
              <a:rPr lang="en-US" sz="900" dirty="0" smtClean="0"/>
              <a:t>K2QN</a:t>
            </a:r>
          </a:p>
          <a:p>
            <a:pPr algn="ctr"/>
            <a:r>
              <a:rPr lang="en-US" sz="900" dirty="0" smtClean="0"/>
              <a:t>331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737476" y="4123618"/>
            <a:ext cx="914400" cy="6134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smtClean="0"/>
              <a:t>Studio Terrace Two Queens</a:t>
            </a:r>
          </a:p>
          <a:p>
            <a:pPr algn="ctr"/>
            <a:r>
              <a:rPr lang="en-US" sz="900" dirty="0" smtClean="0"/>
              <a:t>K2QN</a:t>
            </a:r>
          </a:p>
          <a:p>
            <a:pPr algn="ctr"/>
            <a:r>
              <a:rPr lang="en-US" sz="900" dirty="0"/>
              <a:t>3</a:t>
            </a:r>
            <a:r>
              <a:rPr lang="en-US" sz="900" dirty="0" smtClean="0"/>
              <a:t>33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662671" y="3626049"/>
            <a:ext cx="196099" cy="4544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sp>
        <p:nvSpPr>
          <p:cNvPr id="67" name="Rectangle 66"/>
          <p:cNvSpPr/>
          <p:nvPr/>
        </p:nvSpPr>
        <p:spPr>
          <a:xfrm>
            <a:off x="7658925" y="4171453"/>
            <a:ext cx="196099" cy="4544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sp>
        <p:nvSpPr>
          <p:cNvPr id="70" name="Rectangle 69"/>
          <p:cNvSpPr/>
          <p:nvPr/>
        </p:nvSpPr>
        <p:spPr>
          <a:xfrm>
            <a:off x="4427586" y="11934"/>
            <a:ext cx="923544" cy="6108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Studio Terrace King</a:t>
            </a:r>
          </a:p>
          <a:p>
            <a:pPr algn="ctr"/>
            <a:r>
              <a:rPr lang="en-US" sz="900" dirty="0" smtClean="0"/>
              <a:t>K1KN</a:t>
            </a:r>
          </a:p>
          <a:p>
            <a:pPr algn="ctr"/>
            <a:r>
              <a:rPr lang="en-US" sz="900" dirty="0" smtClean="0"/>
              <a:t>320</a:t>
            </a:r>
            <a:endParaRPr lang="en-US" sz="900" dirty="0"/>
          </a:p>
        </p:txBody>
      </p:sp>
      <p:sp>
        <p:nvSpPr>
          <p:cNvPr id="72" name="Rectangle 71"/>
          <p:cNvSpPr/>
          <p:nvPr/>
        </p:nvSpPr>
        <p:spPr>
          <a:xfrm>
            <a:off x="4427586" y="630527"/>
            <a:ext cx="921164" cy="6134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smtClean="0"/>
              <a:t>ADA Studio </a:t>
            </a:r>
            <a:r>
              <a:rPr lang="en-US" sz="900" dirty="0"/>
              <a:t>Terrace King</a:t>
            </a:r>
          </a:p>
          <a:p>
            <a:pPr algn="ctr"/>
            <a:r>
              <a:rPr lang="en-US" sz="900" dirty="0" smtClean="0"/>
              <a:t>K2WG</a:t>
            </a:r>
            <a:endParaRPr lang="en-US" sz="900" dirty="0"/>
          </a:p>
          <a:p>
            <a:pPr algn="ctr"/>
            <a:r>
              <a:rPr lang="en-US" sz="900" dirty="0" smtClean="0"/>
              <a:t>322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0657" y="1786492"/>
            <a:ext cx="1193838" cy="22422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ICE MACHINE</a:t>
            </a:r>
            <a:endParaRPr lang="en-US" sz="1400" dirty="0"/>
          </a:p>
        </p:txBody>
      </p:sp>
      <p:sp>
        <p:nvSpPr>
          <p:cNvPr id="21" name="Rectangle 20"/>
          <p:cNvSpPr/>
          <p:nvPr/>
        </p:nvSpPr>
        <p:spPr>
          <a:xfrm>
            <a:off x="4427586" y="1234409"/>
            <a:ext cx="923544" cy="34265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Maids Closet</a:t>
            </a:r>
            <a:endParaRPr lang="en-US" sz="1000" dirty="0"/>
          </a:p>
        </p:txBody>
      </p:sp>
      <p:sp>
        <p:nvSpPr>
          <p:cNvPr id="75" name="Rectangle 74"/>
          <p:cNvSpPr/>
          <p:nvPr/>
        </p:nvSpPr>
        <p:spPr>
          <a:xfrm>
            <a:off x="4238977" y="132985"/>
            <a:ext cx="188609" cy="4149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sp>
        <p:nvSpPr>
          <p:cNvPr id="76" name="Rectangle 75"/>
          <p:cNvSpPr/>
          <p:nvPr/>
        </p:nvSpPr>
        <p:spPr>
          <a:xfrm>
            <a:off x="4224881" y="738757"/>
            <a:ext cx="188609" cy="4149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sp>
        <p:nvSpPr>
          <p:cNvPr id="78" name="Rectangle 77"/>
          <p:cNvSpPr/>
          <p:nvPr/>
        </p:nvSpPr>
        <p:spPr>
          <a:xfrm>
            <a:off x="4240144" y="3410059"/>
            <a:ext cx="188609" cy="4149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sp>
        <p:nvSpPr>
          <p:cNvPr id="80" name="Rectangle 79"/>
          <p:cNvSpPr/>
          <p:nvPr/>
        </p:nvSpPr>
        <p:spPr>
          <a:xfrm>
            <a:off x="4242209" y="2799885"/>
            <a:ext cx="188609" cy="4149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sp>
        <p:nvSpPr>
          <p:cNvPr id="81" name="Rectangle 80"/>
          <p:cNvSpPr/>
          <p:nvPr/>
        </p:nvSpPr>
        <p:spPr>
          <a:xfrm>
            <a:off x="4251491" y="2206642"/>
            <a:ext cx="188609" cy="4149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sp>
        <p:nvSpPr>
          <p:cNvPr id="83" name="Rectangle 82"/>
          <p:cNvSpPr/>
          <p:nvPr/>
        </p:nvSpPr>
        <p:spPr>
          <a:xfrm>
            <a:off x="4252124" y="3971029"/>
            <a:ext cx="188609" cy="4149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sp>
        <p:nvSpPr>
          <p:cNvPr id="84" name="TextBox 83"/>
          <p:cNvSpPr txBox="1"/>
          <p:nvPr/>
        </p:nvSpPr>
        <p:spPr>
          <a:xfrm rot="16200000">
            <a:off x="2005277" y="2651358"/>
            <a:ext cx="1811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+mj-lt"/>
              </a:rPr>
              <a:t>Balconies</a:t>
            </a:r>
            <a:endParaRPr lang="en-US" dirty="0">
              <a:latin typeface="+mj-lt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2004024" y="6069256"/>
            <a:ext cx="8628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Shower</a:t>
            </a:r>
          </a:p>
          <a:p>
            <a:pPr algn="ctr"/>
            <a:r>
              <a:rPr lang="en-US" sz="1000" dirty="0" smtClean="0"/>
              <a:t>Small Closet</a:t>
            </a:r>
            <a:endParaRPr lang="en-US" sz="1000" dirty="0"/>
          </a:p>
        </p:txBody>
      </p:sp>
      <p:sp>
        <p:nvSpPr>
          <p:cNvPr id="68" name="TextBox 67"/>
          <p:cNvSpPr txBox="1"/>
          <p:nvPr/>
        </p:nvSpPr>
        <p:spPr>
          <a:xfrm>
            <a:off x="2955662" y="6127674"/>
            <a:ext cx="6950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Shower</a:t>
            </a:r>
            <a:endParaRPr lang="en-US" sz="1000" dirty="0"/>
          </a:p>
        </p:txBody>
      </p:sp>
      <p:sp>
        <p:nvSpPr>
          <p:cNvPr id="69" name="TextBox 68"/>
          <p:cNvSpPr txBox="1"/>
          <p:nvPr/>
        </p:nvSpPr>
        <p:spPr>
          <a:xfrm>
            <a:off x="3826106" y="6130006"/>
            <a:ext cx="6950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Shower</a:t>
            </a:r>
            <a:endParaRPr lang="en-US" sz="1000" dirty="0"/>
          </a:p>
        </p:txBody>
      </p:sp>
      <p:sp>
        <p:nvSpPr>
          <p:cNvPr id="71" name="TextBox 70"/>
          <p:cNvSpPr txBox="1"/>
          <p:nvPr/>
        </p:nvSpPr>
        <p:spPr>
          <a:xfrm>
            <a:off x="4616828" y="6128199"/>
            <a:ext cx="6950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Shower</a:t>
            </a:r>
            <a:endParaRPr lang="en-US" sz="1000" dirty="0"/>
          </a:p>
        </p:txBody>
      </p:sp>
      <p:sp>
        <p:nvSpPr>
          <p:cNvPr id="73" name="TextBox 72"/>
          <p:cNvSpPr txBox="1"/>
          <p:nvPr/>
        </p:nvSpPr>
        <p:spPr>
          <a:xfrm>
            <a:off x="5442505" y="5829002"/>
            <a:ext cx="13462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Shower/ No Balcony. Large Windows</a:t>
            </a:r>
            <a:endParaRPr lang="en-US" sz="1000" dirty="0"/>
          </a:p>
        </p:txBody>
      </p:sp>
      <p:sp>
        <p:nvSpPr>
          <p:cNvPr id="74" name="TextBox 73"/>
          <p:cNvSpPr txBox="1"/>
          <p:nvPr/>
        </p:nvSpPr>
        <p:spPr>
          <a:xfrm rot="19194558">
            <a:off x="1073549" y="5693304"/>
            <a:ext cx="901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Stairs</a:t>
            </a:r>
            <a:endParaRPr lang="en-US" dirty="0"/>
          </a:p>
        </p:txBody>
      </p:sp>
      <p:cxnSp>
        <p:nvCxnSpPr>
          <p:cNvPr id="3" name="Straight Connector 2"/>
          <p:cNvCxnSpPr/>
          <p:nvPr/>
        </p:nvCxnSpPr>
        <p:spPr>
          <a:xfrm flipH="1">
            <a:off x="896112" y="5425309"/>
            <a:ext cx="768096" cy="6439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1329200" y="5875054"/>
            <a:ext cx="635021" cy="5352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H="1">
            <a:off x="6455663" y="4301858"/>
            <a:ext cx="281813" cy="774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 flipV="1">
            <a:off x="6455663" y="4379301"/>
            <a:ext cx="281813" cy="4149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5577768" y="4241830"/>
            <a:ext cx="914745" cy="26161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100" dirty="0" smtClean="0"/>
              <a:t>Connecting</a:t>
            </a:r>
            <a:endParaRPr lang="en-US" sz="1100" dirty="0"/>
          </a:p>
        </p:txBody>
      </p:sp>
      <p:sp>
        <p:nvSpPr>
          <p:cNvPr id="82" name="TextBox 81"/>
          <p:cNvSpPr txBox="1"/>
          <p:nvPr/>
        </p:nvSpPr>
        <p:spPr>
          <a:xfrm>
            <a:off x="7801040" y="5236305"/>
            <a:ext cx="112556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Soaker tub &amp; Shower. Large Balcony</a:t>
            </a:r>
            <a:endParaRPr lang="en-US" sz="1000" dirty="0"/>
          </a:p>
        </p:txBody>
      </p:sp>
      <p:cxnSp>
        <p:nvCxnSpPr>
          <p:cNvPr id="19" name="Straight Connector 18"/>
          <p:cNvCxnSpPr>
            <a:stCxn id="55" idx="1"/>
          </p:cNvCxnSpPr>
          <p:nvPr/>
        </p:nvCxnSpPr>
        <p:spPr>
          <a:xfrm flipH="1">
            <a:off x="6327648" y="2114275"/>
            <a:ext cx="411480" cy="2450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24" idx="1"/>
          </p:cNvCxnSpPr>
          <p:nvPr/>
        </p:nvCxnSpPr>
        <p:spPr>
          <a:xfrm flipH="1" flipV="1">
            <a:off x="6326257" y="2385929"/>
            <a:ext cx="412871" cy="3155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5442567" y="2227782"/>
            <a:ext cx="914745" cy="26161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100" dirty="0" smtClean="0"/>
              <a:t>Connecting</a:t>
            </a:r>
            <a:endParaRPr lang="en-US" sz="1100" dirty="0"/>
          </a:p>
        </p:txBody>
      </p:sp>
      <p:sp>
        <p:nvSpPr>
          <p:cNvPr id="86" name="TextBox 85"/>
          <p:cNvSpPr txBox="1"/>
          <p:nvPr/>
        </p:nvSpPr>
        <p:spPr>
          <a:xfrm>
            <a:off x="7739797" y="3711131"/>
            <a:ext cx="6950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Shower</a:t>
            </a:r>
            <a:endParaRPr lang="en-US" sz="1000" dirty="0"/>
          </a:p>
        </p:txBody>
      </p:sp>
      <p:sp>
        <p:nvSpPr>
          <p:cNvPr id="87" name="TextBox 86"/>
          <p:cNvSpPr txBox="1"/>
          <p:nvPr/>
        </p:nvSpPr>
        <p:spPr>
          <a:xfrm>
            <a:off x="7742138" y="3141653"/>
            <a:ext cx="6950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Shower</a:t>
            </a:r>
            <a:endParaRPr lang="en-US" sz="1000" dirty="0"/>
          </a:p>
        </p:txBody>
      </p:sp>
      <p:sp>
        <p:nvSpPr>
          <p:cNvPr id="88" name="TextBox 87"/>
          <p:cNvSpPr txBox="1"/>
          <p:nvPr/>
        </p:nvSpPr>
        <p:spPr>
          <a:xfrm>
            <a:off x="7731227" y="2567484"/>
            <a:ext cx="6950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Shower</a:t>
            </a:r>
            <a:endParaRPr lang="en-US" sz="1000" dirty="0"/>
          </a:p>
        </p:txBody>
      </p:sp>
      <p:sp>
        <p:nvSpPr>
          <p:cNvPr id="89" name="TextBox 88"/>
          <p:cNvSpPr txBox="1"/>
          <p:nvPr/>
        </p:nvSpPr>
        <p:spPr>
          <a:xfrm>
            <a:off x="7717765" y="1443616"/>
            <a:ext cx="6950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Shower</a:t>
            </a:r>
            <a:endParaRPr lang="en-US" sz="1000" dirty="0"/>
          </a:p>
        </p:txBody>
      </p:sp>
      <p:sp>
        <p:nvSpPr>
          <p:cNvPr id="94" name="TextBox 93"/>
          <p:cNvSpPr txBox="1"/>
          <p:nvPr/>
        </p:nvSpPr>
        <p:spPr>
          <a:xfrm>
            <a:off x="7740737" y="838618"/>
            <a:ext cx="6950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Shower</a:t>
            </a:r>
            <a:endParaRPr lang="en-US" sz="1000" dirty="0"/>
          </a:p>
        </p:txBody>
      </p:sp>
      <p:sp>
        <p:nvSpPr>
          <p:cNvPr id="95" name="TextBox 94"/>
          <p:cNvSpPr txBox="1"/>
          <p:nvPr/>
        </p:nvSpPr>
        <p:spPr>
          <a:xfrm>
            <a:off x="7739797" y="224387"/>
            <a:ext cx="6950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Shower</a:t>
            </a:r>
            <a:endParaRPr lang="en-US" sz="1000" dirty="0"/>
          </a:p>
        </p:txBody>
      </p:sp>
      <p:sp>
        <p:nvSpPr>
          <p:cNvPr id="96" name="TextBox 95"/>
          <p:cNvSpPr txBox="1"/>
          <p:nvPr/>
        </p:nvSpPr>
        <p:spPr>
          <a:xfrm>
            <a:off x="7756974" y="2012371"/>
            <a:ext cx="6950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Bath Tub</a:t>
            </a:r>
            <a:endParaRPr lang="en-US" sz="1000" dirty="0"/>
          </a:p>
        </p:txBody>
      </p:sp>
      <p:sp>
        <p:nvSpPr>
          <p:cNvPr id="101" name="TextBox 100"/>
          <p:cNvSpPr txBox="1"/>
          <p:nvPr/>
        </p:nvSpPr>
        <p:spPr>
          <a:xfrm>
            <a:off x="3644847" y="4100178"/>
            <a:ext cx="6950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Shower</a:t>
            </a:r>
            <a:endParaRPr lang="en-US" sz="1000" dirty="0"/>
          </a:p>
        </p:txBody>
      </p:sp>
      <p:sp>
        <p:nvSpPr>
          <p:cNvPr id="102" name="TextBox 101"/>
          <p:cNvSpPr txBox="1"/>
          <p:nvPr/>
        </p:nvSpPr>
        <p:spPr>
          <a:xfrm>
            <a:off x="3613998" y="3507579"/>
            <a:ext cx="6950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Shower</a:t>
            </a:r>
            <a:endParaRPr lang="en-US" sz="1000" dirty="0"/>
          </a:p>
        </p:txBody>
      </p:sp>
      <p:sp>
        <p:nvSpPr>
          <p:cNvPr id="104" name="TextBox 103"/>
          <p:cNvSpPr txBox="1"/>
          <p:nvPr/>
        </p:nvSpPr>
        <p:spPr>
          <a:xfrm>
            <a:off x="3620360" y="2890756"/>
            <a:ext cx="6950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Shower</a:t>
            </a:r>
            <a:endParaRPr lang="en-US" sz="1000" dirty="0"/>
          </a:p>
        </p:txBody>
      </p:sp>
      <p:sp>
        <p:nvSpPr>
          <p:cNvPr id="105" name="TextBox 104"/>
          <p:cNvSpPr txBox="1"/>
          <p:nvPr/>
        </p:nvSpPr>
        <p:spPr>
          <a:xfrm>
            <a:off x="3224597" y="2215190"/>
            <a:ext cx="11255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Soaker tub &amp; Shower. </a:t>
            </a:r>
            <a:endParaRPr lang="en-US" sz="1000" dirty="0"/>
          </a:p>
        </p:txBody>
      </p:sp>
      <p:sp>
        <p:nvSpPr>
          <p:cNvPr id="107" name="TextBox 106"/>
          <p:cNvSpPr txBox="1"/>
          <p:nvPr/>
        </p:nvSpPr>
        <p:spPr>
          <a:xfrm>
            <a:off x="4114850" y="1485145"/>
            <a:ext cx="1500891" cy="3077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chemeClr val="bg1"/>
                </a:solidFill>
              </a:rPr>
              <a:t>Elevator Landing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3433247" y="808441"/>
            <a:ext cx="8600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Regular Tub</a:t>
            </a:r>
            <a:endParaRPr lang="en-US" sz="1000" dirty="0"/>
          </a:p>
        </p:txBody>
      </p:sp>
      <p:sp>
        <p:nvSpPr>
          <p:cNvPr id="109" name="TextBox 108"/>
          <p:cNvSpPr txBox="1"/>
          <p:nvPr/>
        </p:nvSpPr>
        <p:spPr>
          <a:xfrm>
            <a:off x="3535936" y="230750"/>
            <a:ext cx="8995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Shower</a:t>
            </a:r>
            <a:endParaRPr lang="en-US" sz="1000" dirty="0"/>
          </a:p>
        </p:txBody>
      </p:sp>
      <p:sp>
        <p:nvSpPr>
          <p:cNvPr id="110" name="TextBox 109"/>
          <p:cNvSpPr txBox="1"/>
          <p:nvPr/>
        </p:nvSpPr>
        <p:spPr>
          <a:xfrm rot="5400000">
            <a:off x="9515701" y="2750942"/>
            <a:ext cx="2758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Sunrise views</a:t>
            </a:r>
            <a:endParaRPr lang="en-US" dirty="0"/>
          </a:p>
        </p:txBody>
      </p:sp>
      <p:sp>
        <p:nvSpPr>
          <p:cNvPr id="113" name="TextBox 112"/>
          <p:cNvSpPr txBox="1"/>
          <p:nvPr/>
        </p:nvSpPr>
        <p:spPr>
          <a:xfrm rot="16200000">
            <a:off x="-892734" y="2784085"/>
            <a:ext cx="2758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Sunset Views</a:t>
            </a:r>
            <a:endParaRPr lang="en-US" dirty="0"/>
          </a:p>
        </p:txBody>
      </p:sp>
      <p:sp>
        <p:nvSpPr>
          <p:cNvPr id="114" name="TextBox 113"/>
          <p:cNvSpPr txBox="1"/>
          <p:nvPr/>
        </p:nvSpPr>
        <p:spPr>
          <a:xfrm>
            <a:off x="7755778" y="4265347"/>
            <a:ext cx="6950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Shower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973820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06646" y="1954405"/>
            <a:ext cx="923543" cy="8759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smtClean="0"/>
              <a:t>Spa Studio Terrace</a:t>
            </a:r>
          </a:p>
          <a:p>
            <a:pPr algn="ctr"/>
            <a:r>
              <a:rPr lang="en-US" sz="900" dirty="0" smtClean="0"/>
              <a:t>K1ON</a:t>
            </a:r>
          </a:p>
          <a:p>
            <a:pPr algn="ctr"/>
            <a:r>
              <a:rPr lang="en-US" sz="900" dirty="0"/>
              <a:t>4</a:t>
            </a:r>
            <a:r>
              <a:rPr lang="en-US" sz="900" dirty="0" smtClean="0"/>
              <a:t>26</a:t>
            </a:r>
            <a:endParaRPr lang="en-US" sz="900" dirty="0"/>
          </a:p>
        </p:txBody>
      </p:sp>
      <p:sp>
        <p:nvSpPr>
          <p:cNvPr id="5" name="Rectangle 4"/>
          <p:cNvSpPr/>
          <p:nvPr/>
        </p:nvSpPr>
        <p:spPr>
          <a:xfrm>
            <a:off x="4406647" y="2815452"/>
            <a:ext cx="923542" cy="6298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Studio Terrace Two Queens</a:t>
            </a:r>
          </a:p>
          <a:p>
            <a:pPr algn="ctr"/>
            <a:r>
              <a:rPr lang="en-US" sz="900" dirty="0" smtClean="0"/>
              <a:t>K2QN</a:t>
            </a:r>
          </a:p>
          <a:p>
            <a:pPr algn="ctr"/>
            <a:r>
              <a:rPr lang="en-US" sz="900" dirty="0"/>
              <a:t>4</a:t>
            </a:r>
            <a:r>
              <a:rPr lang="en-US" sz="900" dirty="0" smtClean="0"/>
              <a:t>28</a:t>
            </a:r>
          </a:p>
        </p:txBody>
      </p:sp>
      <p:sp>
        <p:nvSpPr>
          <p:cNvPr id="6" name="Rectangle 5"/>
          <p:cNvSpPr/>
          <p:nvPr/>
        </p:nvSpPr>
        <p:spPr>
          <a:xfrm>
            <a:off x="4406647" y="4014490"/>
            <a:ext cx="923542" cy="6456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Studio Terrace King</a:t>
            </a:r>
          </a:p>
          <a:p>
            <a:pPr algn="ctr"/>
            <a:r>
              <a:rPr lang="en-US" sz="900" dirty="0" smtClean="0"/>
              <a:t>K1KN</a:t>
            </a:r>
          </a:p>
          <a:p>
            <a:pPr algn="ctr"/>
            <a:r>
              <a:rPr lang="en-US" sz="900" dirty="0" smtClean="0"/>
              <a:t>432</a:t>
            </a:r>
            <a:endParaRPr lang="en-US" sz="900" dirty="0"/>
          </a:p>
        </p:txBody>
      </p:sp>
      <p:sp>
        <p:nvSpPr>
          <p:cNvPr id="7" name="Rectangle 6"/>
          <p:cNvSpPr/>
          <p:nvPr/>
        </p:nvSpPr>
        <p:spPr>
          <a:xfrm>
            <a:off x="4404995" y="3428684"/>
            <a:ext cx="921669" cy="5985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Studio Terrace Two Queens</a:t>
            </a:r>
          </a:p>
          <a:p>
            <a:pPr algn="ctr"/>
            <a:r>
              <a:rPr lang="en-US" sz="900" dirty="0" smtClean="0"/>
              <a:t>K2QN</a:t>
            </a:r>
          </a:p>
          <a:p>
            <a:pPr algn="ctr"/>
            <a:r>
              <a:rPr lang="en-US" sz="900" dirty="0" smtClean="0"/>
              <a:t>430</a:t>
            </a:r>
            <a:endParaRPr lang="en-US" sz="900" dirty="0"/>
          </a:p>
        </p:txBody>
      </p:sp>
      <p:sp>
        <p:nvSpPr>
          <p:cNvPr id="8" name="Rectangle 7"/>
          <p:cNvSpPr/>
          <p:nvPr/>
        </p:nvSpPr>
        <p:spPr>
          <a:xfrm>
            <a:off x="2018569" y="4873916"/>
            <a:ext cx="839007" cy="9509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/>
              <a:t>Studio Terrace King</a:t>
            </a:r>
          </a:p>
          <a:p>
            <a:pPr algn="ctr"/>
            <a:r>
              <a:rPr lang="en-US" sz="1100" dirty="0" smtClean="0"/>
              <a:t>K1KN</a:t>
            </a:r>
          </a:p>
          <a:p>
            <a:pPr algn="ctr"/>
            <a:r>
              <a:rPr lang="en-US" sz="1100" dirty="0" smtClean="0"/>
              <a:t>440</a:t>
            </a:r>
            <a:endParaRPr lang="en-US" sz="1100" dirty="0"/>
          </a:p>
        </p:txBody>
      </p:sp>
      <p:sp>
        <p:nvSpPr>
          <p:cNvPr id="9" name="Rectangle 8"/>
          <p:cNvSpPr/>
          <p:nvPr/>
        </p:nvSpPr>
        <p:spPr>
          <a:xfrm>
            <a:off x="4510575" y="4880056"/>
            <a:ext cx="844751" cy="9431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Studio Terrace King</a:t>
            </a:r>
          </a:p>
          <a:p>
            <a:pPr algn="ctr"/>
            <a:r>
              <a:rPr lang="en-US" sz="1100" dirty="0" smtClean="0">
                <a:latin typeface="+mj-lt"/>
              </a:rPr>
              <a:t>K1KN</a:t>
            </a:r>
          </a:p>
          <a:p>
            <a:pPr algn="ctr"/>
            <a:r>
              <a:rPr lang="en-US" sz="1100" dirty="0" smtClean="0">
                <a:latin typeface="+mj-lt"/>
              </a:rPr>
              <a:t>437</a:t>
            </a:r>
            <a:endParaRPr lang="en-US" sz="1100" dirty="0">
              <a:latin typeface="+mj-l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703862" y="4880056"/>
            <a:ext cx="821976" cy="9431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Studio Terrace King</a:t>
            </a:r>
          </a:p>
          <a:p>
            <a:pPr algn="ctr"/>
            <a:r>
              <a:rPr lang="en-US" sz="1100" dirty="0" smtClean="0"/>
              <a:t>K1KN</a:t>
            </a:r>
          </a:p>
          <a:p>
            <a:pPr algn="ctr"/>
            <a:r>
              <a:rPr lang="en-US" sz="1100" dirty="0" smtClean="0"/>
              <a:t>438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70092" y="4872202"/>
            <a:ext cx="820113" cy="9509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Studio Terrace King</a:t>
            </a:r>
          </a:p>
          <a:p>
            <a:pPr algn="ctr"/>
            <a:r>
              <a:rPr lang="en-US" sz="1100" dirty="0" smtClean="0"/>
              <a:t>K1KN</a:t>
            </a:r>
          </a:p>
          <a:p>
            <a:pPr algn="ctr"/>
            <a:r>
              <a:rPr lang="en-US" sz="1100" dirty="0" smtClean="0"/>
              <a:t>439</a:t>
            </a:r>
            <a:endParaRPr lang="en-US" sz="1100" dirty="0"/>
          </a:p>
        </p:txBody>
      </p:sp>
      <p:sp>
        <p:nvSpPr>
          <p:cNvPr id="22" name="Rectangle 21"/>
          <p:cNvSpPr/>
          <p:nvPr/>
        </p:nvSpPr>
        <p:spPr>
          <a:xfrm>
            <a:off x="6739128" y="2985643"/>
            <a:ext cx="914400" cy="6134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Studio Terrace King</a:t>
            </a:r>
          </a:p>
          <a:p>
            <a:pPr algn="ctr"/>
            <a:r>
              <a:rPr lang="en-US" sz="900" dirty="0"/>
              <a:t>K1KN</a:t>
            </a:r>
          </a:p>
          <a:p>
            <a:pPr algn="ctr"/>
            <a:r>
              <a:rPr lang="en-US" sz="900" dirty="0"/>
              <a:t>4</a:t>
            </a:r>
            <a:r>
              <a:rPr lang="en-US" sz="900" dirty="0" smtClean="0"/>
              <a:t>29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39128" y="652369"/>
            <a:ext cx="914400" cy="5876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Studio Terrace King</a:t>
            </a:r>
          </a:p>
          <a:p>
            <a:pPr algn="ctr"/>
            <a:r>
              <a:rPr lang="en-US" sz="900" dirty="0"/>
              <a:t>K1KN</a:t>
            </a:r>
          </a:p>
          <a:p>
            <a:pPr algn="ctr"/>
            <a:r>
              <a:rPr lang="en-US" sz="900" dirty="0"/>
              <a:t>4</a:t>
            </a:r>
            <a:r>
              <a:rPr lang="en-US" sz="900" dirty="0" smtClean="0"/>
              <a:t>23</a:t>
            </a:r>
            <a:endParaRPr lang="en-US" sz="900" dirty="0"/>
          </a:p>
        </p:txBody>
      </p:sp>
      <p:sp>
        <p:nvSpPr>
          <p:cNvPr id="24" name="Rectangle 23"/>
          <p:cNvSpPr/>
          <p:nvPr/>
        </p:nvSpPr>
        <p:spPr>
          <a:xfrm>
            <a:off x="6739128" y="2410273"/>
            <a:ext cx="914400" cy="5824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Studio Terrace King</a:t>
            </a:r>
          </a:p>
          <a:p>
            <a:pPr algn="ctr"/>
            <a:r>
              <a:rPr lang="en-US" sz="900" dirty="0"/>
              <a:t>K1KN</a:t>
            </a:r>
          </a:p>
          <a:p>
            <a:pPr algn="ctr"/>
            <a:r>
              <a:rPr lang="en-US" sz="900" dirty="0"/>
              <a:t>4</a:t>
            </a:r>
            <a:r>
              <a:rPr lang="en-US" sz="900" dirty="0" smtClean="0"/>
              <a:t>27</a:t>
            </a:r>
            <a:endParaRPr lang="en-US" sz="900" dirty="0"/>
          </a:p>
        </p:txBody>
      </p:sp>
      <p:sp>
        <p:nvSpPr>
          <p:cNvPr id="26" name="Rectangle 25"/>
          <p:cNvSpPr/>
          <p:nvPr/>
        </p:nvSpPr>
        <p:spPr>
          <a:xfrm>
            <a:off x="6739128" y="25167"/>
            <a:ext cx="914400" cy="6108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Studio Terrace King</a:t>
            </a:r>
          </a:p>
          <a:p>
            <a:pPr algn="ctr"/>
            <a:r>
              <a:rPr lang="en-US" sz="900" dirty="0" smtClean="0"/>
              <a:t>K1KN</a:t>
            </a:r>
          </a:p>
          <a:p>
            <a:pPr algn="ctr"/>
            <a:r>
              <a:rPr lang="en-US" sz="900" dirty="0"/>
              <a:t>4</a:t>
            </a:r>
            <a:r>
              <a:rPr lang="en-US" sz="900" dirty="0" smtClean="0"/>
              <a:t>21</a:t>
            </a:r>
          </a:p>
        </p:txBody>
      </p:sp>
      <p:cxnSp>
        <p:nvCxnSpPr>
          <p:cNvPr id="35" name="Straight Connector 34"/>
          <p:cNvCxnSpPr/>
          <p:nvPr/>
        </p:nvCxnSpPr>
        <p:spPr>
          <a:xfrm>
            <a:off x="1009529" y="5686573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6739128" y="1238952"/>
            <a:ext cx="914400" cy="5804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Studio Terrace King</a:t>
            </a:r>
          </a:p>
          <a:p>
            <a:pPr algn="ctr"/>
            <a:r>
              <a:rPr lang="en-US" sz="900" dirty="0" smtClean="0"/>
              <a:t>K1KN</a:t>
            </a:r>
          </a:p>
          <a:p>
            <a:pPr algn="ctr"/>
            <a:r>
              <a:rPr lang="en-US" sz="900" dirty="0"/>
              <a:t>4</a:t>
            </a:r>
            <a:r>
              <a:rPr lang="en-US" sz="900" dirty="0" smtClean="0"/>
              <a:t>24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739128" y="1822525"/>
            <a:ext cx="914400" cy="5834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Studio Terrace Two Queens</a:t>
            </a:r>
          </a:p>
          <a:p>
            <a:pPr algn="ctr"/>
            <a:r>
              <a:rPr lang="en-US" sz="900" dirty="0" smtClean="0"/>
              <a:t>K2QN</a:t>
            </a:r>
          </a:p>
          <a:p>
            <a:pPr algn="ctr"/>
            <a:r>
              <a:rPr lang="en-US" sz="900" dirty="0"/>
              <a:t>4</a:t>
            </a:r>
            <a:r>
              <a:rPr lang="en-US" sz="900" dirty="0" smtClean="0"/>
              <a:t>25</a:t>
            </a:r>
            <a:endParaRPr lang="en-US" sz="900" dirty="0"/>
          </a:p>
        </p:txBody>
      </p:sp>
      <p:sp>
        <p:nvSpPr>
          <p:cNvPr id="56" name="Rectangle 55"/>
          <p:cNvSpPr/>
          <p:nvPr/>
        </p:nvSpPr>
        <p:spPr>
          <a:xfrm>
            <a:off x="7655180" y="3043580"/>
            <a:ext cx="196099" cy="4544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7653528" y="730152"/>
            <a:ext cx="179464" cy="418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sp>
        <p:nvSpPr>
          <p:cNvPr id="58" name="Rectangle 57"/>
          <p:cNvSpPr/>
          <p:nvPr/>
        </p:nvSpPr>
        <p:spPr>
          <a:xfrm>
            <a:off x="7653528" y="1348930"/>
            <a:ext cx="179464" cy="4149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sp>
        <p:nvSpPr>
          <p:cNvPr id="59" name="Rectangle 58"/>
          <p:cNvSpPr/>
          <p:nvPr/>
        </p:nvSpPr>
        <p:spPr>
          <a:xfrm>
            <a:off x="7653528" y="1906963"/>
            <a:ext cx="179464" cy="4815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sp>
        <p:nvSpPr>
          <p:cNvPr id="60" name="Rectangle 59"/>
          <p:cNvSpPr/>
          <p:nvPr/>
        </p:nvSpPr>
        <p:spPr>
          <a:xfrm>
            <a:off x="7662671" y="2458738"/>
            <a:ext cx="188608" cy="4724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sp>
        <p:nvSpPr>
          <p:cNvPr id="62" name="Rectangle 61"/>
          <p:cNvSpPr/>
          <p:nvPr/>
        </p:nvSpPr>
        <p:spPr>
          <a:xfrm>
            <a:off x="7653526" y="148724"/>
            <a:ext cx="188609" cy="4149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cxnSp>
        <p:nvCxnSpPr>
          <p:cNvPr id="90" name="Straight Connector 89"/>
          <p:cNvCxnSpPr/>
          <p:nvPr/>
        </p:nvCxnSpPr>
        <p:spPr>
          <a:xfrm flipH="1" flipV="1">
            <a:off x="6923483" y="6114435"/>
            <a:ext cx="1040941" cy="920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/>
          <p:cNvCxnSpPr/>
          <p:nvPr/>
        </p:nvCxnSpPr>
        <p:spPr>
          <a:xfrm flipV="1">
            <a:off x="6923483" y="5824892"/>
            <a:ext cx="0" cy="2987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ctangle 96"/>
          <p:cNvSpPr/>
          <p:nvPr/>
        </p:nvSpPr>
        <p:spPr>
          <a:xfrm rot="16200000">
            <a:off x="2288009" y="5672131"/>
            <a:ext cx="293949" cy="5943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endParaRPr lang="en-US" dirty="0" smtClean="0"/>
          </a:p>
          <a:p>
            <a:pPr algn="ctr"/>
            <a:r>
              <a:rPr lang="en-US" dirty="0" smtClean="0"/>
              <a:t>K1</a:t>
            </a:r>
            <a:endParaRPr lang="en-US" dirty="0"/>
          </a:p>
        </p:txBody>
      </p:sp>
      <p:sp>
        <p:nvSpPr>
          <p:cNvPr id="98" name="Rectangle 97"/>
          <p:cNvSpPr/>
          <p:nvPr/>
        </p:nvSpPr>
        <p:spPr>
          <a:xfrm rot="16200000">
            <a:off x="4023115" y="5671872"/>
            <a:ext cx="290765" cy="5943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sp>
        <p:nvSpPr>
          <p:cNvPr id="99" name="Rectangle 98"/>
          <p:cNvSpPr/>
          <p:nvPr/>
        </p:nvSpPr>
        <p:spPr>
          <a:xfrm rot="16200000">
            <a:off x="3166250" y="5667893"/>
            <a:ext cx="282548" cy="5943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sp>
        <p:nvSpPr>
          <p:cNvPr id="100" name="Rectangle 99"/>
          <p:cNvSpPr/>
          <p:nvPr/>
        </p:nvSpPr>
        <p:spPr>
          <a:xfrm rot="16200000">
            <a:off x="4818987" y="5663786"/>
            <a:ext cx="290764" cy="5943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9014732" y="5645027"/>
            <a:ext cx="2633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4</a:t>
            </a:r>
            <a:r>
              <a:rPr lang="en-US" baseline="30000" dirty="0" smtClean="0"/>
              <a:t>th</a:t>
            </a:r>
            <a:r>
              <a:rPr lang="en-US" dirty="0" smtClean="0"/>
              <a:t> Floor</a:t>
            </a:r>
            <a:endParaRPr lang="en-US" dirty="0"/>
          </a:p>
        </p:txBody>
      </p:sp>
      <p:cxnSp>
        <p:nvCxnSpPr>
          <p:cNvPr id="37" name="Straight Connector 36"/>
          <p:cNvCxnSpPr/>
          <p:nvPr/>
        </p:nvCxnSpPr>
        <p:spPr>
          <a:xfrm flipV="1">
            <a:off x="7964424" y="4726974"/>
            <a:ext cx="0" cy="13966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V="1">
            <a:off x="7516368" y="4726974"/>
            <a:ext cx="448056" cy="101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9014732" y="484632"/>
            <a:ext cx="0" cy="50383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 flipH="1">
            <a:off x="1152144" y="779416"/>
            <a:ext cx="9144" cy="37925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 rot="5400000">
            <a:off x="7598333" y="2667931"/>
            <a:ext cx="1811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+mj-lt"/>
              </a:rPr>
              <a:t>Balconies</a:t>
            </a:r>
            <a:endParaRPr lang="en-US" dirty="0">
              <a:latin typeface="+mj-lt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2530670" y="6488668"/>
            <a:ext cx="1811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+mj-lt"/>
              </a:rPr>
              <a:t>Balconies</a:t>
            </a:r>
            <a:endParaRPr lang="en-US" dirty="0">
              <a:latin typeface="+mj-lt"/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5342741" y="4883222"/>
            <a:ext cx="858425" cy="9391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Studio Terrace King</a:t>
            </a:r>
          </a:p>
          <a:p>
            <a:pPr algn="ctr"/>
            <a:r>
              <a:rPr lang="en-US" sz="1100" dirty="0" smtClean="0">
                <a:latin typeface="+mj-lt"/>
              </a:rPr>
              <a:t>K1KN</a:t>
            </a:r>
          </a:p>
          <a:p>
            <a:pPr algn="ctr"/>
            <a:r>
              <a:rPr lang="en-US" sz="1100" dirty="0" smtClean="0">
                <a:latin typeface="+mj-lt"/>
              </a:rPr>
              <a:t>436</a:t>
            </a:r>
            <a:endParaRPr lang="en-US" sz="1100" dirty="0">
              <a:latin typeface="+mj-lt"/>
            </a:endParaRPr>
          </a:p>
        </p:txBody>
      </p:sp>
      <p:sp>
        <p:nvSpPr>
          <p:cNvPr id="103" name="Parallelogram 102"/>
          <p:cNvSpPr/>
          <p:nvPr/>
        </p:nvSpPr>
        <p:spPr>
          <a:xfrm>
            <a:off x="6455663" y="4726974"/>
            <a:ext cx="1197865" cy="1095362"/>
          </a:xfrm>
          <a:prstGeom prst="parallelogra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smtClean="0"/>
              <a:t>Spa </a:t>
            </a:r>
          </a:p>
          <a:p>
            <a:pPr algn="ctr"/>
            <a:r>
              <a:rPr lang="en-US" sz="900" dirty="0" smtClean="0"/>
              <a:t>         Terrace</a:t>
            </a:r>
          </a:p>
          <a:p>
            <a:pPr algn="ctr"/>
            <a:r>
              <a:rPr lang="en-US" sz="900" dirty="0" smtClean="0"/>
              <a:t>      King</a:t>
            </a:r>
          </a:p>
          <a:p>
            <a:pPr algn="ctr"/>
            <a:r>
              <a:rPr lang="en-US" sz="900" dirty="0" smtClean="0"/>
              <a:t>       K1ON</a:t>
            </a:r>
            <a:endParaRPr lang="en-US" sz="900" dirty="0"/>
          </a:p>
          <a:p>
            <a:pPr algn="ctr"/>
            <a:r>
              <a:rPr lang="en-US" sz="900" dirty="0" smtClean="0"/>
              <a:t>     434</a:t>
            </a:r>
          </a:p>
          <a:p>
            <a:pPr algn="ctr"/>
            <a:endParaRPr lang="en-US" sz="1100" dirty="0" smtClean="0"/>
          </a:p>
        </p:txBody>
      </p:sp>
      <p:sp>
        <p:nvSpPr>
          <p:cNvPr id="111" name="Rectangle 110"/>
          <p:cNvSpPr/>
          <p:nvPr/>
        </p:nvSpPr>
        <p:spPr>
          <a:xfrm>
            <a:off x="6139106" y="4880055"/>
            <a:ext cx="784377" cy="9489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Studio Terrace King</a:t>
            </a:r>
          </a:p>
          <a:p>
            <a:pPr algn="ctr"/>
            <a:r>
              <a:rPr lang="en-US" sz="1100" dirty="0" smtClean="0">
                <a:latin typeface="+mj-lt"/>
              </a:rPr>
              <a:t>K1KN</a:t>
            </a:r>
          </a:p>
          <a:p>
            <a:pPr algn="ctr"/>
            <a:r>
              <a:rPr lang="en-US" sz="1100" dirty="0" smtClean="0">
                <a:latin typeface="+mj-lt"/>
              </a:rPr>
              <a:t>435</a:t>
            </a:r>
            <a:endParaRPr lang="en-US" sz="1100" dirty="0">
              <a:latin typeface="+mj-lt"/>
            </a:endParaRPr>
          </a:p>
        </p:txBody>
      </p:sp>
      <p:sp>
        <p:nvSpPr>
          <p:cNvPr id="112" name="TextBox 111"/>
          <p:cNvSpPr txBox="1"/>
          <p:nvPr/>
        </p:nvSpPr>
        <p:spPr>
          <a:xfrm rot="5400000">
            <a:off x="8508340" y="2651358"/>
            <a:ext cx="2662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Washington Ave</a:t>
            </a:r>
            <a:endParaRPr lang="en-US" dirty="0"/>
          </a:p>
        </p:txBody>
      </p:sp>
      <p:sp>
        <p:nvSpPr>
          <p:cNvPr id="115" name="TextBox 114"/>
          <p:cNvSpPr txBox="1"/>
          <p:nvPr/>
        </p:nvSpPr>
        <p:spPr>
          <a:xfrm rot="16200000">
            <a:off x="-390884" y="2788653"/>
            <a:ext cx="2662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Back Alley</a:t>
            </a:r>
            <a:endParaRPr lang="en-US" dirty="0"/>
          </a:p>
        </p:txBody>
      </p:sp>
      <p:sp>
        <p:nvSpPr>
          <p:cNvPr id="116" name="TextBox 115"/>
          <p:cNvSpPr txBox="1"/>
          <p:nvPr/>
        </p:nvSpPr>
        <p:spPr>
          <a:xfrm>
            <a:off x="3382089" y="6410330"/>
            <a:ext cx="2662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6</a:t>
            </a:r>
            <a:r>
              <a:rPr lang="en-US" baseline="30000" dirty="0" smtClean="0"/>
              <a:t>th</a:t>
            </a:r>
            <a:r>
              <a:rPr lang="en-US" dirty="0" smtClean="0"/>
              <a:t> Street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6737476" y="3561013"/>
            <a:ext cx="914400" cy="6134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smtClean="0"/>
              <a:t>Studio Terrace Two Queens</a:t>
            </a:r>
          </a:p>
          <a:p>
            <a:pPr algn="ctr"/>
            <a:r>
              <a:rPr lang="en-US" sz="900" dirty="0" smtClean="0"/>
              <a:t>K2QN</a:t>
            </a:r>
          </a:p>
          <a:p>
            <a:pPr algn="ctr"/>
            <a:r>
              <a:rPr lang="en-US" sz="900" dirty="0"/>
              <a:t>4</a:t>
            </a:r>
            <a:r>
              <a:rPr lang="en-US" sz="900" dirty="0" smtClean="0"/>
              <a:t>31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737476" y="4123618"/>
            <a:ext cx="914400" cy="6134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smtClean="0"/>
              <a:t>Studio Terrace Two Queens</a:t>
            </a:r>
          </a:p>
          <a:p>
            <a:pPr algn="ctr"/>
            <a:r>
              <a:rPr lang="en-US" sz="900" dirty="0" smtClean="0"/>
              <a:t>K2QN</a:t>
            </a:r>
          </a:p>
          <a:p>
            <a:pPr algn="ctr"/>
            <a:r>
              <a:rPr lang="en-US" sz="900" dirty="0" smtClean="0"/>
              <a:t>433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662671" y="3626049"/>
            <a:ext cx="196099" cy="4544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sp>
        <p:nvSpPr>
          <p:cNvPr id="67" name="Rectangle 66"/>
          <p:cNvSpPr/>
          <p:nvPr/>
        </p:nvSpPr>
        <p:spPr>
          <a:xfrm>
            <a:off x="7658925" y="4171453"/>
            <a:ext cx="196099" cy="4544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sp>
        <p:nvSpPr>
          <p:cNvPr id="70" name="Rectangle 69"/>
          <p:cNvSpPr/>
          <p:nvPr/>
        </p:nvSpPr>
        <p:spPr>
          <a:xfrm>
            <a:off x="4406645" y="28639"/>
            <a:ext cx="923544" cy="6108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Studio Terrace King</a:t>
            </a:r>
          </a:p>
          <a:p>
            <a:pPr algn="ctr"/>
            <a:r>
              <a:rPr lang="en-US" sz="900" dirty="0" smtClean="0"/>
              <a:t>K1KN</a:t>
            </a:r>
          </a:p>
          <a:p>
            <a:pPr algn="ctr"/>
            <a:r>
              <a:rPr lang="en-US" sz="900" dirty="0"/>
              <a:t>4</a:t>
            </a:r>
            <a:r>
              <a:rPr lang="en-US" sz="900" dirty="0" smtClean="0"/>
              <a:t>20</a:t>
            </a:r>
            <a:endParaRPr lang="en-US" sz="900" dirty="0"/>
          </a:p>
        </p:txBody>
      </p:sp>
      <p:sp>
        <p:nvSpPr>
          <p:cNvPr id="72" name="Rectangle 71"/>
          <p:cNvSpPr/>
          <p:nvPr/>
        </p:nvSpPr>
        <p:spPr>
          <a:xfrm>
            <a:off x="4406645" y="640329"/>
            <a:ext cx="923544" cy="6134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smtClean="0"/>
              <a:t>ADA Studio Terrace King</a:t>
            </a:r>
          </a:p>
          <a:p>
            <a:pPr algn="ctr"/>
            <a:r>
              <a:rPr lang="en-US" sz="900" dirty="0" smtClean="0"/>
              <a:t>KJAN</a:t>
            </a:r>
            <a:endParaRPr lang="en-US" sz="900" dirty="0"/>
          </a:p>
          <a:p>
            <a:pPr algn="ctr"/>
            <a:r>
              <a:rPr lang="en-US" sz="900" dirty="0"/>
              <a:t>4</a:t>
            </a:r>
            <a:r>
              <a:rPr lang="en-US" sz="900" dirty="0" smtClean="0"/>
              <a:t>22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06645" y="1255004"/>
            <a:ext cx="923544" cy="4058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Maids Closet</a:t>
            </a:r>
            <a:endParaRPr lang="en-US" sz="1000" dirty="0"/>
          </a:p>
        </p:txBody>
      </p:sp>
      <p:sp>
        <p:nvSpPr>
          <p:cNvPr id="75" name="Rectangle 74"/>
          <p:cNvSpPr/>
          <p:nvPr/>
        </p:nvSpPr>
        <p:spPr>
          <a:xfrm>
            <a:off x="4225414" y="143431"/>
            <a:ext cx="188609" cy="4149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sp>
        <p:nvSpPr>
          <p:cNvPr id="76" name="Rectangle 75"/>
          <p:cNvSpPr/>
          <p:nvPr/>
        </p:nvSpPr>
        <p:spPr>
          <a:xfrm>
            <a:off x="4225414" y="743798"/>
            <a:ext cx="188609" cy="4149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sp>
        <p:nvSpPr>
          <p:cNvPr id="78" name="Rectangle 77"/>
          <p:cNvSpPr/>
          <p:nvPr/>
        </p:nvSpPr>
        <p:spPr>
          <a:xfrm>
            <a:off x="4221080" y="3548869"/>
            <a:ext cx="188609" cy="4149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sp>
        <p:nvSpPr>
          <p:cNvPr id="80" name="Rectangle 79"/>
          <p:cNvSpPr/>
          <p:nvPr/>
        </p:nvSpPr>
        <p:spPr>
          <a:xfrm>
            <a:off x="4216386" y="2947562"/>
            <a:ext cx="188609" cy="4149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sp>
        <p:nvSpPr>
          <p:cNvPr id="81" name="Rectangle 80"/>
          <p:cNvSpPr/>
          <p:nvPr/>
        </p:nvSpPr>
        <p:spPr>
          <a:xfrm>
            <a:off x="4228678" y="2216839"/>
            <a:ext cx="188609" cy="4149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sp>
        <p:nvSpPr>
          <p:cNvPr id="83" name="Rectangle 82"/>
          <p:cNvSpPr/>
          <p:nvPr/>
        </p:nvSpPr>
        <p:spPr>
          <a:xfrm>
            <a:off x="4216386" y="4172026"/>
            <a:ext cx="188609" cy="4149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sp>
        <p:nvSpPr>
          <p:cNvPr id="84" name="TextBox 83"/>
          <p:cNvSpPr txBox="1"/>
          <p:nvPr/>
        </p:nvSpPr>
        <p:spPr>
          <a:xfrm rot="16200000">
            <a:off x="1137737" y="2667930"/>
            <a:ext cx="1811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+mj-lt"/>
              </a:rPr>
              <a:t>Balconies</a:t>
            </a:r>
            <a:endParaRPr lang="en-US" dirty="0">
              <a:latin typeface="+mj-lt"/>
            </a:endParaRPr>
          </a:p>
        </p:txBody>
      </p:sp>
      <p:sp>
        <p:nvSpPr>
          <p:cNvPr id="66" name="TextBox 65"/>
          <p:cNvSpPr txBox="1"/>
          <p:nvPr/>
        </p:nvSpPr>
        <p:spPr>
          <a:xfrm rot="5400000">
            <a:off x="9515701" y="2750942"/>
            <a:ext cx="2758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Sunrise views</a:t>
            </a:r>
            <a:endParaRPr lang="en-US" dirty="0"/>
          </a:p>
        </p:txBody>
      </p:sp>
      <p:sp>
        <p:nvSpPr>
          <p:cNvPr id="68" name="TextBox 67"/>
          <p:cNvSpPr txBox="1"/>
          <p:nvPr/>
        </p:nvSpPr>
        <p:spPr>
          <a:xfrm rot="16200000">
            <a:off x="-883487" y="2762096"/>
            <a:ext cx="2758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Sunset Views</a:t>
            </a:r>
            <a:endParaRPr lang="en-US" dirty="0"/>
          </a:p>
        </p:txBody>
      </p:sp>
      <p:sp>
        <p:nvSpPr>
          <p:cNvPr id="69" name="TextBox 68"/>
          <p:cNvSpPr txBox="1"/>
          <p:nvPr/>
        </p:nvSpPr>
        <p:spPr>
          <a:xfrm rot="19194558">
            <a:off x="997090" y="5794091"/>
            <a:ext cx="901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Stairs</a:t>
            </a:r>
            <a:endParaRPr lang="en-US" dirty="0"/>
          </a:p>
        </p:txBody>
      </p:sp>
      <p:cxnSp>
        <p:nvCxnSpPr>
          <p:cNvPr id="3" name="Straight Connector 2"/>
          <p:cNvCxnSpPr/>
          <p:nvPr/>
        </p:nvCxnSpPr>
        <p:spPr>
          <a:xfrm flipH="1">
            <a:off x="943612" y="5347690"/>
            <a:ext cx="858119" cy="6666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1358963" y="5943625"/>
            <a:ext cx="599446" cy="4667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4117971" y="1668038"/>
            <a:ext cx="1500891" cy="3077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chemeClr val="bg1"/>
                </a:solidFill>
              </a:rPr>
              <a:t>Elevator Landing</a:t>
            </a:r>
            <a:endParaRPr lang="en-US" sz="1400" dirty="0">
              <a:solidFill>
                <a:schemeClr val="bg1"/>
              </a:solidFill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 flipH="1">
            <a:off x="6565392" y="4255208"/>
            <a:ext cx="172084" cy="1613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 flipV="1">
            <a:off x="6526437" y="4336698"/>
            <a:ext cx="179464" cy="4149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H="1" flipV="1">
            <a:off x="6455663" y="2596896"/>
            <a:ext cx="281813" cy="2448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stCxn id="55" idx="1"/>
          </p:cNvCxnSpPr>
          <p:nvPr/>
        </p:nvCxnSpPr>
        <p:spPr>
          <a:xfrm flipH="1">
            <a:off x="6455663" y="2114275"/>
            <a:ext cx="283465" cy="4369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5581085" y="2432282"/>
            <a:ext cx="914745" cy="26161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100" dirty="0" smtClean="0"/>
              <a:t>Connecting</a:t>
            </a:r>
            <a:endParaRPr lang="en-US" sz="1100" dirty="0"/>
          </a:p>
        </p:txBody>
      </p:sp>
      <p:sp>
        <p:nvSpPr>
          <p:cNvPr id="82" name="TextBox 81"/>
          <p:cNvSpPr txBox="1"/>
          <p:nvPr/>
        </p:nvSpPr>
        <p:spPr>
          <a:xfrm>
            <a:off x="5700250" y="4304070"/>
            <a:ext cx="914745" cy="26161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100" dirty="0" smtClean="0"/>
              <a:t>Connecting</a:t>
            </a:r>
            <a:endParaRPr lang="en-US" sz="1100" dirty="0"/>
          </a:p>
        </p:txBody>
      </p:sp>
      <p:sp>
        <p:nvSpPr>
          <p:cNvPr id="85" name="TextBox 84"/>
          <p:cNvSpPr txBox="1"/>
          <p:nvPr/>
        </p:nvSpPr>
        <p:spPr>
          <a:xfrm>
            <a:off x="2004024" y="6069256"/>
            <a:ext cx="8628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Shower</a:t>
            </a:r>
          </a:p>
          <a:p>
            <a:pPr algn="ctr"/>
            <a:r>
              <a:rPr lang="en-US" sz="1000" dirty="0" smtClean="0"/>
              <a:t>Small Closet</a:t>
            </a:r>
            <a:endParaRPr lang="en-US" sz="1000" dirty="0"/>
          </a:p>
        </p:txBody>
      </p:sp>
      <p:sp>
        <p:nvSpPr>
          <p:cNvPr id="86" name="TextBox 85"/>
          <p:cNvSpPr txBox="1"/>
          <p:nvPr/>
        </p:nvSpPr>
        <p:spPr>
          <a:xfrm>
            <a:off x="2948786" y="6106347"/>
            <a:ext cx="6950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Shower</a:t>
            </a:r>
            <a:endParaRPr lang="en-US" sz="1000" dirty="0"/>
          </a:p>
        </p:txBody>
      </p:sp>
      <p:sp>
        <p:nvSpPr>
          <p:cNvPr id="87" name="TextBox 86"/>
          <p:cNvSpPr txBox="1"/>
          <p:nvPr/>
        </p:nvSpPr>
        <p:spPr>
          <a:xfrm>
            <a:off x="3806215" y="6106348"/>
            <a:ext cx="6950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Shower</a:t>
            </a:r>
            <a:endParaRPr lang="en-US" sz="1000" dirty="0"/>
          </a:p>
        </p:txBody>
      </p:sp>
      <p:sp>
        <p:nvSpPr>
          <p:cNvPr id="88" name="TextBox 87"/>
          <p:cNvSpPr txBox="1"/>
          <p:nvPr/>
        </p:nvSpPr>
        <p:spPr>
          <a:xfrm>
            <a:off x="4635108" y="6106347"/>
            <a:ext cx="6950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Shower</a:t>
            </a:r>
            <a:endParaRPr lang="en-US" sz="1000" dirty="0"/>
          </a:p>
        </p:txBody>
      </p:sp>
      <p:sp>
        <p:nvSpPr>
          <p:cNvPr id="89" name="TextBox 88"/>
          <p:cNvSpPr txBox="1"/>
          <p:nvPr/>
        </p:nvSpPr>
        <p:spPr>
          <a:xfrm>
            <a:off x="5442505" y="5829002"/>
            <a:ext cx="13462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Shower/ No Balcony. Large Windows</a:t>
            </a:r>
            <a:endParaRPr lang="en-US" sz="1000" dirty="0"/>
          </a:p>
        </p:txBody>
      </p:sp>
      <p:sp>
        <p:nvSpPr>
          <p:cNvPr id="94" name="TextBox 93"/>
          <p:cNvSpPr txBox="1"/>
          <p:nvPr/>
        </p:nvSpPr>
        <p:spPr>
          <a:xfrm>
            <a:off x="7801040" y="5236305"/>
            <a:ext cx="112556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Soaker tub &amp; Shower. Large Balcony</a:t>
            </a:r>
            <a:endParaRPr lang="en-US" sz="1000" dirty="0"/>
          </a:p>
        </p:txBody>
      </p:sp>
      <p:sp>
        <p:nvSpPr>
          <p:cNvPr id="95" name="TextBox 94"/>
          <p:cNvSpPr txBox="1"/>
          <p:nvPr/>
        </p:nvSpPr>
        <p:spPr>
          <a:xfrm>
            <a:off x="7761686" y="4277720"/>
            <a:ext cx="6950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Shower</a:t>
            </a:r>
            <a:endParaRPr lang="en-US" sz="1000" dirty="0"/>
          </a:p>
        </p:txBody>
      </p:sp>
      <p:sp>
        <p:nvSpPr>
          <p:cNvPr id="96" name="TextBox 95"/>
          <p:cNvSpPr txBox="1"/>
          <p:nvPr/>
        </p:nvSpPr>
        <p:spPr>
          <a:xfrm>
            <a:off x="7761686" y="3771730"/>
            <a:ext cx="6950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Shower</a:t>
            </a:r>
            <a:endParaRPr lang="en-US" sz="1000" dirty="0"/>
          </a:p>
        </p:txBody>
      </p:sp>
      <p:sp>
        <p:nvSpPr>
          <p:cNvPr id="101" name="TextBox 100"/>
          <p:cNvSpPr txBox="1"/>
          <p:nvPr/>
        </p:nvSpPr>
        <p:spPr>
          <a:xfrm>
            <a:off x="7761686" y="3147733"/>
            <a:ext cx="6950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Shower</a:t>
            </a:r>
            <a:endParaRPr lang="en-US" sz="1000" dirty="0"/>
          </a:p>
        </p:txBody>
      </p:sp>
      <p:sp>
        <p:nvSpPr>
          <p:cNvPr id="102" name="TextBox 101"/>
          <p:cNvSpPr txBox="1"/>
          <p:nvPr/>
        </p:nvSpPr>
        <p:spPr>
          <a:xfrm>
            <a:off x="7751109" y="2544598"/>
            <a:ext cx="6950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Shower</a:t>
            </a:r>
            <a:endParaRPr lang="en-US" sz="1000" dirty="0"/>
          </a:p>
        </p:txBody>
      </p:sp>
      <p:sp>
        <p:nvSpPr>
          <p:cNvPr id="104" name="TextBox 103"/>
          <p:cNvSpPr txBox="1"/>
          <p:nvPr/>
        </p:nvSpPr>
        <p:spPr>
          <a:xfrm>
            <a:off x="7773961" y="2023617"/>
            <a:ext cx="6950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Bath Tub</a:t>
            </a:r>
            <a:endParaRPr lang="en-US" sz="1000" dirty="0"/>
          </a:p>
        </p:txBody>
      </p:sp>
      <p:sp>
        <p:nvSpPr>
          <p:cNvPr id="105" name="TextBox 104"/>
          <p:cNvSpPr txBox="1"/>
          <p:nvPr/>
        </p:nvSpPr>
        <p:spPr>
          <a:xfrm>
            <a:off x="7747830" y="1443182"/>
            <a:ext cx="6950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Shower</a:t>
            </a:r>
            <a:endParaRPr lang="en-US" sz="1000" dirty="0"/>
          </a:p>
        </p:txBody>
      </p:sp>
      <p:sp>
        <p:nvSpPr>
          <p:cNvPr id="106" name="TextBox 105"/>
          <p:cNvSpPr txBox="1"/>
          <p:nvPr/>
        </p:nvSpPr>
        <p:spPr>
          <a:xfrm>
            <a:off x="7756974" y="840779"/>
            <a:ext cx="6950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Shower</a:t>
            </a:r>
            <a:endParaRPr lang="en-US" sz="1000" dirty="0"/>
          </a:p>
        </p:txBody>
      </p:sp>
      <p:sp>
        <p:nvSpPr>
          <p:cNvPr id="107" name="TextBox 106"/>
          <p:cNvSpPr txBox="1"/>
          <p:nvPr/>
        </p:nvSpPr>
        <p:spPr>
          <a:xfrm>
            <a:off x="7780168" y="243684"/>
            <a:ext cx="6950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Shower</a:t>
            </a:r>
            <a:endParaRPr lang="en-US" sz="1000" dirty="0"/>
          </a:p>
        </p:txBody>
      </p:sp>
      <p:sp>
        <p:nvSpPr>
          <p:cNvPr id="108" name="TextBox 107"/>
          <p:cNvSpPr txBox="1"/>
          <p:nvPr/>
        </p:nvSpPr>
        <p:spPr>
          <a:xfrm>
            <a:off x="3647711" y="4285050"/>
            <a:ext cx="6950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Shower</a:t>
            </a:r>
            <a:endParaRPr lang="en-US" sz="1000" dirty="0"/>
          </a:p>
        </p:txBody>
      </p:sp>
      <p:sp>
        <p:nvSpPr>
          <p:cNvPr id="109" name="TextBox 108"/>
          <p:cNvSpPr txBox="1"/>
          <p:nvPr/>
        </p:nvSpPr>
        <p:spPr>
          <a:xfrm>
            <a:off x="3646050" y="3615446"/>
            <a:ext cx="6950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Shower</a:t>
            </a:r>
            <a:endParaRPr lang="en-US" sz="1000" dirty="0"/>
          </a:p>
        </p:txBody>
      </p:sp>
      <p:sp>
        <p:nvSpPr>
          <p:cNvPr id="110" name="TextBox 109"/>
          <p:cNvSpPr txBox="1"/>
          <p:nvPr/>
        </p:nvSpPr>
        <p:spPr>
          <a:xfrm>
            <a:off x="3615609" y="3031172"/>
            <a:ext cx="6950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Shower</a:t>
            </a:r>
            <a:endParaRPr lang="en-US" sz="1000" dirty="0"/>
          </a:p>
        </p:txBody>
      </p:sp>
      <p:sp>
        <p:nvSpPr>
          <p:cNvPr id="113" name="TextBox 112"/>
          <p:cNvSpPr txBox="1"/>
          <p:nvPr/>
        </p:nvSpPr>
        <p:spPr>
          <a:xfrm>
            <a:off x="3296326" y="2231182"/>
            <a:ext cx="11255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Soaker tub &amp; Shower. </a:t>
            </a:r>
            <a:endParaRPr lang="en-US" sz="1000" dirty="0"/>
          </a:p>
        </p:txBody>
      </p:sp>
      <p:sp>
        <p:nvSpPr>
          <p:cNvPr id="114" name="TextBox 113"/>
          <p:cNvSpPr txBox="1"/>
          <p:nvPr/>
        </p:nvSpPr>
        <p:spPr>
          <a:xfrm>
            <a:off x="3433247" y="808441"/>
            <a:ext cx="8600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Regular Tub</a:t>
            </a:r>
            <a:endParaRPr lang="en-US" sz="1000" dirty="0"/>
          </a:p>
        </p:txBody>
      </p:sp>
      <p:sp>
        <p:nvSpPr>
          <p:cNvPr id="118" name="TextBox 117"/>
          <p:cNvSpPr txBox="1"/>
          <p:nvPr/>
        </p:nvSpPr>
        <p:spPr>
          <a:xfrm>
            <a:off x="3636188" y="251391"/>
            <a:ext cx="6950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Shower</a:t>
            </a:r>
            <a:endParaRPr lang="en-US" sz="1000" dirty="0"/>
          </a:p>
        </p:txBody>
      </p:sp>
      <p:sp>
        <p:nvSpPr>
          <p:cNvPr id="119" name="TextBox 118"/>
          <p:cNvSpPr txBox="1"/>
          <p:nvPr/>
        </p:nvSpPr>
        <p:spPr>
          <a:xfrm>
            <a:off x="877461" y="91613"/>
            <a:ext cx="26621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Lofts</a:t>
            </a:r>
          </a:p>
          <a:p>
            <a:pPr algn="ctr"/>
            <a:r>
              <a:rPr lang="en-US" dirty="0" smtClean="0"/>
              <a:t>Connecting Door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848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22427" y="2038450"/>
            <a:ext cx="914400" cy="6953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smtClean="0"/>
              <a:t>Spa Studio Terrace</a:t>
            </a:r>
          </a:p>
          <a:p>
            <a:pPr algn="ctr"/>
            <a:r>
              <a:rPr lang="en-US" sz="900" dirty="0" smtClean="0"/>
              <a:t>K1ON</a:t>
            </a:r>
          </a:p>
          <a:p>
            <a:pPr algn="ctr"/>
            <a:r>
              <a:rPr lang="en-US" sz="900" dirty="0"/>
              <a:t>5</a:t>
            </a:r>
            <a:r>
              <a:rPr lang="en-US" sz="900" dirty="0" smtClean="0"/>
              <a:t>26</a:t>
            </a:r>
            <a:endParaRPr lang="en-US" sz="900" dirty="0"/>
          </a:p>
        </p:txBody>
      </p:sp>
      <p:sp>
        <p:nvSpPr>
          <p:cNvPr id="5" name="Rectangle 4"/>
          <p:cNvSpPr/>
          <p:nvPr/>
        </p:nvSpPr>
        <p:spPr>
          <a:xfrm>
            <a:off x="4422427" y="2732764"/>
            <a:ext cx="914400" cy="5873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Studio Terrace Two Queens</a:t>
            </a:r>
          </a:p>
          <a:p>
            <a:pPr algn="ctr"/>
            <a:r>
              <a:rPr lang="en-US" sz="900" dirty="0" smtClean="0"/>
              <a:t>K2QN</a:t>
            </a:r>
          </a:p>
          <a:p>
            <a:pPr algn="ctr"/>
            <a:r>
              <a:rPr lang="en-US" sz="900" dirty="0"/>
              <a:t>5</a:t>
            </a:r>
            <a:r>
              <a:rPr lang="en-US" sz="900" dirty="0" smtClean="0"/>
              <a:t>28</a:t>
            </a:r>
          </a:p>
        </p:txBody>
      </p:sp>
      <p:sp>
        <p:nvSpPr>
          <p:cNvPr id="6" name="Rectangle 5"/>
          <p:cNvSpPr/>
          <p:nvPr/>
        </p:nvSpPr>
        <p:spPr>
          <a:xfrm>
            <a:off x="4422427" y="3872205"/>
            <a:ext cx="914400" cy="589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Studio Terrace King</a:t>
            </a:r>
          </a:p>
          <a:p>
            <a:pPr algn="ctr"/>
            <a:r>
              <a:rPr lang="en-US" sz="900" dirty="0" smtClean="0"/>
              <a:t>K1KN</a:t>
            </a:r>
          </a:p>
          <a:p>
            <a:pPr algn="ctr"/>
            <a:r>
              <a:rPr lang="en-US" sz="900" dirty="0"/>
              <a:t>5</a:t>
            </a:r>
            <a:r>
              <a:rPr lang="en-US" sz="900" dirty="0" smtClean="0"/>
              <a:t>32</a:t>
            </a:r>
            <a:endParaRPr lang="en-US" sz="900" dirty="0"/>
          </a:p>
        </p:txBody>
      </p:sp>
      <p:sp>
        <p:nvSpPr>
          <p:cNvPr id="7" name="Rectangle 6"/>
          <p:cNvSpPr/>
          <p:nvPr/>
        </p:nvSpPr>
        <p:spPr>
          <a:xfrm>
            <a:off x="4422427" y="3330304"/>
            <a:ext cx="914400" cy="5702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Studio Terrace Two Queens</a:t>
            </a:r>
          </a:p>
          <a:p>
            <a:pPr algn="ctr"/>
            <a:r>
              <a:rPr lang="en-US" sz="900" dirty="0" smtClean="0"/>
              <a:t>K2QN</a:t>
            </a:r>
          </a:p>
          <a:p>
            <a:pPr algn="ctr"/>
            <a:r>
              <a:rPr lang="en-US" sz="900" dirty="0"/>
              <a:t>5</a:t>
            </a:r>
            <a:r>
              <a:rPr lang="en-US" sz="900" dirty="0" smtClean="0"/>
              <a:t>30</a:t>
            </a:r>
            <a:endParaRPr lang="en-US" sz="900" dirty="0"/>
          </a:p>
        </p:txBody>
      </p:sp>
      <p:sp>
        <p:nvSpPr>
          <p:cNvPr id="8" name="Rectangle 7"/>
          <p:cNvSpPr/>
          <p:nvPr/>
        </p:nvSpPr>
        <p:spPr>
          <a:xfrm>
            <a:off x="2018569" y="4873916"/>
            <a:ext cx="839007" cy="9509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/>
              <a:t>Studio Terrace King</a:t>
            </a:r>
          </a:p>
          <a:p>
            <a:pPr algn="ctr"/>
            <a:r>
              <a:rPr lang="en-US" sz="1100" dirty="0" smtClean="0"/>
              <a:t>K1KN</a:t>
            </a:r>
          </a:p>
          <a:p>
            <a:pPr algn="ctr"/>
            <a:r>
              <a:rPr lang="en-US" sz="1100" dirty="0" smtClean="0"/>
              <a:t>540</a:t>
            </a:r>
            <a:endParaRPr lang="en-US" sz="1100" dirty="0"/>
          </a:p>
        </p:txBody>
      </p:sp>
      <p:sp>
        <p:nvSpPr>
          <p:cNvPr id="9" name="Rectangle 8"/>
          <p:cNvSpPr/>
          <p:nvPr/>
        </p:nvSpPr>
        <p:spPr>
          <a:xfrm>
            <a:off x="4510575" y="4880056"/>
            <a:ext cx="844751" cy="9431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Studio Terrace King</a:t>
            </a:r>
          </a:p>
          <a:p>
            <a:pPr algn="ctr"/>
            <a:r>
              <a:rPr lang="en-US" sz="1100" dirty="0" smtClean="0">
                <a:latin typeface="+mj-lt"/>
              </a:rPr>
              <a:t>K1KN</a:t>
            </a:r>
          </a:p>
          <a:p>
            <a:pPr algn="ctr"/>
            <a:r>
              <a:rPr lang="en-US" sz="1100" dirty="0">
                <a:latin typeface="+mj-lt"/>
              </a:rPr>
              <a:t>5</a:t>
            </a:r>
            <a:r>
              <a:rPr lang="en-US" sz="1100" dirty="0" smtClean="0">
                <a:latin typeface="+mj-lt"/>
              </a:rPr>
              <a:t>37</a:t>
            </a:r>
            <a:endParaRPr lang="en-US" sz="1100" dirty="0">
              <a:latin typeface="+mj-l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703862" y="4880056"/>
            <a:ext cx="821976" cy="9431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Studio Terrace King</a:t>
            </a:r>
          </a:p>
          <a:p>
            <a:pPr algn="ctr"/>
            <a:r>
              <a:rPr lang="en-US" sz="1100" dirty="0" smtClean="0"/>
              <a:t>K1KN</a:t>
            </a:r>
          </a:p>
          <a:p>
            <a:pPr algn="ctr"/>
            <a:r>
              <a:rPr lang="en-US" sz="1100" dirty="0"/>
              <a:t>5</a:t>
            </a:r>
            <a:r>
              <a:rPr lang="en-US" sz="1100" dirty="0" smtClean="0"/>
              <a:t>38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70092" y="4872202"/>
            <a:ext cx="820113" cy="9509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Studio Terrace King</a:t>
            </a:r>
          </a:p>
          <a:p>
            <a:pPr algn="ctr"/>
            <a:r>
              <a:rPr lang="en-US" sz="1100" dirty="0" smtClean="0"/>
              <a:t>K1KN</a:t>
            </a:r>
          </a:p>
          <a:p>
            <a:pPr algn="ctr"/>
            <a:r>
              <a:rPr lang="en-US" sz="1100" dirty="0" smtClean="0"/>
              <a:t>539</a:t>
            </a:r>
            <a:endParaRPr lang="en-US" sz="1100" dirty="0"/>
          </a:p>
        </p:txBody>
      </p:sp>
      <p:sp>
        <p:nvSpPr>
          <p:cNvPr id="22" name="Rectangle 21"/>
          <p:cNvSpPr/>
          <p:nvPr/>
        </p:nvSpPr>
        <p:spPr>
          <a:xfrm>
            <a:off x="6739128" y="2985643"/>
            <a:ext cx="914400" cy="6134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Studio Terrace King</a:t>
            </a:r>
          </a:p>
          <a:p>
            <a:pPr algn="ctr"/>
            <a:r>
              <a:rPr lang="en-US" sz="900" dirty="0"/>
              <a:t>K1KN</a:t>
            </a:r>
          </a:p>
          <a:p>
            <a:pPr algn="ctr"/>
            <a:r>
              <a:rPr lang="en-US" sz="900" dirty="0"/>
              <a:t>5</a:t>
            </a:r>
            <a:r>
              <a:rPr lang="en-US" sz="900" dirty="0" smtClean="0"/>
              <a:t>29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39128" y="652369"/>
            <a:ext cx="914400" cy="5876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Studio Terrace King</a:t>
            </a:r>
          </a:p>
          <a:p>
            <a:pPr algn="ctr"/>
            <a:r>
              <a:rPr lang="en-US" sz="900" dirty="0"/>
              <a:t>K1KN</a:t>
            </a:r>
          </a:p>
          <a:p>
            <a:pPr algn="ctr"/>
            <a:r>
              <a:rPr lang="en-US" sz="900" dirty="0"/>
              <a:t>5</a:t>
            </a:r>
            <a:r>
              <a:rPr lang="en-US" sz="900" dirty="0" smtClean="0"/>
              <a:t>23</a:t>
            </a:r>
            <a:endParaRPr lang="en-US" sz="900" dirty="0"/>
          </a:p>
        </p:txBody>
      </p:sp>
      <p:sp>
        <p:nvSpPr>
          <p:cNvPr id="24" name="Rectangle 23"/>
          <p:cNvSpPr/>
          <p:nvPr/>
        </p:nvSpPr>
        <p:spPr>
          <a:xfrm>
            <a:off x="6739128" y="2410273"/>
            <a:ext cx="914400" cy="5824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Studio Terrace King</a:t>
            </a:r>
          </a:p>
          <a:p>
            <a:pPr algn="ctr"/>
            <a:r>
              <a:rPr lang="en-US" sz="900" dirty="0"/>
              <a:t>K1KN</a:t>
            </a:r>
          </a:p>
          <a:p>
            <a:pPr algn="ctr"/>
            <a:r>
              <a:rPr lang="en-US" sz="900" dirty="0"/>
              <a:t>5</a:t>
            </a:r>
            <a:r>
              <a:rPr lang="en-US" sz="900" dirty="0" smtClean="0"/>
              <a:t>27</a:t>
            </a:r>
            <a:endParaRPr lang="en-US" sz="900" dirty="0"/>
          </a:p>
        </p:txBody>
      </p:sp>
      <p:sp>
        <p:nvSpPr>
          <p:cNvPr id="26" name="Rectangle 25"/>
          <p:cNvSpPr/>
          <p:nvPr/>
        </p:nvSpPr>
        <p:spPr>
          <a:xfrm>
            <a:off x="6739128" y="25167"/>
            <a:ext cx="914400" cy="6108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Studio Terrace King</a:t>
            </a:r>
          </a:p>
          <a:p>
            <a:pPr algn="ctr"/>
            <a:r>
              <a:rPr lang="en-US" sz="900" dirty="0" smtClean="0"/>
              <a:t>K1KN</a:t>
            </a:r>
          </a:p>
          <a:p>
            <a:pPr algn="ctr"/>
            <a:r>
              <a:rPr lang="en-US" sz="900" dirty="0"/>
              <a:t>5</a:t>
            </a:r>
            <a:r>
              <a:rPr lang="en-US" sz="900" dirty="0" smtClean="0"/>
              <a:t>21</a:t>
            </a:r>
          </a:p>
        </p:txBody>
      </p:sp>
      <p:cxnSp>
        <p:nvCxnSpPr>
          <p:cNvPr id="35" name="Straight Connector 34"/>
          <p:cNvCxnSpPr/>
          <p:nvPr/>
        </p:nvCxnSpPr>
        <p:spPr>
          <a:xfrm>
            <a:off x="1009529" y="5686573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6739128" y="1238952"/>
            <a:ext cx="914400" cy="5804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Studio Terrace King</a:t>
            </a:r>
          </a:p>
          <a:p>
            <a:pPr algn="ctr"/>
            <a:r>
              <a:rPr lang="en-US" sz="900" dirty="0" smtClean="0"/>
              <a:t>K1KN</a:t>
            </a:r>
          </a:p>
          <a:p>
            <a:pPr algn="ctr"/>
            <a:r>
              <a:rPr lang="en-US" sz="900" dirty="0"/>
              <a:t>5</a:t>
            </a:r>
            <a:r>
              <a:rPr lang="en-US" sz="900" dirty="0" smtClean="0"/>
              <a:t>24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739128" y="1822525"/>
            <a:ext cx="914400" cy="5834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Studio Terrace Two Queens</a:t>
            </a:r>
          </a:p>
          <a:p>
            <a:pPr algn="ctr"/>
            <a:r>
              <a:rPr lang="en-US" sz="900" dirty="0" smtClean="0"/>
              <a:t>K2QN</a:t>
            </a:r>
          </a:p>
          <a:p>
            <a:pPr algn="ctr"/>
            <a:r>
              <a:rPr lang="en-US" sz="900" dirty="0"/>
              <a:t>5</a:t>
            </a:r>
            <a:r>
              <a:rPr lang="en-US" sz="900" dirty="0" smtClean="0"/>
              <a:t>25</a:t>
            </a:r>
            <a:endParaRPr lang="en-US" sz="900" dirty="0"/>
          </a:p>
        </p:txBody>
      </p:sp>
      <p:sp>
        <p:nvSpPr>
          <p:cNvPr id="56" name="Rectangle 55"/>
          <p:cNvSpPr/>
          <p:nvPr/>
        </p:nvSpPr>
        <p:spPr>
          <a:xfrm>
            <a:off x="7655180" y="3043580"/>
            <a:ext cx="196099" cy="4544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7653528" y="730152"/>
            <a:ext cx="179464" cy="418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sp>
        <p:nvSpPr>
          <p:cNvPr id="58" name="Rectangle 57"/>
          <p:cNvSpPr/>
          <p:nvPr/>
        </p:nvSpPr>
        <p:spPr>
          <a:xfrm>
            <a:off x="7653528" y="1348930"/>
            <a:ext cx="179464" cy="4149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sp>
        <p:nvSpPr>
          <p:cNvPr id="59" name="Rectangle 58"/>
          <p:cNvSpPr/>
          <p:nvPr/>
        </p:nvSpPr>
        <p:spPr>
          <a:xfrm>
            <a:off x="7653528" y="1906963"/>
            <a:ext cx="179464" cy="4815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sp>
        <p:nvSpPr>
          <p:cNvPr id="60" name="Rectangle 59"/>
          <p:cNvSpPr/>
          <p:nvPr/>
        </p:nvSpPr>
        <p:spPr>
          <a:xfrm>
            <a:off x="7662671" y="2458738"/>
            <a:ext cx="188608" cy="4724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sp>
        <p:nvSpPr>
          <p:cNvPr id="62" name="Rectangle 61"/>
          <p:cNvSpPr/>
          <p:nvPr/>
        </p:nvSpPr>
        <p:spPr>
          <a:xfrm>
            <a:off x="7653526" y="148724"/>
            <a:ext cx="188609" cy="4149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cxnSp>
        <p:nvCxnSpPr>
          <p:cNvPr id="90" name="Straight Connector 89"/>
          <p:cNvCxnSpPr/>
          <p:nvPr/>
        </p:nvCxnSpPr>
        <p:spPr>
          <a:xfrm flipH="1" flipV="1">
            <a:off x="6923483" y="6114435"/>
            <a:ext cx="1040941" cy="920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/>
          <p:cNvCxnSpPr/>
          <p:nvPr/>
        </p:nvCxnSpPr>
        <p:spPr>
          <a:xfrm flipV="1">
            <a:off x="6923483" y="5824892"/>
            <a:ext cx="0" cy="2987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ctangle 96"/>
          <p:cNvSpPr/>
          <p:nvPr/>
        </p:nvSpPr>
        <p:spPr>
          <a:xfrm rot="16200000">
            <a:off x="2288009" y="5672131"/>
            <a:ext cx="293949" cy="5943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endParaRPr lang="en-US" dirty="0" smtClean="0"/>
          </a:p>
          <a:p>
            <a:pPr algn="ctr"/>
            <a:r>
              <a:rPr lang="en-US" dirty="0" smtClean="0"/>
              <a:t>K1</a:t>
            </a:r>
            <a:endParaRPr lang="en-US" dirty="0"/>
          </a:p>
        </p:txBody>
      </p:sp>
      <p:sp>
        <p:nvSpPr>
          <p:cNvPr id="98" name="Rectangle 97"/>
          <p:cNvSpPr/>
          <p:nvPr/>
        </p:nvSpPr>
        <p:spPr>
          <a:xfrm rot="16200000">
            <a:off x="4023115" y="5671872"/>
            <a:ext cx="290765" cy="5943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sp>
        <p:nvSpPr>
          <p:cNvPr id="99" name="Rectangle 98"/>
          <p:cNvSpPr/>
          <p:nvPr/>
        </p:nvSpPr>
        <p:spPr>
          <a:xfrm rot="16200000">
            <a:off x="3162141" y="5672002"/>
            <a:ext cx="290766" cy="5943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sp>
        <p:nvSpPr>
          <p:cNvPr id="100" name="Rectangle 99"/>
          <p:cNvSpPr/>
          <p:nvPr/>
        </p:nvSpPr>
        <p:spPr>
          <a:xfrm rot="16200000">
            <a:off x="4818987" y="5663786"/>
            <a:ext cx="290764" cy="5943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9014732" y="5645027"/>
            <a:ext cx="2633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5</a:t>
            </a:r>
            <a:r>
              <a:rPr lang="en-US" baseline="30000" dirty="0" smtClean="0"/>
              <a:t>th</a:t>
            </a:r>
            <a:r>
              <a:rPr lang="en-US" dirty="0" smtClean="0"/>
              <a:t> Floor</a:t>
            </a:r>
            <a:endParaRPr lang="en-US" dirty="0"/>
          </a:p>
        </p:txBody>
      </p:sp>
      <p:cxnSp>
        <p:nvCxnSpPr>
          <p:cNvPr id="37" name="Straight Connector 36"/>
          <p:cNvCxnSpPr/>
          <p:nvPr/>
        </p:nvCxnSpPr>
        <p:spPr>
          <a:xfrm flipV="1">
            <a:off x="7964424" y="4726974"/>
            <a:ext cx="0" cy="13966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V="1">
            <a:off x="7516368" y="4726974"/>
            <a:ext cx="448056" cy="101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9014732" y="484632"/>
            <a:ext cx="0" cy="50383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 flipH="1">
            <a:off x="1425422" y="730152"/>
            <a:ext cx="9144" cy="37925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 rot="5400000">
            <a:off x="7817572" y="2667931"/>
            <a:ext cx="1811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+mj-lt"/>
              </a:rPr>
              <a:t>Balconies</a:t>
            </a:r>
            <a:endParaRPr lang="en-US" dirty="0">
              <a:latin typeface="+mj-lt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2699117" y="6424057"/>
            <a:ext cx="1811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+mj-lt"/>
              </a:rPr>
              <a:t>Balconies</a:t>
            </a:r>
            <a:endParaRPr lang="en-US" dirty="0">
              <a:latin typeface="+mj-lt"/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5342741" y="4883222"/>
            <a:ext cx="858425" cy="9391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Studio Terrace King</a:t>
            </a:r>
          </a:p>
          <a:p>
            <a:pPr algn="ctr"/>
            <a:r>
              <a:rPr lang="en-US" sz="1100" dirty="0" smtClean="0">
                <a:latin typeface="+mj-lt"/>
              </a:rPr>
              <a:t>K1KN</a:t>
            </a:r>
          </a:p>
          <a:p>
            <a:pPr algn="ctr"/>
            <a:r>
              <a:rPr lang="en-US" sz="1100" dirty="0">
                <a:latin typeface="+mj-lt"/>
              </a:rPr>
              <a:t>5</a:t>
            </a:r>
            <a:r>
              <a:rPr lang="en-US" sz="1100" dirty="0" smtClean="0">
                <a:latin typeface="+mj-lt"/>
              </a:rPr>
              <a:t>36</a:t>
            </a:r>
            <a:endParaRPr lang="en-US" sz="1100" dirty="0">
              <a:latin typeface="+mj-lt"/>
            </a:endParaRPr>
          </a:p>
        </p:txBody>
      </p:sp>
      <p:sp>
        <p:nvSpPr>
          <p:cNvPr id="103" name="Parallelogram 102"/>
          <p:cNvSpPr/>
          <p:nvPr/>
        </p:nvSpPr>
        <p:spPr>
          <a:xfrm>
            <a:off x="6455663" y="4726974"/>
            <a:ext cx="1197865" cy="1095362"/>
          </a:xfrm>
          <a:prstGeom prst="parallelogra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smtClean="0"/>
              <a:t>Spa </a:t>
            </a:r>
          </a:p>
          <a:p>
            <a:pPr algn="ctr"/>
            <a:r>
              <a:rPr lang="en-US" sz="900" dirty="0" smtClean="0"/>
              <a:t>         Terrace</a:t>
            </a:r>
          </a:p>
          <a:p>
            <a:pPr algn="ctr"/>
            <a:r>
              <a:rPr lang="en-US" sz="900" dirty="0" smtClean="0"/>
              <a:t>      King</a:t>
            </a:r>
          </a:p>
          <a:p>
            <a:pPr algn="ctr"/>
            <a:r>
              <a:rPr lang="en-US" sz="900" dirty="0" smtClean="0"/>
              <a:t>       K1ON</a:t>
            </a:r>
            <a:endParaRPr lang="en-US" sz="900" dirty="0"/>
          </a:p>
          <a:p>
            <a:pPr algn="ctr"/>
            <a:r>
              <a:rPr lang="en-US" sz="900" dirty="0" smtClean="0"/>
              <a:t>     534</a:t>
            </a:r>
          </a:p>
          <a:p>
            <a:pPr algn="ctr"/>
            <a:endParaRPr lang="en-US" sz="1100" dirty="0" smtClean="0"/>
          </a:p>
        </p:txBody>
      </p:sp>
      <p:sp>
        <p:nvSpPr>
          <p:cNvPr id="111" name="Rectangle 110"/>
          <p:cNvSpPr/>
          <p:nvPr/>
        </p:nvSpPr>
        <p:spPr>
          <a:xfrm>
            <a:off x="6139106" y="4880055"/>
            <a:ext cx="784377" cy="9489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Studio Terrace King</a:t>
            </a:r>
          </a:p>
          <a:p>
            <a:pPr algn="ctr"/>
            <a:r>
              <a:rPr lang="en-US" sz="1100" dirty="0" smtClean="0">
                <a:latin typeface="+mj-lt"/>
              </a:rPr>
              <a:t>K1KN</a:t>
            </a:r>
          </a:p>
          <a:p>
            <a:pPr algn="ctr"/>
            <a:r>
              <a:rPr lang="en-US" sz="1100" dirty="0">
                <a:latin typeface="+mj-lt"/>
              </a:rPr>
              <a:t>5</a:t>
            </a:r>
            <a:r>
              <a:rPr lang="en-US" sz="1100" dirty="0" smtClean="0">
                <a:latin typeface="+mj-lt"/>
              </a:rPr>
              <a:t>35</a:t>
            </a:r>
            <a:endParaRPr lang="en-US" sz="1100" dirty="0">
              <a:latin typeface="+mj-lt"/>
            </a:endParaRPr>
          </a:p>
        </p:txBody>
      </p:sp>
      <p:sp>
        <p:nvSpPr>
          <p:cNvPr id="112" name="TextBox 111"/>
          <p:cNvSpPr txBox="1"/>
          <p:nvPr/>
        </p:nvSpPr>
        <p:spPr>
          <a:xfrm rot="5400000">
            <a:off x="8508340" y="2651358"/>
            <a:ext cx="2662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Washington Ave</a:t>
            </a:r>
            <a:endParaRPr lang="en-US" dirty="0"/>
          </a:p>
        </p:txBody>
      </p:sp>
      <p:sp>
        <p:nvSpPr>
          <p:cNvPr id="115" name="TextBox 114"/>
          <p:cNvSpPr txBox="1"/>
          <p:nvPr/>
        </p:nvSpPr>
        <p:spPr>
          <a:xfrm rot="16200000">
            <a:off x="-294133" y="2762041"/>
            <a:ext cx="2662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Back Alley</a:t>
            </a:r>
            <a:endParaRPr lang="en-US" dirty="0"/>
          </a:p>
        </p:txBody>
      </p:sp>
      <p:sp>
        <p:nvSpPr>
          <p:cNvPr id="116" name="TextBox 115"/>
          <p:cNvSpPr txBox="1"/>
          <p:nvPr/>
        </p:nvSpPr>
        <p:spPr>
          <a:xfrm>
            <a:off x="3382089" y="6410330"/>
            <a:ext cx="2662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6</a:t>
            </a:r>
            <a:r>
              <a:rPr lang="en-US" baseline="30000" dirty="0" smtClean="0"/>
              <a:t>th</a:t>
            </a:r>
            <a:r>
              <a:rPr lang="en-US" dirty="0" smtClean="0"/>
              <a:t> Street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6737476" y="3561013"/>
            <a:ext cx="914400" cy="6134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smtClean="0"/>
              <a:t>Studio Terrace Two Queens</a:t>
            </a:r>
          </a:p>
          <a:p>
            <a:pPr algn="ctr"/>
            <a:r>
              <a:rPr lang="en-US" sz="900" dirty="0" smtClean="0"/>
              <a:t>K2QN</a:t>
            </a:r>
          </a:p>
          <a:p>
            <a:pPr algn="ctr"/>
            <a:r>
              <a:rPr lang="en-US" sz="900" dirty="0"/>
              <a:t>5</a:t>
            </a:r>
            <a:r>
              <a:rPr lang="en-US" sz="900" dirty="0" smtClean="0"/>
              <a:t>31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737476" y="4123618"/>
            <a:ext cx="914400" cy="6134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smtClean="0"/>
              <a:t>ADA Studio Terrace King</a:t>
            </a:r>
          </a:p>
          <a:p>
            <a:pPr algn="ctr"/>
            <a:r>
              <a:rPr lang="en-US" sz="900" dirty="0" smtClean="0"/>
              <a:t>KJAN</a:t>
            </a:r>
          </a:p>
          <a:p>
            <a:pPr algn="ctr"/>
            <a:r>
              <a:rPr lang="en-US" sz="900" dirty="0"/>
              <a:t>5</a:t>
            </a:r>
            <a:r>
              <a:rPr lang="en-US" sz="900" dirty="0" smtClean="0"/>
              <a:t>33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662671" y="3626049"/>
            <a:ext cx="196099" cy="4544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sp>
        <p:nvSpPr>
          <p:cNvPr id="67" name="Rectangle 66"/>
          <p:cNvSpPr/>
          <p:nvPr/>
        </p:nvSpPr>
        <p:spPr>
          <a:xfrm>
            <a:off x="7658925" y="4171453"/>
            <a:ext cx="196099" cy="4544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sp>
        <p:nvSpPr>
          <p:cNvPr id="70" name="Rectangle 69"/>
          <p:cNvSpPr/>
          <p:nvPr/>
        </p:nvSpPr>
        <p:spPr>
          <a:xfrm>
            <a:off x="4427586" y="11934"/>
            <a:ext cx="923544" cy="6108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Studio Terrace King</a:t>
            </a:r>
          </a:p>
          <a:p>
            <a:pPr algn="ctr"/>
            <a:r>
              <a:rPr lang="en-US" sz="900" dirty="0" smtClean="0"/>
              <a:t>K1KN</a:t>
            </a:r>
          </a:p>
          <a:p>
            <a:pPr algn="ctr"/>
            <a:r>
              <a:rPr lang="en-US" sz="900" dirty="0"/>
              <a:t>5</a:t>
            </a:r>
            <a:r>
              <a:rPr lang="en-US" sz="900" dirty="0" smtClean="0"/>
              <a:t>20</a:t>
            </a:r>
            <a:endParaRPr lang="en-US" sz="900" dirty="0"/>
          </a:p>
        </p:txBody>
      </p:sp>
      <p:sp>
        <p:nvSpPr>
          <p:cNvPr id="72" name="Rectangle 71"/>
          <p:cNvSpPr/>
          <p:nvPr/>
        </p:nvSpPr>
        <p:spPr>
          <a:xfrm>
            <a:off x="4427586" y="630527"/>
            <a:ext cx="921164" cy="6134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smtClean="0"/>
              <a:t>ADA Studio </a:t>
            </a:r>
            <a:r>
              <a:rPr lang="en-US" sz="900" dirty="0"/>
              <a:t>Terrace King</a:t>
            </a:r>
          </a:p>
          <a:p>
            <a:pPr algn="ctr"/>
            <a:r>
              <a:rPr lang="en-US" sz="900" dirty="0" smtClean="0"/>
              <a:t>K2WG</a:t>
            </a:r>
            <a:endParaRPr lang="en-US" sz="900" dirty="0"/>
          </a:p>
          <a:p>
            <a:pPr algn="ctr"/>
            <a:r>
              <a:rPr lang="en-US" sz="900" dirty="0"/>
              <a:t>5</a:t>
            </a:r>
            <a:r>
              <a:rPr lang="en-US" sz="900" dirty="0" smtClean="0"/>
              <a:t>22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0657" y="1822816"/>
            <a:ext cx="1193838" cy="22422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ICE MACHINE</a:t>
            </a:r>
            <a:endParaRPr lang="en-US" sz="1400" dirty="0"/>
          </a:p>
        </p:txBody>
      </p:sp>
      <p:sp>
        <p:nvSpPr>
          <p:cNvPr id="21" name="Rectangle 20"/>
          <p:cNvSpPr/>
          <p:nvPr/>
        </p:nvSpPr>
        <p:spPr>
          <a:xfrm>
            <a:off x="4427586" y="1234409"/>
            <a:ext cx="923544" cy="4035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Maids Closet</a:t>
            </a:r>
            <a:endParaRPr lang="en-US" sz="1000" dirty="0"/>
          </a:p>
        </p:txBody>
      </p:sp>
      <p:sp>
        <p:nvSpPr>
          <p:cNvPr id="75" name="Rectangle 74"/>
          <p:cNvSpPr/>
          <p:nvPr/>
        </p:nvSpPr>
        <p:spPr>
          <a:xfrm>
            <a:off x="4238977" y="132985"/>
            <a:ext cx="188609" cy="4149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sp>
        <p:nvSpPr>
          <p:cNvPr id="76" name="Rectangle 75"/>
          <p:cNvSpPr/>
          <p:nvPr/>
        </p:nvSpPr>
        <p:spPr>
          <a:xfrm>
            <a:off x="4224881" y="738757"/>
            <a:ext cx="188609" cy="4149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sp>
        <p:nvSpPr>
          <p:cNvPr id="78" name="Rectangle 77"/>
          <p:cNvSpPr/>
          <p:nvPr/>
        </p:nvSpPr>
        <p:spPr>
          <a:xfrm>
            <a:off x="4241378" y="3417762"/>
            <a:ext cx="188609" cy="4149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sp>
        <p:nvSpPr>
          <p:cNvPr id="80" name="Rectangle 79"/>
          <p:cNvSpPr/>
          <p:nvPr/>
        </p:nvSpPr>
        <p:spPr>
          <a:xfrm>
            <a:off x="4224675" y="2836072"/>
            <a:ext cx="188609" cy="4149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sp>
        <p:nvSpPr>
          <p:cNvPr id="81" name="Rectangle 80"/>
          <p:cNvSpPr/>
          <p:nvPr/>
        </p:nvSpPr>
        <p:spPr>
          <a:xfrm>
            <a:off x="4242690" y="2230646"/>
            <a:ext cx="188609" cy="4149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sp>
        <p:nvSpPr>
          <p:cNvPr id="83" name="Rectangle 82"/>
          <p:cNvSpPr/>
          <p:nvPr/>
        </p:nvSpPr>
        <p:spPr>
          <a:xfrm>
            <a:off x="4242690" y="3988435"/>
            <a:ext cx="188609" cy="4149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sp>
        <p:nvSpPr>
          <p:cNvPr id="84" name="TextBox 83"/>
          <p:cNvSpPr txBox="1"/>
          <p:nvPr/>
        </p:nvSpPr>
        <p:spPr>
          <a:xfrm rot="16200000">
            <a:off x="2005277" y="2651358"/>
            <a:ext cx="1811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+mj-lt"/>
              </a:rPr>
              <a:t>Balconies</a:t>
            </a:r>
            <a:endParaRPr lang="en-US" dirty="0">
              <a:latin typeface="+mj-lt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2004024" y="6069256"/>
            <a:ext cx="8628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Shower</a:t>
            </a:r>
          </a:p>
          <a:p>
            <a:pPr algn="ctr"/>
            <a:r>
              <a:rPr lang="en-US" sz="1000" dirty="0" smtClean="0"/>
              <a:t>Small Closet</a:t>
            </a:r>
            <a:endParaRPr lang="en-US" sz="1000" dirty="0"/>
          </a:p>
        </p:txBody>
      </p:sp>
      <p:sp>
        <p:nvSpPr>
          <p:cNvPr id="68" name="TextBox 67"/>
          <p:cNvSpPr txBox="1"/>
          <p:nvPr/>
        </p:nvSpPr>
        <p:spPr>
          <a:xfrm>
            <a:off x="2955662" y="6127674"/>
            <a:ext cx="6950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Shower</a:t>
            </a:r>
            <a:endParaRPr lang="en-US" sz="1000" dirty="0"/>
          </a:p>
        </p:txBody>
      </p:sp>
      <p:sp>
        <p:nvSpPr>
          <p:cNvPr id="69" name="TextBox 68"/>
          <p:cNvSpPr txBox="1"/>
          <p:nvPr/>
        </p:nvSpPr>
        <p:spPr>
          <a:xfrm>
            <a:off x="3826106" y="6130006"/>
            <a:ext cx="6950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Shower</a:t>
            </a:r>
            <a:endParaRPr lang="en-US" sz="1000" dirty="0"/>
          </a:p>
        </p:txBody>
      </p:sp>
      <p:sp>
        <p:nvSpPr>
          <p:cNvPr id="71" name="TextBox 70"/>
          <p:cNvSpPr txBox="1"/>
          <p:nvPr/>
        </p:nvSpPr>
        <p:spPr>
          <a:xfrm>
            <a:off x="4616828" y="6128199"/>
            <a:ext cx="6950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Shower</a:t>
            </a:r>
            <a:endParaRPr lang="en-US" sz="1000" dirty="0"/>
          </a:p>
        </p:txBody>
      </p:sp>
      <p:sp>
        <p:nvSpPr>
          <p:cNvPr id="73" name="TextBox 72"/>
          <p:cNvSpPr txBox="1"/>
          <p:nvPr/>
        </p:nvSpPr>
        <p:spPr>
          <a:xfrm>
            <a:off x="5442505" y="5829002"/>
            <a:ext cx="13462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Shower/ No Balcony. Large Windows</a:t>
            </a:r>
            <a:endParaRPr lang="en-US" sz="1000" dirty="0"/>
          </a:p>
        </p:txBody>
      </p:sp>
      <p:sp>
        <p:nvSpPr>
          <p:cNvPr id="74" name="TextBox 73"/>
          <p:cNvSpPr txBox="1"/>
          <p:nvPr/>
        </p:nvSpPr>
        <p:spPr>
          <a:xfrm rot="19194558">
            <a:off x="1073549" y="5693304"/>
            <a:ext cx="901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Stairs</a:t>
            </a:r>
            <a:endParaRPr lang="en-US" dirty="0"/>
          </a:p>
        </p:txBody>
      </p:sp>
      <p:cxnSp>
        <p:nvCxnSpPr>
          <p:cNvPr id="3" name="Straight Connector 2"/>
          <p:cNvCxnSpPr/>
          <p:nvPr/>
        </p:nvCxnSpPr>
        <p:spPr>
          <a:xfrm flipH="1">
            <a:off x="896112" y="5425309"/>
            <a:ext cx="768096" cy="6439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1329200" y="5875054"/>
            <a:ext cx="635021" cy="5352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H="1">
            <a:off x="6455663" y="4301858"/>
            <a:ext cx="281813" cy="774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 flipV="1">
            <a:off x="6455663" y="4379301"/>
            <a:ext cx="281813" cy="4149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5577768" y="4241830"/>
            <a:ext cx="914745" cy="26161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100" dirty="0" smtClean="0"/>
              <a:t>Connecting</a:t>
            </a:r>
            <a:endParaRPr lang="en-US" sz="1100" dirty="0"/>
          </a:p>
        </p:txBody>
      </p:sp>
      <p:sp>
        <p:nvSpPr>
          <p:cNvPr id="82" name="TextBox 81"/>
          <p:cNvSpPr txBox="1"/>
          <p:nvPr/>
        </p:nvSpPr>
        <p:spPr>
          <a:xfrm>
            <a:off x="7801040" y="5236305"/>
            <a:ext cx="112556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Soaker tub &amp; Shower. Large Balcony</a:t>
            </a:r>
            <a:endParaRPr lang="en-US" sz="1000" dirty="0"/>
          </a:p>
        </p:txBody>
      </p:sp>
      <p:cxnSp>
        <p:nvCxnSpPr>
          <p:cNvPr id="19" name="Straight Connector 18"/>
          <p:cNvCxnSpPr>
            <a:stCxn id="55" idx="1"/>
          </p:cNvCxnSpPr>
          <p:nvPr/>
        </p:nvCxnSpPr>
        <p:spPr>
          <a:xfrm flipH="1">
            <a:off x="6327648" y="2114275"/>
            <a:ext cx="411480" cy="2450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24" idx="1"/>
          </p:cNvCxnSpPr>
          <p:nvPr/>
        </p:nvCxnSpPr>
        <p:spPr>
          <a:xfrm flipH="1" flipV="1">
            <a:off x="6326257" y="2385929"/>
            <a:ext cx="412871" cy="3155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5442567" y="2227782"/>
            <a:ext cx="914745" cy="26161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100" dirty="0" smtClean="0"/>
              <a:t>Connecting</a:t>
            </a:r>
            <a:endParaRPr lang="en-US" sz="1100" dirty="0"/>
          </a:p>
        </p:txBody>
      </p:sp>
      <p:sp>
        <p:nvSpPr>
          <p:cNvPr id="86" name="TextBox 85"/>
          <p:cNvSpPr txBox="1"/>
          <p:nvPr/>
        </p:nvSpPr>
        <p:spPr>
          <a:xfrm>
            <a:off x="7739797" y="3711131"/>
            <a:ext cx="6950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Shower</a:t>
            </a:r>
            <a:endParaRPr lang="en-US" sz="1000" dirty="0"/>
          </a:p>
        </p:txBody>
      </p:sp>
      <p:sp>
        <p:nvSpPr>
          <p:cNvPr id="87" name="TextBox 86"/>
          <p:cNvSpPr txBox="1"/>
          <p:nvPr/>
        </p:nvSpPr>
        <p:spPr>
          <a:xfrm>
            <a:off x="7742138" y="3141653"/>
            <a:ext cx="6950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Shower</a:t>
            </a:r>
            <a:endParaRPr lang="en-US" sz="1000" dirty="0"/>
          </a:p>
        </p:txBody>
      </p:sp>
      <p:sp>
        <p:nvSpPr>
          <p:cNvPr id="88" name="TextBox 87"/>
          <p:cNvSpPr txBox="1"/>
          <p:nvPr/>
        </p:nvSpPr>
        <p:spPr>
          <a:xfrm>
            <a:off x="7731227" y="2567484"/>
            <a:ext cx="6950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Shower</a:t>
            </a:r>
            <a:endParaRPr lang="en-US" sz="1000" dirty="0"/>
          </a:p>
        </p:txBody>
      </p:sp>
      <p:sp>
        <p:nvSpPr>
          <p:cNvPr id="89" name="TextBox 88"/>
          <p:cNvSpPr txBox="1"/>
          <p:nvPr/>
        </p:nvSpPr>
        <p:spPr>
          <a:xfrm>
            <a:off x="7717765" y="1443616"/>
            <a:ext cx="6950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Shower</a:t>
            </a:r>
            <a:endParaRPr lang="en-US" sz="1000" dirty="0"/>
          </a:p>
        </p:txBody>
      </p:sp>
      <p:sp>
        <p:nvSpPr>
          <p:cNvPr id="94" name="TextBox 93"/>
          <p:cNvSpPr txBox="1"/>
          <p:nvPr/>
        </p:nvSpPr>
        <p:spPr>
          <a:xfrm>
            <a:off x="7740737" y="838618"/>
            <a:ext cx="6950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Shower</a:t>
            </a:r>
            <a:endParaRPr lang="en-US" sz="1000" dirty="0"/>
          </a:p>
        </p:txBody>
      </p:sp>
      <p:sp>
        <p:nvSpPr>
          <p:cNvPr id="95" name="TextBox 94"/>
          <p:cNvSpPr txBox="1"/>
          <p:nvPr/>
        </p:nvSpPr>
        <p:spPr>
          <a:xfrm>
            <a:off x="7739797" y="224387"/>
            <a:ext cx="6950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Shower</a:t>
            </a:r>
            <a:endParaRPr lang="en-US" sz="1000" dirty="0"/>
          </a:p>
        </p:txBody>
      </p:sp>
      <p:sp>
        <p:nvSpPr>
          <p:cNvPr id="96" name="TextBox 95"/>
          <p:cNvSpPr txBox="1"/>
          <p:nvPr/>
        </p:nvSpPr>
        <p:spPr>
          <a:xfrm>
            <a:off x="7756974" y="2012371"/>
            <a:ext cx="6950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Bath Tub</a:t>
            </a:r>
            <a:endParaRPr lang="en-US" sz="1000" dirty="0"/>
          </a:p>
        </p:txBody>
      </p:sp>
      <p:sp>
        <p:nvSpPr>
          <p:cNvPr id="101" name="TextBox 100"/>
          <p:cNvSpPr txBox="1"/>
          <p:nvPr/>
        </p:nvSpPr>
        <p:spPr>
          <a:xfrm>
            <a:off x="3624045" y="4080461"/>
            <a:ext cx="6950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Shower</a:t>
            </a:r>
            <a:endParaRPr lang="en-US" sz="1000" dirty="0"/>
          </a:p>
        </p:txBody>
      </p:sp>
      <p:sp>
        <p:nvSpPr>
          <p:cNvPr id="102" name="TextBox 101"/>
          <p:cNvSpPr txBox="1"/>
          <p:nvPr/>
        </p:nvSpPr>
        <p:spPr>
          <a:xfrm>
            <a:off x="3638200" y="3489149"/>
            <a:ext cx="6950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Shower</a:t>
            </a:r>
            <a:endParaRPr lang="en-US" sz="1000" dirty="0"/>
          </a:p>
        </p:txBody>
      </p:sp>
      <p:sp>
        <p:nvSpPr>
          <p:cNvPr id="104" name="TextBox 103"/>
          <p:cNvSpPr txBox="1"/>
          <p:nvPr/>
        </p:nvSpPr>
        <p:spPr>
          <a:xfrm>
            <a:off x="3638200" y="2920420"/>
            <a:ext cx="6950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Shower</a:t>
            </a:r>
            <a:endParaRPr lang="en-US" sz="1000" dirty="0"/>
          </a:p>
        </p:txBody>
      </p:sp>
      <p:sp>
        <p:nvSpPr>
          <p:cNvPr id="105" name="TextBox 104"/>
          <p:cNvSpPr txBox="1"/>
          <p:nvPr/>
        </p:nvSpPr>
        <p:spPr>
          <a:xfrm>
            <a:off x="3307524" y="2280520"/>
            <a:ext cx="11255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Soaker tub &amp; Shower. </a:t>
            </a:r>
            <a:endParaRPr lang="en-US" sz="1000" dirty="0"/>
          </a:p>
        </p:txBody>
      </p:sp>
      <p:sp>
        <p:nvSpPr>
          <p:cNvPr id="107" name="TextBox 106"/>
          <p:cNvSpPr txBox="1"/>
          <p:nvPr/>
        </p:nvSpPr>
        <p:spPr>
          <a:xfrm>
            <a:off x="4114850" y="1531169"/>
            <a:ext cx="1500891" cy="3077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chemeClr val="bg1"/>
                </a:solidFill>
              </a:rPr>
              <a:t>Elevator Landing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3433247" y="808441"/>
            <a:ext cx="8600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Regular Tub</a:t>
            </a:r>
            <a:endParaRPr lang="en-US" sz="1000" dirty="0"/>
          </a:p>
        </p:txBody>
      </p:sp>
      <p:sp>
        <p:nvSpPr>
          <p:cNvPr id="109" name="TextBox 108"/>
          <p:cNvSpPr txBox="1"/>
          <p:nvPr/>
        </p:nvSpPr>
        <p:spPr>
          <a:xfrm>
            <a:off x="3535936" y="230750"/>
            <a:ext cx="8995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Shower</a:t>
            </a:r>
            <a:endParaRPr lang="en-US" sz="1000" dirty="0"/>
          </a:p>
        </p:txBody>
      </p:sp>
      <p:sp>
        <p:nvSpPr>
          <p:cNvPr id="110" name="TextBox 109"/>
          <p:cNvSpPr txBox="1"/>
          <p:nvPr/>
        </p:nvSpPr>
        <p:spPr>
          <a:xfrm rot="5400000">
            <a:off x="9515701" y="2750942"/>
            <a:ext cx="2758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Sunrise views</a:t>
            </a:r>
            <a:endParaRPr lang="en-US" dirty="0"/>
          </a:p>
        </p:txBody>
      </p:sp>
      <p:sp>
        <p:nvSpPr>
          <p:cNvPr id="113" name="TextBox 112"/>
          <p:cNvSpPr txBox="1"/>
          <p:nvPr/>
        </p:nvSpPr>
        <p:spPr>
          <a:xfrm rot="16200000">
            <a:off x="-892734" y="2784085"/>
            <a:ext cx="2758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Sunset Views</a:t>
            </a:r>
            <a:endParaRPr lang="en-US" dirty="0"/>
          </a:p>
        </p:txBody>
      </p:sp>
      <p:sp>
        <p:nvSpPr>
          <p:cNvPr id="106" name="TextBox 105"/>
          <p:cNvSpPr txBox="1"/>
          <p:nvPr/>
        </p:nvSpPr>
        <p:spPr>
          <a:xfrm>
            <a:off x="7801040" y="4264980"/>
            <a:ext cx="6950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Bath Tub</a:t>
            </a:r>
            <a:endParaRPr lang="en-US" sz="1000" dirty="0"/>
          </a:p>
        </p:txBody>
      </p:sp>
      <p:sp>
        <p:nvSpPr>
          <p:cNvPr id="114" name="TextBox 113"/>
          <p:cNvSpPr txBox="1"/>
          <p:nvPr/>
        </p:nvSpPr>
        <p:spPr>
          <a:xfrm>
            <a:off x="933786" y="239051"/>
            <a:ext cx="26621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Lofts</a:t>
            </a:r>
          </a:p>
          <a:p>
            <a:pPr algn="ctr"/>
            <a:r>
              <a:rPr lang="en-US" dirty="0" smtClean="0"/>
              <a:t>Connecting Door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5492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Straight Connector 34"/>
          <p:cNvCxnSpPr/>
          <p:nvPr/>
        </p:nvCxnSpPr>
        <p:spPr>
          <a:xfrm>
            <a:off x="1009529" y="5686573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014732" y="5645027"/>
            <a:ext cx="2633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6</a:t>
            </a:r>
            <a:r>
              <a:rPr lang="en-US" baseline="30000" dirty="0" smtClean="0"/>
              <a:t>TH</a:t>
            </a:r>
            <a:r>
              <a:rPr lang="en-US" dirty="0" smtClean="0"/>
              <a:t>   Floor</a:t>
            </a:r>
            <a:endParaRPr lang="en-US" dirty="0"/>
          </a:p>
        </p:txBody>
      </p:sp>
      <p:cxnSp>
        <p:nvCxnSpPr>
          <p:cNvPr id="45" name="Straight Connector 44"/>
          <p:cNvCxnSpPr/>
          <p:nvPr/>
        </p:nvCxnSpPr>
        <p:spPr>
          <a:xfrm>
            <a:off x="9444500" y="316852"/>
            <a:ext cx="0" cy="50383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 flipH="1">
            <a:off x="1537738" y="1104968"/>
            <a:ext cx="9144" cy="37925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 rot="5400000">
            <a:off x="8508340" y="2651358"/>
            <a:ext cx="2662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Washington Ave</a:t>
            </a:r>
            <a:endParaRPr lang="en-US" dirty="0"/>
          </a:p>
        </p:txBody>
      </p:sp>
      <p:sp>
        <p:nvSpPr>
          <p:cNvPr id="115" name="TextBox 114"/>
          <p:cNvSpPr txBox="1"/>
          <p:nvPr/>
        </p:nvSpPr>
        <p:spPr>
          <a:xfrm rot="16200000">
            <a:off x="-165049" y="2897335"/>
            <a:ext cx="2662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Back Alley</a:t>
            </a:r>
            <a:endParaRPr lang="en-US" dirty="0"/>
          </a:p>
        </p:txBody>
      </p:sp>
      <p:sp>
        <p:nvSpPr>
          <p:cNvPr id="116" name="TextBox 115"/>
          <p:cNvSpPr txBox="1"/>
          <p:nvPr/>
        </p:nvSpPr>
        <p:spPr>
          <a:xfrm>
            <a:off x="3382089" y="6410330"/>
            <a:ext cx="2662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6</a:t>
            </a:r>
            <a:r>
              <a:rPr lang="en-US" baseline="30000" dirty="0" smtClean="0"/>
              <a:t>th</a:t>
            </a:r>
            <a:r>
              <a:rPr lang="en-US" dirty="0" smtClean="0"/>
              <a:t> Street</a:t>
            </a:r>
            <a:endParaRPr lang="en-US" dirty="0"/>
          </a:p>
        </p:txBody>
      </p:sp>
      <p:sp>
        <p:nvSpPr>
          <p:cNvPr id="117" name="TextBox 116"/>
          <p:cNvSpPr txBox="1"/>
          <p:nvPr/>
        </p:nvSpPr>
        <p:spPr>
          <a:xfrm>
            <a:off x="3069502" y="55797"/>
            <a:ext cx="2662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South Tower</a:t>
            </a:r>
            <a:endParaRPr lang="en-US" dirty="0"/>
          </a:p>
        </p:txBody>
      </p:sp>
      <p:sp>
        <p:nvSpPr>
          <p:cNvPr id="4" name="L-Shape 3"/>
          <p:cNvSpPr/>
          <p:nvPr/>
        </p:nvSpPr>
        <p:spPr>
          <a:xfrm>
            <a:off x="3069502" y="2453036"/>
            <a:ext cx="2508338" cy="3710019"/>
          </a:xfrm>
          <a:prstGeom prst="corner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Sun Deck</a:t>
            </a:r>
          </a:p>
          <a:p>
            <a:pPr algn="ctr"/>
            <a:r>
              <a:rPr lang="en-US" dirty="0" smtClean="0"/>
              <a:t>2,987 SF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469875" y="967071"/>
            <a:ext cx="1938528" cy="380854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Rooftop Pool</a:t>
            </a:r>
          </a:p>
          <a:p>
            <a:pPr algn="ctr"/>
            <a:r>
              <a:rPr lang="en-US" dirty="0" smtClean="0"/>
              <a:t>4,057 SF</a:t>
            </a:r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981939" y="2233128"/>
            <a:ext cx="914400" cy="193395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POOL</a:t>
            </a:r>
          </a:p>
          <a:p>
            <a:pPr algn="ctr"/>
            <a:r>
              <a:rPr lang="en-US" dirty="0" smtClean="0"/>
              <a:t>837 SF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980230" y="1758092"/>
            <a:ext cx="136107" cy="31759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5695199" y="1766029"/>
            <a:ext cx="163870" cy="31759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5384393" y="1766029"/>
            <a:ext cx="163869" cy="31759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5056791" y="1770616"/>
            <a:ext cx="126344" cy="31759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4733614" y="1766029"/>
            <a:ext cx="138715" cy="31759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5340136" y="4331526"/>
            <a:ext cx="139833" cy="31759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5623606" y="4331526"/>
            <a:ext cx="150857" cy="31759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5943640" y="4331526"/>
            <a:ext cx="138375" cy="30265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 rot="2172544">
            <a:off x="4647812" y="5612306"/>
            <a:ext cx="341307" cy="15103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3958520" y="5670895"/>
            <a:ext cx="201141" cy="31759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4666499" y="4331526"/>
            <a:ext cx="139388" cy="31759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5021560" y="4331526"/>
            <a:ext cx="148935" cy="31759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3688224" y="5670895"/>
            <a:ext cx="201141" cy="31759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 rot="2172544">
            <a:off x="4817537" y="5365029"/>
            <a:ext cx="341307" cy="15103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 rot="2172544">
            <a:off x="4993589" y="5145120"/>
            <a:ext cx="341307" cy="15103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3369725" y="5670895"/>
            <a:ext cx="201141" cy="31759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 rot="2172544">
            <a:off x="3117338" y="3073903"/>
            <a:ext cx="341307" cy="15103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/>
          <p:cNvSpPr/>
          <p:nvPr/>
        </p:nvSpPr>
        <p:spPr>
          <a:xfrm rot="2172544">
            <a:off x="3282318" y="2853994"/>
            <a:ext cx="341307" cy="15103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/>
          <p:cNvSpPr/>
          <p:nvPr/>
        </p:nvSpPr>
        <p:spPr>
          <a:xfrm rot="2172544">
            <a:off x="3440984" y="2634086"/>
            <a:ext cx="341307" cy="15103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 rot="5400000">
            <a:off x="3275209" y="4687825"/>
            <a:ext cx="171860" cy="41945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 rot="5400000">
            <a:off x="3282255" y="4924978"/>
            <a:ext cx="171860" cy="41945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 rot="5400000">
            <a:off x="3275208" y="5185310"/>
            <a:ext cx="171860" cy="41945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 rot="2172544">
            <a:off x="4489897" y="5855903"/>
            <a:ext cx="341307" cy="15103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/>
          <p:cNvSpPr/>
          <p:nvPr/>
        </p:nvSpPr>
        <p:spPr>
          <a:xfrm rot="16200000">
            <a:off x="3984564" y="3113011"/>
            <a:ext cx="149052" cy="32324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/>
          <p:cNvSpPr/>
          <p:nvPr/>
        </p:nvSpPr>
        <p:spPr>
          <a:xfrm rot="16200000">
            <a:off x="3976460" y="3353471"/>
            <a:ext cx="149052" cy="32324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/>
          <p:cNvSpPr/>
          <p:nvPr/>
        </p:nvSpPr>
        <p:spPr>
          <a:xfrm rot="16200000">
            <a:off x="3971377" y="3605986"/>
            <a:ext cx="149052" cy="32324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/>
          <p:cNvSpPr/>
          <p:nvPr/>
        </p:nvSpPr>
        <p:spPr>
          <a:xfrm rot="16200000">
            <a:off x="3982527" y="2854004"/>
            <a:ext cx="149052" cy="32324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/>
          <p:cNvSpPr txBox="1"/>
          <p:nvPr/>
        </p:nvSpPr>
        <p:spPr>
          <a:xfrm rot="5400000">
            <a:off x="9515701" y="2750942"/>
            <a:ext cx="2758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Sunrise views</a:t>
            </a:r>
            <a:endParaRPr lang="en-US" dirty="0"/>
          </a:p>
        </p:txBody>
      </p:sp>
      <p:sp>
        <p:nvSpPr>
          <p:cNvPr id="55" name="TextBox 54"/>
          <p:cNvSpPr txBox="1"/>
          <p:nvPr/>
        </p:nvSpPr>
        <p:spPr>
          <a:xfrm rot="16200000">
            <a:off x="-767120" y="2905485"/>
            <a:ext cx="2758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Sunset Views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6456201" y="442567"/>
            <a:ext cx="2263722" cy="36933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Pool Restrooms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4392058" y="811899"/>
            <a:ext cx="772184" cy="3999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/>
              <a:t>Water</a:t>
            </a:r>
          </a:p>
          <a:p>
            <a:pPr algn="ctr"/>
            <a:r>
              <a:rPr lang="en-US" sz="1100" dirty="0" smtClean="0"/>
              <a:t> Fountains</a:t>
            </a:r>
            <a:endParaRPr lang="en-US" sz="1100" dirty="0"/>
          </a:p>
        </p:txBody>
      </p:sp>
      <p:sp>
        <p:nvSpPr>
          <p:cNvPr id="8" name="Rectangle 7"/>
          <p:cNvSpPr/>
          <p:nvPr/>
        </p:nvSpPr>
        <p:spPr>
          <a:xfrm>
            <a:off x="1693820" y="1337549"/>
            <a:ext cx="2637310" cy="76809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Elevators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9645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2076</TotalTime>
  <Words>1555</Words>
  <Application>Microsoft Office PowerPoint</Application>
  <PresentationFormat>Widescreen</PresentationFormat>
  <Paragraphs>969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Aharoni</vt:lpstr>
      <vt:lpstr>Arial</vt:lpstr>
      <vt:lpstr>Baskerville Old Face</vt:lpstr>
      <vt:lpstr>Calibri</vt:lpstr>
      <vt:lpstr>Calibri Light</vt:lpstr>
      <vt:lpstr>Times New Roman</vt:lpstr>
      <vt:lpstr>Office Theme</vt:lpstr>
      <vt:lpstr>  Rooms Floor Plan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Rooms Floor Plan</dc:title>
  <dc:creator>Brejon Fowler</dc:creator>
  <cp:lastModifiedBy>Sinem Kaya</cp:lastModifiedBy>
  <cp:revision>56</cp:revision>
  <cp:lastPrinted>2018-09-15T16:09:54Z</cp:lastPrinted>
  <dcterms:created xsi:type="dcterms:W3CDTF">2017-09-20T13:26:48Z</dcterms:created>
  <dcterms:modified xsi:type="dcterms:W3CDTF">2022-09-02T20:06:52Z</dcterms:modified>
</cp:coreProperties>
</file>